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 API is an early concept for handling a work question when the colleague who knows is unavailable. The colleague chooses what questions may be handled and for how long. The person asking must still be allowed to open every source file. The local demo has fictional people and records, real question and approval flows, and a fixed answer template based on matching words. It does not use a large language model and is not connected to a Microsoft tenant. This is a concept-stage demonstration, not a deployed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issue statement here is a product hypothesis rather than a Presight measurement. We are not presenting an external benchmark or claiming that colleagues' absence causes a particular number of lost hours. The chain is familiar to engineering and operations teams: a decision needs context, the subject expert is unavailable, the source may be distributed across repositories, and work either waits or another person is interrupted. The MVP helps by turning that dependency into a durable request with an explicit deadline, consent and evidence path. During a pilot, measure active time spent searching or reconstructing context. Do not count elapsed wait time as productive savings unless the employee can show the blocked time became useful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synthetic Project Alpha example is implemented in the local demo. An ADR, or architecture decision record, is a written note explaining a technical decision. ADR-024 says startup setup sometimes took longer than 90 seconds and that the increase to 120 seconds was approved for release 5.2. It does not establish whether the setting is still needed. The answer is therefore partial and includes that limitation. The app's “AI-generated” label means software-produced and distinguishes the fixed-template text from a human reply; no language model generates it. A later operating guide records a different 180-second value, so a question about the current value is sent to a human instead of choosing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volume is illustrative math: 500 employees multiplied by two knowledge-blocking questions per week and 50 working weeks gives 50,000 annual opportunities. It is not a measured count of Presight questions. An economic model should include only the share that can be safely handled, the share employees actually adopt, the share that resolves successfully, and active minutes that are demonstrably avoided. Waiting time should not be included by default. Also avoid counting a saved expert interruption separately when the same benefit is already part of the active minutes estimate. The business case later shows a base capacity value below illustrative annual operating costs, making measurement and a Microsoft configuration comparison important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 API treats delegation consent as an explicit policy object: the knowledge owner chooses the active dates, project, topics, approved sources, audience, backup and response window. A manager can approve scoped policy changes. Authorization is a separate gate; an owner cannot make restricted source data available to a requester who lacks permission. The answer can be supported or partial, but source evidence and limitations are visible. When policy disallows access, the response is generic and reveals no hidden title or snippet. When evidence is missing or contradictory, the workflow escalates. The owner retains control and can revoke. Generated language is never attributed to the owner unless the owner actually answered.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uses a deterministic state machine in a modular monolith, not a collection of independent LLM agents. Question creation persists the requester, owner, project, status and response deadline. When the deadline or approved absence condition applies, the policy engine checks consent, dates, topic, project, audience and manager approval. The authorization module filters approved content using the requester's current project membership and source ACL before ranking. The evidence step checks whether relevant support exists and whether sources conflict. A supported response is cited; otherwise the engine denies or escalates. Database-backed jobs survive process restarts. The local scanner is single-process and requires stronger locking, notification outbox and observability before multi-instance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fictional example of the limits Bob chooses: dates, one project, a short list of question topics, named coworkers, selected files and a backup. Bob can pause or revoke the policy. A manager reviews a scope change. The demo's out-of-office status is fictional and is only used after an owner-approved policy already exists; Busy status is not consent. “Delegation” here means limited permission for the software workflow to help. It never means the software pretends to be Bob or gives Alice access to Bob's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local demo uses fictional identities and files; none of these Microsoft connections is active. Microsoft Entra ID is the work sign-in service. Microsoft Graph is the interface applications use to access files and settings. A future “on behalf of” (OBO) sign-in flow should make every SharePoint search as the signed-in requester, not as the knowledge owner. The adapter code exists but has not been tested in a tenant. The Outlook adapter is designed to read only an owner's automatic-reply status and dates, not message text or inbox. A Teams bot is future work and needs an app registration, a publicly reachable secure web address and tenant approval. Sources: Microsoft Graph Search API, Get mailbox settings, Graph permissions reference, and Teams SDK Register App quickstart.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matters: first verify who is asking, then check what the owner approved, then check whether the requester can open a file, and only then search. “ACL” means access control list, or the list of people allowed to open a file. Owner consent allows the workflow to operate; it never grants file access to another person. The app checks access again before showing a saved answer. A denial should not reveal a hidden file name or excerpt. The demo governance page shows counts and audit details, not private question content. Encryption, deletion controls, real file labels, multi-server coordination and independent security review still need to be built before a production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screenshot is from the running local app after Alice submitted a Project Alpha question to Bob. The app shows real local question status and evidence, but all people and documents are fictional. The current answer path matches words in approved files and uses fixed text; it does not call an AI language model or Microsoft Graph. A presenter can use this page to show the question, the cited written decision and its limitation. Then ask for restricted budget data to show a safe denial, and ask about an undocumented change to show the human backup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uses agentic workflow in the sense of a routed, persistent work item with policy, evidence, feedback and human review. It does not need an LLM for each module. Identity, deadlines, permission decisions, revocation and approval remain deterministic. The current response composer is also deterministic, avoiding hallucinations while we validate the workflow. If a model is added, it should only receive requester-authorized evidence and produce a draft with citations. An objective evidence checker should validate citation IDs and coverage; no model confidence score should authorize disclosure. We did not add LangGraph because the workflow is a small state machine with one human interruption. Reconsider orchestration only when multiple tools/checkpoints show measurable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is deliberately cautious. Microsoft 365 Copilot and SharePoint agents already ground on Microsoft sources and respect existing document permissions. Copilot Studio can build workflows and has a human assistance node. On 25 September 2026 Microsoft announced Autopilot, formerly Scout, as a persistent, proactive personal agent with tenant identity, governance and Microsoft IQ context; the announcement described private preview expansion at month end, not general availability. On 14 October Microsoft announced a SharePoint team knowledge base curated by Copilot and agents in Frontier Preview; Copilot in SharePoint began its general availability rollout on 30 September. Glean documents permission-filtered cross-app search, citations, people context and agents. Moveworks documents search, sources, action plugins and Smart Handoff. The exact combination of owner-specific consent, unanswered-question deadline and approved correction lifecycle was not proven in the public sources reviewed. That is a hypothesis, not a uniqueness claim. Vendor features and preview availability should be rechecked during a proof of concept. Sources: https://blogs.microsoft.com/blog/2026/09/25/introducing-the-new-copilot-with-home-code-and-autopilot/ ; https://techcommunity.microsoft.com/blog/spblog/introducing-a-team-knowledge-base-curated-by-copilot-and-agents/4564203 ; https://techcommunity.microsoft.com/blog/spblog/what%E2%80%99s-new-in-copilot-in-sharepoint-october-2026/4535423 ; https://docs.glean.com/user-guide/about/what-is-glean ; https://help.moveworks.com/ai-assistant/capabilities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example of possible employee work time made available, not a cash-savings claim. The base assumptions are 50,000 possible questions a year; 40% are suitable for the workflow, 60% of those are used, and 70% get an answer the requester accepts. That gives 8,400 accepted answers. At 20 active minutes saved each and an assumed AED 250 per work hour, the time is valued at AED 700,000. The example annual operating cost is AED 740,000 before Microsoft licensing, so the base estimate is AED 40,000 below cost. The cost assumes partial engineering and support roles plus infrastructure, security review and adoption. A pilot must measure actual active time, acceptance and cost. Waiting time is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local demo is working with fictional data. Before using real Microsoft files, a security and privacy review must decide what data can be processed, how long it is kept, and how access is removed. The Microsoft proof must test that work sign-in and every file search preserve the requester's own permissions. A future Teams app needs registration, tenant approval and a secure web endpoint. Only then should one opt-in team try low-risk files with a human fallback. Measure active search time, answer acceptance and trust. No live Microsoft connection has been exercised; no language model is bundled; this prototype is not security-certified.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to test, not to fund a full product. Sponsor a security and privacy review, Microsoft tenant setup, and one manager-led pilot with a willing team. Use low-risk files and a human fallback. Stop immediately if anyone receives information they are not allowed to see. Measure active time spent searching, whether answers are accepted, how often questions go to a person, and the full cost including Microsoft licensing. Compare with what the organization can already configure in Microsoft tools. The goal is a clear decision based on evidence, not a claim that a benefit has already been achieved.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4F6F3"/>
        </a:solidFill>
      </p:bgPr>
    </p:bg>
    <p:spTree>
      <p:nvGrpSpPr>
        <p:cNvPr id="1" name=""/>
        <p:cNvGrpSpPr/>
        <p:nvPr/>
      </p:nvGrpSpPr>
      <p:grpSpPr>
        <a:xfrm>
          <a:off x="0" y="0"/>
          <a:ext cx="0" cy="0"/>
          <a:chOff x="0" y="0"/>
          <a:chExt cx="0" cy="0"/>
        </a:xfrm>
      </p:grpSpPr>
      <p:sp>
        <p:nvSpPr>
          <p:cNvPr id="2" name="Shape 0"/>
          <p:cNvSpPr/>
          <p:nvPr/>
        </p:nvSpPr>
        <p:spPr>
          <a:xfrm>
            <a:off x="438912" y="6519672"/>
            <a:ext cx="11292840" cy="13716"/>
          </a:xfrm>
          <a:prstGeom prst="rect">
            <a:avLst/>
          </a:prstGeom>
          <a:solidFill>
            <a:srgbClr val="D7E1DB"/>
          </a:solidFill>
          <a:ln w="12700">
            <a:solidFill>
              <a:srgbClr val="D7E1DB">
                <a:alpha val="0"/>
              </a:srgbClr>
            </a:solidFill>
            <a:prstDash val="solid"/>
          </a:ln>
        </p:spPr>
      </p:sp>
      <p:sp>
        <p:nvSpPr>
          <p:cNvPr id="3" name="Text 1"/>
          <p:cNvSpPr/>
          <p:nvPr/>
        </p:nvSpPr>
        <p:spPr>
          <a:xfrm>
            <a:off x="475488" y="6565392"/>
            <a:ext cx="5943600" cy="146304"/>
          </a:xfrm>
          <a:prstGeom prst="rect">
            <a:avLst/>
          </a:prstGeom>
          <a:noFill/>
          <a:ln/>
        </p:spPr>
        <p:txBody>
          <a:bodyPr wrap="square" lIns="0" tIns="0" rIns="0" bIns="0" rtlCol="0" anchor="ctr"/>
          <a:lstStyle/>
          <a:p>
            <a:pPr indent="0" marL="0">
              <a:buNone/>
            </a:pPr>
            <a:r>
              <a:rPr lang="en-US" sz="750" spc="110" kern="0" dirty="0">
                <a:solidFill>
                  <a:srgbClr val="71847C"/>
                </a:solidFill>
                <a:latin typeface="Aptos" pitchFamily="34" charset="0"/>
                <a:ea typeface="Aptos" pitchFamily="34" charset="-122"/>
                <a:cs typeface="Aptos" pitchFamily="34" charset="-120"/>
              </a:rPr>
              <a:t>HUMAN API  /  EUREKA INNOVATION HACKATHON</a:t>
            </a:r>
            <a:endParaRPr lang="en-US" sz="750" dirty="0"/>
          </a:p>
        </p:txBody>
      </p:sp>
      <p:sp>
        <p:nvSpPr>
          <p:cNvPr id="4" name="Text 2"/>
          <p:cNvSpPr/>
          <p:nvPr/>
        </p:nvSpPr>
        <p:spPr>
          <a:xfrm>
            <a:off x="8458200" y="6565392"/>
            <a:ext cx="3246120" cy="146304"/>
          </a:xfrm>
          <a:prstGeom prst="rect">
            <a:avLst/>
          </a:prstGeom>
          <a:noFill/>
          <a:ln/>
        </p:spPr>
        <p:txBody>
          <a:bodyPr wrap="square" lIns="0" tIns="0" rIns="0" bIns="0" rtlCol="0" anchor="ctr"/>
          <a:lstStyle/>
          <a:p>
            <a:pPr algn="r" indent="0" marL="0">
              <a:buNone/>
            </a:pPr>
            <a:r>
              <a:rPr lang="en-US" sz="750" spc="70" kern="0" dirty="0">
                <a:solidFill>
                  <a:srgbClr val="71847C"/>
                </a:solidFill>
                <a:latin typeface="Aptos" pitchFamily="34" charset="0"/>
                <a:ea typeface="Aptos" pitchFamily="34" charset="-122"/>
                <a:cs typeface="Aptos" pitchFamily="34" charset="-120"/>
              </a:rPr>
              <a:t>CONCEPT FORMULATED  ·  26 OCT 2026</a:t>
            </a:r>
            <a:endParaRPr lang="en-US" sz="750" dirty="0"/>
          </a:p>
        </p:txBody>
      </p:sp>
      <p:sp>
        <p:nvSpPr>
          <p:cNvPr id="25" name="Slide Number Placeholder 0"/>
          <p:cNvSpPr>
            <a:spLocks noGrp="1"/>
          </p:cNvSpPr>
          <p:nvPr>
            <p:ph type="sldNum" sz="quarter" idx="4294967295"/>
          </p:nvPr>
        </p:nvSpPr>
        <p:spPr>
          <a:xfrm>
            <a:off x="11686032"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47C"/>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47C"/>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B27"/>
        </a:solidFill>
      </p:bgPr>
    </p:bg>
    <p:spTree>
      <p:nvGrpSpPr>
        <p:cNvPr id="1" name=""/>
        <p:cNvGrpSpPr/>
        <p:nvPr/>
      </p:nvGrpSpPr>
      <p:grpSpPr>
        <a:xfrm>
          <a:off x="0" y="0"/>
          <a:ext cx="0" cy="0"/>
          <a:chOff x="0" y="0"/>
          <a:chExt cx="0" cy="0"/>
        </a:xfrm>
      </p:grpSpPr>
      <p:sp>
        <p:nvSpPr>
          <p:cNvPr id="2" name="Shape 0"/>
          <p:cNvSpPr/>
          <p:nvPr/>
        </p:nvSpPr>
        <p:spPr>
          <a:xfrm>
            <a:off x="8412480" y="-914400"/>
            <a:ext cx="4937760" cy="4937760"/>
          </a:xfrm>
          <a:prstGeom prst="ellipse">
            <a:avLst/>
          </a:prstGeom>
          <a:solidFill>
            <a:srgbClr val="1A4039">
              <a:alpha val="90000"/>
            </a:srgbClr>
          </a:solidFill>
          <a:ln w="12700">
            <a:solidFill>
              <a:srgbClr val="1A4039">
                <a:alpha val="0"/>
              </a:srgbClr>
            </a:solidFill>
            <a:prstDash val="solid"/>
          </a:ln>
        </p:spPr>
      </p:sp>
      <p:sp>
        <p:nvSpPr>
          <p:cNvPr id="3" name="Shape 1"/>
          <p:cNvSpPr/>
          <p:nvPr/>
        </p:nvSpPr>
        <p:spPr>
          <a:xfrm>
            <a:off x="9418320" y="3200400"/>
            <a:ext cx="3383280" cy="3383280"/>
          </a:xfrm>
          <a:prstGeom prst="ellipse">
            <a:avLst/>
          </a:prstGeom>
          <a:solidFill>
            <a:srgbClr val="245B4E">
              <a:alpha val="80000"/>
            </a:srgbClr>
          </a:solidFill>
          <a:ln w="12700">
            <a:solidFill>
              <a:srgbClr val="245B4E">
                <a:alpha val="0"/>
              </a:srgbClr>
            </a:solidFill>
            <a:prstDash val="solid"/>
          </a:ln>
        </p:spPr>
      </p:sp>
      <p:sp>
        <p:nvSpPr>
          <p:cNvPr id="4" name="Shape 2"/>
          <p:cNvSpPr/>
          <p:nvPr/>
        </p:nvSpPr>
        <p:spPr>
          <a:xfrm>
            <a:off x="685800" y="658368"/>
            <a:ext cx="2423160" cy="292608"/>
          </a:xfrm>
          <a:prstGeom prst="roundRect">
            <a:avLst>
              <a:gd name="adj" fmla="val 37500"/>
            </a:avLst>
          </a:prstGeom>
          <a:solidFill>
            <a:srgbClr val="254C42"/>
          </a:solidFill>
          <a:ln w="12700">
            <a:solidFill>
              <a:srgbClr val="254C42">
                <a:alpha val="0"/>
              </a:srgbClr>
            </a:solidFill>
            <a:prstDash val="solid"/>
          </a:ln>
        </p:spPr>
      </p:sp>
      <p:sp>
        <p:nvSpPr>
          <p:cNvPr id="5" name="Text 3"/>
          <p:cNvSpPr txBox="1"/>
          <p:nvPr/>
        </p:nvSpPr>
        <p:spPr>
          <a:xfrm>
            <a:off x="777240" y="694944"/>
            <a:ext cx="2240280" cy="201168"/>
          </a:xfrm>
          <a:prstGeom prst="rect">
            <a:avLst/>
          </a:prstGeom>
          <a:noFill/>
          <a:ln/>
        </p:spPr>
        <p:txBody>
          <a:bodyPr wrap="square" lIns="0" tIns="0" rIns="0" bIns="0" rtlCol="0" anchor="ctr">
            <a:normAutofit/>
          </a:bodyPr>
          <a:lstStyle/>
          <a:p>
            <a:pPr algn="ctr" indent="0" marL="0">
              <a:buNone/>
            </a:pPr>
            <a:r>
              <a:rPr lang="en-US" sz="850" b="1" spc="30" kern="0" dirty="0">
                <a:solidFill>
                  <a:srgbClr val="BFE7D6"/>
                </a:solidFill>
                <a:latin typeface="Aptos" pitchFamily="34" charset="0"/>
                <a:ea typeface="Aptos" pitchFamily="34" charset="-122"/>
                <a:cs typeface="Aptos" pitchFamily="34" charset="-120"/>
              </a:rPr>
              <a:t>FUTURE OF WORK @ PRESIGHT</a:t>
            </a:r>
            <a:endParaRPr lang="en-US" sz="850" dirty="0"/>
          </a:p>
        </p:txBody>
      </p:sp>
      <p:sp>
        <p:nvSpPr>
          <p:cNvPr id="6" name="Text 4"/>
          <p:cNvSpPr txBox="1"/>
          <p:nvPr/>
        </p:nvSpPr>
        <p:spPr>
          <a:xfrm>
            <a:off x="658368" y="1463040"/>
            <a:ext cx="6126480" cy="1783080"/>
          </a:xfrm>
          <a:prstGeom prst="rect">
            <a:avLst/>
          </a:prstGeom>
          <a:noFill/>
          <a:ln/>
        </p:spPr>
        <p:txBody>
          <a:bodyPr wrap="square" lIns="0" tIns="0" rIns="0" bIns="0" rtlCol="0" anchor="t">
            <a:normAutofit/>
          </a:bodyPr>
          <a:lstStyle/>
          <a:p>
            <a:pPr algn="l" indent="0" marL="0">
              <a:buNone/>
            </a:pPr>
            <a:r>
              <a:rPr lang="en-US" sz="5400" b="1" dirty="0">
                <a:solidFill>
                  <a:srgbClr val="FFFFFF"/>
                </a:solidFill>
                <a:latin typeface="Aptos Display" pitchFamily="34" charset="0"/>
                <a:ea typeface="Aptos Display" pitchFamily="34" charset="-122"/>
                <a:cs typeface="Aptos Display" pitchFamily="34" charset="-120"/>
              </a:rPr>
              <a:t>Human</a:t>
            </a:r>
            <a:endParaRPr lang="en-US" sz="5400" dirty="0"/>
          </a:p>
          <a:p>
            <a:pPr algn="l" indent="0" marL="0">
              <a:buNone/>
            </a:pPr>
            <a:r>
              <a:rPr lang="en-US" sz="5400" b="1" dirty="0">
                <a:solidFill>
                  <a:srgbClr val="FFFFFF"/>
                </a:solidFill>
                <a:latin typeface="Aptos Display" pitchFamily="34" charset="0"/>
                <a:ea typeface="Aptos Display" pitchFamily="34" charset="-122"/>
                <a:cs typeface="Aptos Display" pitchFamily="34" charset="-120"/>
              </a:rPr>
              <a:t>API</a:t>
            </a:r>
            <a:endParaRPr lang="en-US" sz="5400" dirty="0"/>
          </a:p>
        </p:txBody>
      </p:sp>
      <p:sp>
        <p:nvSpPr>
          <p:cNvPr id="7" name="Text 5"/>
          <p:cNvSpPr txBox="1"/>
          <p:nvPr/>
        </p:nvSpPr>
        <p:spPr>
          <a:xfrm>
            <a:off x="731520" y="3438144"/>
            <a:ext cx="6492240" cy="822960"/>
          </a:xfrm>
          <a:prstGeom prst="rect">
            <a:avLst/>
          </a:prstGeom>
          <a:noFill/>
          <a:ln/>
        </p:spPr>
        <p:txBody>
          <a:bodyPr wrap="square" lIns="0" tIns="0" rIns="0" bIns="0" rtlCol="0" anchor="t">
            <a:normAutofit/>
          </a:bodyPr>
          <a:lstStyle/>
          <a:p>
            <a:pPr algn="l" indent="0" marL="0">
              <a:buNone/>
            </a:pPr>
            <a:r>
              <a:rPr lang="en-US" sz="2300" dirty="0">
                <a:solidFill>
                  <a:srgbClr val="BFE7D6"/>
                </a:solidFill>
                <a:latin typeface="Aptos" pitchFamily="34" charset="0"/>
                <a:ea typeface="Aptos" pitchFamily="34" charset="-122"/>
                <a:cs typeface="Aptos" pitchFamily="34" charset="-120"/>
              </a:rPr>
              <a:t>Help answer work questions</a:t>
            </a:r>
            <a:endParaRPr lang="en-US" sz="2300" dirty="0"/>
          </a:p>
          <a:p>
            <a:pPr algn="l" indent="0" marL="0">
              <a:buNone/>
            </a:pPr>
            <a:r>
              <a:rPr lang="en-US" sz="2300" dirty="0">
                <a:solidFill>
                  <a:srgbClr val="BFE7D6"/>
                </a:solidFill>
                <a:latin typeface="Aptos" pitchFamily="34" charset="0"/>
                <a:ea typeface="Aptos" pitchFamily="34" charset="-122"/>
                <a:cs typeface="Aptos" pitchFamily="34" charset="-120"/>
              </a:rPr>
              <a:t>when the expert is away</a:t>
            </a:r>
            <a:endParaRPr lang="en-US" sz="2300" dirty="0"/>
          </a:p>
        </p:txBody>
      </p:sp>
      <p:sp>
        <p:nvSpPr>
          <p:cNvPr id="8" name="Text 6"/>
          <p:cNvSpPr txBox="1"/>
          <p:nvPr/>
        </p:nvSpPr>
        <p:spPr>
          <a:xfrm>
            <a:off x="731520" y="4572000"/>
            <a:ext cx="6492240" cy="603504"/>
          </a:xfrm>
          <a:prstGeom prst="rect">
            <a:avLst/>
          </a:prstGeom>
          <a:noFill/>
          <a:ln/>
        </p:spPr>
        <p:txBody>
          <a:bodyPr wrap="square" lIns="0" tIns="0" rIns="0" bIns="0" rtlCol="0" anchor="ctr">
            <a:normAutofit/>
          </a:bodyPr>
          <a:lstStyle/>
          <a:p>
            <a:pPr algn="l" indent="0" marL="0">
              <a:buNone/>
            </a:pPr>
            <a:r>
              <a:rPr lang="en-US" sz="1500" dirty="0">
                <a:solidFill>
                  <a:srgbClr val="D0DED8"/>
                </a:solidFill>
                <a:latin typeface="Aptos" pitchFamily="34" charset="0"/>
                <a:ea typeface="Aptos" pitchFamily="34" charset="-122"/>
                <a:cs typeface="Aptos" pitchFamily="34" charset="-120"/>
              </a:rPr>
              <a:t>A cited answer when the evidence is clear. A person when it is not.</a:t>
            </a:r>
            <a:endParaRPr lang="en-US" sz="1500" dirty="0"/>
          </a:p>
        </p:txBody>
      </p:sp>
      <p:sp>
        <p:nvSpPr>
          <p:cNvPr id="9" name="Text 7"/>
          <p:cNvSpPr txBox="1"/>
          <p:nvPr/>
        </p:nvSpPr>
        <p:spPr>
          <a:xfrm>
            <a:off x="731520" y="6172200"/>
            <a:ext cx="7772400" cy="219456"/>
          </a:xfrm>
          <a:prstGeom prst="rect">
            <a:avLst/>
          </a:prstGeom>
          <a:noFill/>
          <a:ln/>
        </p:spPr>
        <p:txBody>
          <a:bodyPr wrap="square" lIns="0" tIns="0" rIns="0" bIns="0" rtlCol="0" anchor="ctr">
            <a:normAutofit/>
          </a:bodyPr>
          <a:lstStyle/>
          <a:p>
            <a:pPr algn="l" indent="0" marL="0">
              <a:buNone/>
            </a:pPr>
            <a:r>
              <a:rPr lang="en-US" sz="900" b="1" spc="100" kern="0" dirty="0">
                <a:solidFill>
                  <a:srgbClr val="9CB7AC"/>
                </a:solidFill>
                <a:latin typeface="Aptos" pitchFamily="34" charset="0"/>
                <a:ea typeface="Aptos" pitchFamily="34" charset="-122"/>
                <a:cs typeface="Aptos" pitchFamily="34" charset="-120"/>
              </a:rPr>
              <a:t>EUREKA INNOVATION HACKATHON  ·  EARLY CONCEPT</a:t>
            </a:r>
            <a:endParaRPr lang="en-US" sz="900" dirty="0"/>
          </a:p>
        </p:txBody>
      </p:sp>
      <p:sp>
        <p:nvSpPr>
          <p:cNvPr id="10" name="Text 8"/>
          <p:cNvSpPr txBox="1"/>
          <p:nvPr/>
        </p:nvSpPr>
        <p:spPr>
          <a:xfrm>
            <a:off x="8595360" y="6172200"/>
            <a:ext cx="2880360" cy="219456"/>
          </a:xfrm>
          <a:prstGeom prst="rect">
            <a:avLst/>
          </a:prstGeom>
          <a:noFill/>
          <a:ln/>
        </p:spPr>
        <p:txBody>
          <a:bodyPr wrap="square" lIns="0" tIns="0" rIns="0" bIns="0" rtlCol="0" anchor="ctr">
            <a:normAutofit/>
          </a:bodyPr>
          <a:lstStyle/>
          <a:p>
            <a:pPr algn="r" indent="0" marL="0">
              <a:buNone/>
            </a:pPr>
            <a:r>
              <a:rPr lang="en-US" sz="800" b="1" spc="70" kern="0" dirty="0">
                <a:solidFill>
                  <a:srgbClr val="9CB7AC"/>
                </a:solidFill>
                <a:latin typeface="Aptos" pitchFamily="34" charset="0"/>
                <a:ea typeface="Aptos" pitchFamily="34" charset="-122"/>
                <a:cs typeface="Aptos" pitchFamily="34" charset="-120"/>
              </a:rPr>
              <a:t>LOCAL DEMO · FICTIONAL DATA</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30352" y="347472"/>
            <a:ext cx="1088136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2F8069"/>
                </a:solidFill>
                <a:latin typeface="Aptos" pitchFamily="34" charset="0"/>
                <a:ea typeface="Aptos" pitchFamily="34" charset="-122"/>
                <a:cs typeface="Aptos" pitchFamily="34" charset="-120"/>
              </a:rPr>
              <a:t>01 / THE PROBLEM</a:t>
            </a:r>
            <a:endParaRPr lang="en-US" sz="900" dirty="0"/>
          </a:p>
        </p:txBody>
      </p:sp>
      <p:sp>
        <p:nvSpPr>
          <p:cNvPr id="3" name="Text 1"/>
          <p:cNvSpPr txBox="1"/>
          <p:nvPr/>
        </p:nvSpPr>
        <p:spPr>
          <a:xfrm>
            <a:off x="530352" y="69494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7352F"/>
                </a:solidFill>
                <a:latin typeface="Aptos Display" pitchFamily="34" charset="0"/>
                <a:ea typeface="Aptos Display" pitchFamily="34" charset="-122"/>
                <a:cs typeface="Aptos Display" pitchFamily="34" charset="-120"/>
              </a:rPr>
              <a:t>Work can stop at the person who knows</a:t>
            </a:r>
            <a:endParaRPr lang="en-US" sz="2700" dirty="0"/>
          </a:p>
        </p:txBody>
      </p:sp>
      <p:sp>
        <p:nvSpPr>
          <p:cNvPr id="4" name="Text 2"/>
          <p:cNvSpPr txBox="1"/>
          <p:nvPr/>
        </p:nvSpPr>
        <p:spPr>
          <a:xfrm>
            <a:off x="548640" y="1243584"/>
            <a:ext cx="10972800" cy="347472"/>
          </a:xfrm>
          <a:prstGeom prst="rect">
            <a:avLst/>
          </a:prstGeom>
          <a:noFill/>
          <a:ln/>
        </p:spPr>
        <p:txBody>
          <a:bodyPr wrap="square" lIns="0" tIns="0" rIns="0" bIns="0" rtlCol="0" anchor="ctr">
            <a:normAutofit/>
          </a:bodyPr>
          <a:lstStyle/>
          <a:p>
            <a:pPr algn="l" indent="0" marL="0">
              <a:buNone/>
            </a:pPr>
            <a:r>
              <a:rPr lang="en-US" sz="1250" dirty="0">
                <a:solidFill>
                  <a:srgbClr val="63756D"/>
                </a:solidFill>
                <a:latin typeface="Aptos" pitchFamily="34" charset="0"/>
                <a:ea typeface="Aptos" pitchFamily="34" charset="-122"/>
                <a:cs typeface="Aptos" pitchFamily="34" charset="-120"/>
              </a:rPr>
              <a:t>A question needs context, but the right person or file is hard to find.</a:t>
            </a:r>
            <a:endParaRPr lang="en-US" sz="1250" dirty="0"/>
          </a:p>
        </p:txBody>
      </p:sp>
      <p:sp>
        <p:nvSpPr>
          <p:cNvPr id="5" name="Shape 3"/>
          <p:cNvSpPr/>
          <p:nvPr/>
        </p:nvSpPr>
        <p:spPr>
          <a:xfrm>
            <a:off x="594360" y="2240280"/>
            <a:ext cx="2286000" cy="1920240"/>
          </a:xfrm>
          <a:prstGeom prst="roundRect">
            <a:avLst>
              <a:gd name="adj" fmla="val 5714"/>
            </a:avLst>
          </a:prstGeom>
          <a:solidFill>
            <a:srgbClr val="FFFFFF"/>
          </a:solidFill>
          <a:ln w="12700">
            <a:solidFill>
              <a:srgbClr val="D7E1DB"/>
            </a:solidFill>
            <a:prstDash val="solid"/>
          </a:ln>
        </p:spPr>
      </p:sp>
      <p:sp>
        <p:nvSpPr>
          <p:cNvPr id="6" name="Text 4"/>
          <p:cNvSpPr txBox="1"/>
          <p:nvPr/>
        </p:nvSpPr>
        <p:spPr>
          <a:xfrm>
            <a:off x="777240" y="2450592"/>
            <a:ext cx="502920" cy="384048"/>
          </a:xfrm>
          <a:prstGeom prst="rect">
            <a:avLst/>
          </a:prstGeom>
          <a:noFill/>
          <a:ln/>
        </p:spPr>
        <p:txBody>
          <a:bodyPr wrap="square" lIns="0" tIns="0" rIns="0" bIns="0" rtlCol="0" anchor="ctr">
            <a:normAutofit/>
          </a:bodyPr>
          <a:lstStyle/>
          <a:p>
            <a:pPr algn="l" indent="0" marL="0">
              <a:buNone/>
            </a:pPr>
            <a:r>
              <a:rPr lang="en-US" sz="2400" b="1" dirty="0">
                <a:solidFill>
                  <a:srgbClr val="2F8069"/>
                </a:solidFill>
                <a:latin typeface="Aptos" pitchFamily="34" charset="0"/>
                <a:ea typeface="Aptos" pitchFamily="34" charset="-122"/>
                <a:cs typeface="Aptos" pitchFamily="34" charset="-120"/>
              </a:rPr>
              <a:t>01</a:t>
            </a:r>
            <a:endParaRPr lang="en-US" sz="2400" dirty="0"/>
          </a:p>
        </p:txBody>
      </p:sp>
      <p:sp>
        <p:nvSpPr>
          <p:cNvPr id="7" name="Text 5"/>
          <p:cNvSpPr txBox="1"/>
          <p:nvPr/>
        </p:nvSpPr>
        <p:spPr>
          <a:xfrm>
            <a:off x="777240" y="2980944"/>
            <a:ext cx="1920240" cy="320040"/>
          </a:xfrm>
          <a:prstGeom prst="rect">
            <a:avLst/>
          </a:prstGeom>
          <a:noFill/>
          <a:ln/>
        </p:spPr>
        <p:txBody>
          <a:bodyPr wrap="square" lIns="0" tIns="0" rIns="0" bIns="0" rtlCol="0" anchor="ctr">
            <a:normAutofit/>
          </a:bodyPr>
          <a:lstStyle/>
          <a:p>
            <a:pPr algn="l" indent="0" marL="0">
              <a:buNone/>
            </a:pPr>
            <a:r>
              <a:rPr lang="en-US" sz="1300" b="1" dirty="0">
                <a:solidFill>
                  <a:srgbClr val="17352F"/>
                </a:solidFill>
                <a:latin typeface="Aptos" pitchFamily="34" charset="0"/>
                <a:ea typeface="Aptos" pitchFamily="34" charset="-122"/>
                <a:cs typeface="Aptos" pitchFamily="34" charset="-120"/>
              </a:rPr>
              <a:t>A decision is needed</a:t>
            </a:r>
            <a:endParaRPr lang="en-US" sz="1300" dirty="0"/>
          </a:p>
        </p:txBody>
      </p:sp>
      <p:sp>
        <p:nvSpPr>
          <p:cNvPr id="8" name="Text 6"/>
          <p:cNvSpPr txBox="1"/>
          <p:nvPr/>
        </p:nvSpPr>
        <p:spPr>
          <a:xfrm>
            <a:off x="777240" y="3401568"/>
            <a:ext cx="1920240" cy="530352"/>
          </a:xfrm>
          <a:prstGeom prst="rect">
            <a:avLst/>
          </a:prstGeom>
          <a:noFill/>
          <a:ln/>
        </p:spPr>
        <p:txBody>
          <a:bodyPr wrap="square" lIns="0" tIns="0" rIns="0" bIns="0" rtlCol="0" anchor="t">
            <a:normAutofit/>
          </a:bodyPr>
          <a:lstStyle/>
          <a:p>
            <a:pPr algn="l" indent="0" marL="0">
              <a:buNone/>
            </a:pPr>
            <a:r>
              <a:rPr lang="en-US" sz="1000" dirty="0">
                <a:solidFill>
                  <a:srgbClr val="63756D"/>
                </a:solidFill>
                <a:latin typeface="Aptos" pitchFamily="34" charset="0"/>
                <a:ea typeface="Aptos" pitchFamily="34" charset="-122"/>
                <a:cs typeface="Aptos" pitchFamily="34" charset="-120"/>
              </a:rPr>
              <a:t>An engineer needs to understand a service change.</a:t>
            </a:r>
            <a:endParaRPr lang="en-US" sz="1000" dirty="0"/>
          </a:p>
        </p:txBody>
      </p:sp>
      <p:sp>
        <p:nvSpPr>
          <p:cNvPr id="9" name="Shape 7"/>
          <p:cNvSpPr/>
          <p:nvPr/>
        </p:nvSpPr>
        <p:spPr>
          <a:xfrm>
            <a:off x="2953512" y="3200400"/>
            <a:ext cx="402336" cy="0"/>
          </a:xfrm>
          <a:prstGeom prst="line">
            <a:avLst/>
          </a:prstGeom>
          <a:noFill/>
          <a:ln w="19050">
            <a:solidFill>
              <a:srgbClr val="2F8069"/>
            </a:solidFill>
            <a:prstDash val="solid"/>
            <a:tailEnd type="triangle"/>
          </a:ln>
        </p:spPr>
      </p:sp>
      <p:sp>
        <p:nvSpPr>
          <p:cNvPr id="10" name="Shape 8"/>
          <p:cNvSpPr/>
          <p:nvPr/>
        </p:nvSpPr>
        <p:spPr>
          <a:xfrm>
            <a:off x="3493008" y="2240280"/>
            <a:ext cx="2286000" cy="1920240"/>
          </a:xfrm>
          <a:prstGeom prst="roundRect">
            <a:avLst>
              <a:gd name="adj" fmla="val 5714"/>
            </a:avLst>
          </a:prstGeom>
          <a:solidFill>
            <a:srgbClr val="FFFFFF"/>
          </a:solidFill>
          <a:ln w="12700">
            <a:solidFill>
              <a:srgbClr val="D7E1DB"/>
            </a:solidFill>
            <a:prstDash val="solid"/>
          </a:ln>
        </p:spPr>
      </p:sp>
      <p:sp>
        <p:nvSpPr>
          <p:cNvPr id="11" name="Text 9"/>
          <p:cNvSpPr txBox="1"/>
          <p:nvPr/>
        </p:nvSpPr>
        <p:spPr>
          <a:xfrm>
            <a:off x="3675888" y="2450592"/>
            <a:ext cx="502920" cy="384048"/>
          </a:xfrm>
          <a:prstGeom prst="rect">
            <a:avLst/>
          </a:prstGeom>
          <a:noFill/>
          <a:ln/>
        </p:spPr>
        <p:txBody>
          <a:bodyPr wrap="square" lIns="0" tIns="0" rIns="0" bIns="0" rtlCol="0" anchor="ctr">
            <a:normAutofit/>
          </a:bodyPr>
          <a:lstStyle/>
          <a:p>
            <a:pPr algn="l" indent="0" marL="0">
              <a:buNone/>
            </a:pPr>
            <a:r>
              <a:rPr lang="en-US" sz="2400" b="1" dirty="0">
                <a:solidFill>
                  <a:srgbClr val="2F8069"/>
                </a:solidFill>
                <a:latin typeface="Aptos" pitchFamily="34" charset="0"/>
                <a:ea typeface="Aptos" pitchFamily="34" charset="-122"/>
                <a:cs typeface="Aptos" pitchFamily="34" charset="-120"/>
              </a:rPr>
              <a:t>02</a:t>
            </a:r>
            <a:endParaRPr lang="en-US" sz="2400" dirty="0"/>
          </a:p>
        </p:txBody>
      </p:sp>
      <p:sp>
        <p:nvSpPr>
          <p:cNvPr id="12" name="Text 10"/>
          <p:cNvSpPr txBox="1"/>
          <p:nvPr/>
        </p:nvSpPr>
        <p:spPr>
          <a:xfrm>
            <a:off x="3675888" y="2980944"/>
            <a:ext cx="1920240" cy="320040"/>
          </a:xfrm>
          <a:prstGeom prst="rect">
            <a:avLst/>
          </a:prstGeom>
          <a:noFill/>
          <a:ln/>
        </p:spPr>
        <p:txBody>
          <a:bodyPr wrap="square" lIns="0" tIns="0" rIns="0" bIns="0" rtlCol="0" anchor="ctr">
            <a:normAutofit/>
          </a:bodyPr>
          <a:lstStyle/>
          <a:p>
            <a:pPr algn="l" indent="0" marL="0">
              <a:buNone/>
            </a:pPr>
            <a:r>
              <a:rPr lang="en-US" sz="1300" b="1" dirty="0">
                <a:solidFill>
                  <a:srgbClr val="17352F"/>
                </a:solidFill>
                <a:latin typeface="Aptos" pitchFamily="34" charset="0"/>
                <a:ea typeface="Aptos" pitchFamily="34" charset="-122"/>
                <a:cs typeface="Aptos" pitchFamily="34" charset="-120"/>
              </a:rPr>
              <a:t>The expert is away</a:t>
            </a:r>
            <a:endParaRPr lang="en-US" sz="1300" dirty="0"/>
          </a:p>
        </p:txBody>
      </p:sp>
      <p:sp>
        <p:nvSpPr>
          <p:cNvPr id="13" name="Text 11"/>
          <p:cNvSpPr txBox="1"/>
          <p:nvPr/>
        </p:nvSpPr>
        <p:spPr>
          <a:xfrm>
            <a:off x="3675888" y="3401568"/>
            <a:ext cx="1920240" cy="530352"/>
          </a:xfrm>
          <a:prstGeom prst="rect">
            <a:avLst/>
          </a:prstGeom>
          <a:noFill/>
          <a:ln/>
        </p:spPr>
        <p:txBody>
          <a:bodyPr wrap="square" lIns="0" tIns="0" rIns="0" bIns="0" rtlCol="0" anchor="t">
            <a:normAutofit/>
          </a:bodyPr>
          <a:lstStyle/>
          <a:p>
            <a:pPr algn="l" indent="0" marL="0">
              <a:buNone/>
            </a:pPr>
            <a:r>
              <a:rPr lang="en-US" sz="1000" dirty="0">
                <a:solidFill>
                  <a:srgbClr val="63756D"/>
                </a:solidFill>
                <a:latin typeface="Aptos" pitchFamily="34" charset="0"/>
                <a:ea typeface="Aptos" pitchFamily="34" charset="-122"/>
                <a:cs typeface="Aptos" pitchFamily="34" charset="-120"/>
              </a:rPr>
              <a:t>The person who remembers the reason is unavailable.</a:t>
            </a:r>
            <a:endParaRPr lang="en-US" sz="1000" dirty="0"/>
          </a:p>
        </p:txBody>
      </p:sp>
      <p:sp>
        <p:nvSpPr>
          <p:cNvPr id="14" name="Shape 12"/>
          <p:cNvSpPr/>
          <p:nvPr/>
        </p:nvSpPr>
        <p:spPr>
          <a:xfrm>
            <a:off x="5852160" y="3200400"/>
            <a:ext cx="402336" cy="0"/>
          </a:xfrm>
          <a:prstGeom prst="line">
            <a:avLst/>
          </a:prstGeom>
          <a:noFill/>
          <a:ln w="19050">
            <a:solidFill>
              <a:srgbClr val="2F8069"/>
            </a:solidFill>
            <a:prstDash val="solid"/>
            <a:tailEnd type="triangle"/>
          </a:ln>
        </p:spPr>
      </p:sp>
      <p:sp>
        <p:nvSpPr>
          <p:cNvPr id="15" name="Shape 13"/>
          <p:cNvSpPr/>
          <p:nvPr/>
        </p:nvSpPr>
        <p:spPr>
          <a:xfrm>
            <a:off x="6391656" y="2240280"/>
            <a:ext cx="2286000" cy="1920240"/>
          </a:xfrm>
          <a:prstGeom prst="roundRect">
            <a:avLst>
              <a:gd name="adj" fmla="val 5714"/>
            </a:avLst>
          </a:prstGeom>
          <a:solidFill>
            <a:srgbClr val="FFFFFF"/>
          </a:solidFill>
          <a:ln w="12700">
            <a:solidFill>
              <a:srgbClr val="D7E1DB"/>
            </a:solidFill>
            <a:prstDash val="solid"/>
          </a:ln>
        </p:spPr>
      </p:sp>
      <p:sp>
        <p:nvSpPr>
          <p:cNvPr id="16" name="Text 14"/>
          <p:cNvSpPr txBox="1"/>
          <p:nvPr/>
        </p:nvSpPr>
        <p:spPr>
          <a:xfrm>
            <a:off x="6574536" y="2450592"/>
            <a:ext cx="502920" cy="384048"/>
          </a:xfrm>
          <a:prstGeom prst="rect">
            <a:avLst/>
          </a:prstGeom>
          <a:noFill/>
          <a:ln/>
        </p:spPr>
        <p:txBody>
          <a:bodyPr wrap="square" lIns="0" tIns="0" rIns="0" bIns="0" rtlCol="0" anchor="ctr">
            <a:normAutofit/>
          </a:bodyPr>
          <a:lstStyle/>
          <a:p>
            <a:pPr algn="l" indent="0" marL="0">
              <a:buNone/>
            </a:pPr>
            <a:r>
              <a:rPr lang="en-US" sz="2400" b="1" dirty="0">
                <a:solidFill>
                  <a:srgbClr val="2F8069"/>
                </a:solidFill>
                <a:latin typeface="Aptos" pitchFamily="34" charset="0"/>
                <a:ea typeface="Aptos" pitchFamily="34" charset="-122"/>
                <a:cs typeface="Aptos" pitchFamily="34" charset="-120"/>
              </a:rPr>
              <a:t>03</a:t>
            </a:r>
            <a:endParaRPr lang="en-US" sz="2400" dirty="0"/>
          </a:p>
        </p:txBody>
      </p:sp>
      <p:sp>
        <p:nvSpPr>
          <p:cNvPr id="17" name="Text 15"/>
          <p:cNvSpPr txBox="1"/>
          <p:nvPr/>
        </p:nvSpPr>
        <p:spPr>
          <a:xfrm>
            <a:off x="6574536" y="2980944"/>
            <a:ext cx="1920240" cy="320040"/>
          </a:xfrm>
          <a:prstGeom prst="rect">
            <a:avLst/>
          </a:prstGeom>
          <a:noFill/>
          <a:ln/>
        </p:spPr>
        <p:txBody>
          <a:bodyPr wrap="square" lIns="0" tIns="0" rIns="0" bIns="0" rtlCol="0" anchor="ctr">
            <a:normAutofit/>
          </a:bodyPr>
          <a:lstStyle/>
          <a:p>
            <a:pPr algn="l" indent="0" marL="0">
              <a:buNone/>
            </a:pPr>
            <a:r>
              <a:rPr lang="en-US" sz="1300" b="1" dirty="0">
                <a:solidFill>
                  <a:srgbClr val="17352F"/>
                </a:solidFill>
                <a:latin typeface="Aptos" pitchFamily="34" charset="0"/>
                <a:ea typeface="Aptos" pitchFamily="34" charset="-122"/>
                <a:cs typeface="Aptos" pitchFamily="34" charset="-120"/>
              </a:rPr>
              <a:t>Files are scattered</a:t>
            </a:r>
            <a:endParaRPr lang="en-US" sz="1300" dirty="0"/>
          </a:p>
        </p:txBody>
      </p:sp>
      <p:sp>
        <p:nvSpPr>
          <p:cNvPr id="18" name="Text 16"/>
          <p:cNvSpPr txBox="1"/>
          <p:nvPr/>
        </p:nvSpPr>
        <p:spPr>
          <a:xfrm>
            <a:off x="6574536" y="3401568"/>
            <a:ext cx="1920240" cy="530352"/>
          </a:xfrm>
          <a:prstGeom prst="rect">
            <a:avLst/>
          </a:prstGeom>
          <a:noFill/>
          <a:ln/>
        </p:spPr>
        <p:txBody>
          <a:bodyPr wrap="square" lIns="0" tIns="0" rIns="0" bIns="0" rtlCol="0" anchor="t">
            <a:normAutofit/>
          </a:bodyPr>
          <a:lstStyle/>
          <a:p>
            <a:pPr algn="l" indent="0" marL="0">
              <a:buNone/>
            </a:pPr>
            <a:r>
              <a:rPr lang="en-US" sz="1000" dirty="0">
                <a:solidFill>
                  <a:srgbClr val="63756D"/>
                </a:solidFill>
                <a:latin typeface="Aptos" pitchFamily="34" charset="0"/>
                <a:ea typeface="Aptos" pitchFamily="34" charset="-122"/>
                <a:cs typeface="Aptos" pitchFamily="34" charset="-120"/>
              </a:rPr>
              <a:t>A decision note or operating guide may hold the answer.</a:t>
            </a:r>
            <a:endParaRPr lang="en-US" sz="1000" dirty="0"/>
          </a:p>
        </p:txBody>
      </p:sp>
      <p:sp>
        <p:nvSpPr>
          <p:cNvPr id="19" name="Shape 17"/>
          <p:cNvSpPr/>
          <p:nvPr/>
        </p:nvSpPr>
        <p:spPr>
          <a:xfrm>
            <a:off x="8750808" y="3200400"/>
            <a:ext cx="402336" cy="0"/>
          </a:xfrm>
          <a:prstGeom prst="line">
            <a:avLst/>
          </a:prstGeom>
          <a:noFill/>
          <a:ln w="19050">
            <a:solidFill>
              <a:srgbClr val="2F8069"/>
            </a:solidFill>
            <a:prstDash val="solid"/>
            <a:tailEnd type="triangle"/>
          </a:ln>
        </p:spPr>
      </p:sp>
      <p:sp>
        <p:nvSpPr>
          <p:cNvPr id="20" name="Shape 18"/>
          <p:cNvSpPr/>
          <p:nvPr/>
        </p:nvSpPr>
        <p:spPr>
          <a:xfrm>
            <a:off x="9290304" y="2240280"/>
            <a:ext cx="2286000" cy="1920240"/>
          </a:xfrm>
          <a:prstGeom prst="roundRect">
            <a:avLst>
              <a:gd name="adj" fmla="val 5714"/>
            </a:avLst>
          </a:prstGeom>
          <a:solidFill>
            <a:srgbClr val="FFF0E9"/>
          </a:solidFill>
          <a:ln w="12700">
            <a:solidFill>
              <a:srgbClr val="D7E1DB"/>
            </a:solidFill>
            <a:prstDash val="solid"/>
          </a:ln>
        </p:spPr>
      </p:sp>
      <p:sp>
        <p:nvSpPr>
          <p:cNvPr id="21" name="Text 19"/>
          <p:cNvSpPr txBox="1"/>
          <p:nvPr/>
        </p:nvSpPr>
        <p:spPr>
          <a:xfrm>
            <a:off x="9473184" y="2450592"/>
            <a:ext cx="502920" cy="384048"/>
          </a:xfrm>
          <a:prstGeom prst="rect">
            <a:avLst/>
          </a:prstGeom>
          <a:noFill/>
          <a:ln/>
        </p:spPr>
        <p:txBody>
          <a:bodyPr wrap="square" lIns="0" tIns="0" rIns="0" bIns="0" rtlCol="0" anchor="ctr">
            <a:normAutofit/>
          </a:bodyPr>
          <a:lstStyle/>
          <a:p>
            <a:pPr algn="l" indent="0" marL="0">
              <a:buNone/>
            </a:pPr>
            <a:r>
              <a:rPr lang="en-US" sz="2400" b="1" dirty="0">
                <a:solidFill>
                  <a:srgbClr val="E87C65"/>
                </a:solidFill>
                <a:latin typeface="Aptos" pitchFamily="34" charset="0"/>
                <a:ea typeface="Aptos" pitchFamily="34" charset="-122"/>
                <a:cs typeface="Aptos" pitchFamily="34" charset="-120"/>
              </a:rPr>
              <a:t>04</a:t>
            </a:r>
            <a:endParaRPr lang="en-US" sz="2400" dirty="0"/>
          </a:p>
        </p:txBody>
      </p:sp>
      <p:sp>
        <p:nvSpPr>
          <p:cNvPr id="22" name="Text 20"/>
          <p:cNvSpPr txBox="1"/>
          <p:nvPr/>
        </p:nvSpPr>
        <p:spPr>
          <a:xfrm>
            <a:off x="9473184" y="2980944"/>
            <a:ext cx="1920240" cy="320040"/>
          </a:xfrm>
          <a:prstGeom prst="rect">
            <a:avLst/>
          </a:prstGeom>
          <a:noFill/>
          <a:ln/>
        </p:spPr>
        <p:txBody>
          <a:bodyPr wrap="square" lIns="0" tIns="0" rIns="0" bIns="0" rtlCol="0" anchor="ctr">
            <a:normAutofit/>
          </a:bodyPr>
          <a:lstStyle/>
          <a:p>
            <a:pPr algn="l" indent="0" marL="0">
              <a:buNone/>
            </a:pPr>
            <a:r>
              <a:rPr lang="en-US" sz="1300" b="1" dirty="0">
                <a:solidFill>
                  <a:srgbClr val="17352F"/>
                </a:solidFill>
                <a:latin typeface="Aptos" pitchFamily="34" charset="0"/>
                <a:ea typeface="Aptos" pitchFamily="34" charset="-122"/>
                <a:cs typeface="Aptos" pitchFamily="34" charset="-120"/>
              </a:rPr>
              <a:t>Work waits or interrupts</a:t>
            </a:r>
            <a:endParaRPr lang="en-US" sz="1300" dirty="0"/>
          </a:p>
        </p:txBody>
      </p:sp>
      <p:sp>
        <p:nvSpPr>
          <p:cNvPr id="23" name="Text 21"/>
          <p:cNvSpPr txBox="1"/>
          <p:nvPr/>
        </p:nvSpPr>
        <p:spPr>
          <a:xfrm>
            <a:off x="9473184" y="3401568"/>
            <a:ext cx="1920240" cy="530352"/>
          </a:xfrm>
          <a:prstGeom prst="rect">
            <a:avLst/>
          </a:prstGeom>
          <a:noFill/>
          <a:ln/>
        </p:spPr>
        <p:txBody>
          <a:bodyPr wrap="square" lIns="0" tIns="0" rIns="0" bIns="0" rtlCol="0" anchor="t">
            <a:normAutofit/>
          </a:bodyPr>
          <a:lstStyle/>
          <a:p>
            <a:pPr algn="l" indent="0" marL="0">
              <a:buNone/>
            </a:pPr>
            <a:r>
              <a:rPr lang="en-US" sz="1000" dirty="0">
                <a:solidFill>
                  <a:srgbClr val="63756D"/>
                </a:solidFill>
                <a:latin typeface="Aptos" pitchFamily="34" charset="0"/>
                <a:ea typeface="Aptos" pitchFamily="34" charset="-122"/>
                <a:cs typeface="Aptos" pitchFamily="34" charset="-120"/>
              </a:rPr>
              <a:t>Someone waits or interrupts another expert.</a:t>
            </a:r>
            <a:endParaRPr lang="en-US" sz="1000" dirty="0"/>
          </a:p>
        </p:txBody>
      </p:sp>
      <p:sp>
        <p:nvSpPr>
          <p:cNvPr id="24" name="Shape 22"/>
          <p:cNvSpPr/>
          <p:nvPr/>
        </p:nvSpPr>
        <p:spPr>
          <a:xfrm>
            <a:off x="594360" y="4645152"/>
            <a:ext cx="10972800" cy="749808"/>
          </a:xfrm>
          <a:prstGeom prst="roundRect">
            <a:avLst>
              <a:gd name="adj" fmla="val 14634"/>
            </a:avLst>
          </a:prstGeom>
          <a:solidFill>
            <a:srgbClr val="E8F1EC"/>
          </a:solidFill>
          <a:ln w="12700">
            <a:solidFill>
              <a:srgbClr val="E8F1EC">
                <a:alpha val="0"/>
              </a:srgbClr>
            </a:solidFill>
            <a:prstDash val="solid"/>
          </a:ln>
        </p:spPr>
      </p:sp>
      <p:sp>
        <p:nvSpPr>
          <p:cNvPr id="25" name="Text 23"/>
          <p:cNvSpPr txBox="1"/>
          <p:nvPr/>
        </p:nvSpPr>
        <p:spPr>
          <a:xfrm>
            <a:off x="868680" y="4855464"/>
            <a:ext cx="4846320" cy="256032"/>
          </a:xfrm>
          <a:prstGeom prst="rect">
            <a:avLst/>
          </a:prstGeom>
          <a:noFill/>
          <a:ln/>
        </p:spPr>
        <p:txBody>
          <a:bodyPr wrap="square" lIns="0" tIns="0" rIns="0" bIns="0" rtlCol="0" anchor="ctr">
            <a:normAutofit/>
          </a:bodyPr>
          <a:lstStyle/>
          <a:p>
            <a:pPr algn="l" indent="0" marL="0">
              <a:buNone/>
            </a:pPr>
            <a:r>
              <a:rPr lang="en-US" sz="1350" b="1" dirty="0">
                <a:solidFill>
                  <a:srgbClr val="17352F"/>
                </a:solidFill>
                <a:latin typeface="Aptos" pitchFamily="34" charset="0"/>
                <a:ea typeface="Aptos" pitchFamily="34" charset="-122"/>
                <a:cs typeface="Aptos" pitchFamily="34" charset="-120"/>
              </a:rPr>
              <a:t>A problem to test—not a Presight measurement</a:t>
            </a:r>
            <a:endParaRPr lang="en-US" sz="1350" dirty="0"/>
          </a:p>
        </p:txBody>
      </p:sp>
      <p:sp>
        <p:nvSpPr>
          <p:cNvPr id="26" name="Text 24"/>
          <p:cNvSpPr txBox="1"/>
          <p:nvPr/>
        </p:nvSpPr>
        <p:spPr>
          <a:xfrm>
            <a:off x="5852160" y="4855464"/>
            <a:ext cx="5394960" cy="256032"/>
          </a:xfrm>
          <a:prstGeom prst="rect">
            <a:avLst/>
          </a:prstGeom>
          <a:noFill/>
          <a:ln/>
        </p:spPr>
        <p:txBody>
          <a:bodyPr wrap="square" lIns="0" tIns="0" rIns="0" bIns="0" rtlCol="0" anchor="ctr">
            <a:normAutofit/>
          </a:bodyPr>
          <a:lstStyle/>
          <a:p>
            <a:pPr algn="r" indent="0" marL="0">
              <a:buNone/>
            </a:pPr>
            <a:r>
              <a:rPr lang="en-US" sz="1100" dirty="0">
                <a:solidFill>
                  <a:srgbClr val="63756D"/>
                </a:solidFill>
                <a:latin typeface="Aptos" pitchFamily="34" charset="0"/>
                <a:ea typeface="Aptos" pitchFamily="34" charset="-122"/>
                <a:cs typeface="Aptos" pitchFamily="34" charset="-120"/>
              </a:rPr>
              <a:t>Measure time spent searching. Do not count waiting time as saved work.</a:t>
            </a:r>
            <a:endParaRPr lang="en-US" sz="1100" dirty="0"/>
          </a:p>
        </p:txBody>
      </p:sp>
      <p:sp>
        <p:nvSpPr>
          <p:cNvPr id="27" name="Text 25"/>
          <p:cNvSpPr txBox="1"/>
          <p:nvPr/>
        </p:nvSpPr>
        <p:spPr>
          <a:xfrm>
            <a:off x="548640" y="6318504"/>
            <a:ext cx="10881360" cy="146304"/>
          </a:xfrm>
          <a:prstGeom prst="rect">
            <a:avLst/>
          </a:prstGeom>
          <a:noFill/>
          <a:ln/>
        </p:spPr>
        <p:txBody>
          <a:bodyPr wrap="square" lIns="0" tIns="0" rIns="0" bIns="0" rtlCol="0" anchor="ctr">
            <a:normAutofit/>
          </a:bodyPr>
          <a:lstStyle/>
          <a:p>
            <a:pPr algn="l" indent="0" marL="0">
              <a:buNone/>
            </a:pPr>
            <a:r>
              <a:rPr lang="en-US" sz="730" dirty="0">
                <a:solidFill>
                  <a:srgbClr val="63756D"/>
                </a:solidFill>
                <a:latin typeface="Aptos" pitchFamily="34" charset="0"/>
                <a:ea typeface="Aptos" pitchFamily="34" charset="-122"/>
                <a:cs typeface="Aptos" pitchFamily="34" charset="-120"/>
              </a:rPr>
              <a:t>Background and research sources are in the speaker notes.</a:t>
            </a:r>
            <a:endParaRPr lang="en-US" sz="730" dirty="0"/>
          </a:p>
        </p:txBody>
      </p:sp>
      <p:sp>
        <p:nvSpPr>
          <p:cNvPr id="25" name="Slide Number Placeholder 0"/>
          <p:cNvSpPr>
            <a:spLocks noGrp="1"/>
          </p:cNvSpPr>
          <p:nvPr>
            <p:ph type="sldNum" sz="quarter" idx="4294967295"/>
          </p:nvPr>
        </p:nvSpPr>
        <p:spPr>
          <a:xfrm>
            <a:off x="11686032"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47C"/>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30352" y="347472"/>
            <a:ext cx="1088136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2F8069"/>
                </a:solidFill>
                <a:latin typeface="Aptos" pitchFamily="34" charset="0"/>
                <a:ea typeface="Aptos" pitchFamily="34" charset="-122"/>
                <a:cs typeface="Aptos" pitchFamily="34" charset="-120"/>
              </a:rPr>
              <a:t>02 / A REALISTIC EXAMPLE</a:t>
            </a:r>
            <a:endParaRPr lang="en-US" sz="900" dirty="0"/>
          </a:p>
        </p:txBody>
      </p:sp>
      <p:sp>
        <p:nvSpPr>
          <p:cNvPr id="3" name="Text 1"/>
          <p:cNvSpPr txBox="1"/>
          <p:nvPr/>
        </p:nvSpPr>
        <p:spPr>
          <a:xfrm>
            <a:off x="530352" y="69494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7352F"/>
                </a:solidFill>
                <a:latin typeface="Aptos Display" pitchFamily="34" charset="0"/>
                <a:ea typeface="Aptos Display" pitchFamily="34" charset="-122"/>
                <a:cs typeface="Aptos Display" pitchFamily="34" charset="-120"/>
              </a:rPr>
              <a:t>Why did the service setting change?</a:t>
            </a:r>
            <a:endParaRPr lang="en-US" sz="2700" dirty="0"/>
          </a:p>
        </p:txBody>
      </p:sp>
      <p:sp>
        <p:nvSpPr>
          <p:cNvPr id="4" name="Text 2"/>
          <p:cNvSpPr txBox="1"/>
          <p:nvPr/>
        </p:nvSpPr>
        <p:spPr>
          <a:xfrm>
            <a:off x="548640" y="1243584"/>
            <a:ext cx="10972800" cy="347472"/>
          </a:xfrm>
          <a:prstGeom prst="rect">
            <a:avLst/>
          </a:prstGeom>
          <a:noFill/>
          <a:ln/>
        </p:spPr>
        <p:txBody>
          <a:bodyPr wrap="square" lIns="0" tIns="0" rIns="0" bIns="0" rtlCol="0" anchor="ctr">
            <a:normAutofit/>
          </a:bodyPr>
          <a:lstStyle/>
          <a:p>
            <a:pPr algn="l" indent="0" marL="0">
              <a:buNone/>
            </a:pPr>
            <a:r>
              <a:rPr lang="en-US" sz="1250" dirty="0">
                <a:solidFill>
                  <a:srgbClr val="63756D"/>
                </a:solidFill>
                <a:latin typeface="Aptos" pitchFamily="34" charset="0"/>
                <a:ea typeface="Aptos" pitchFamily="34" charset="-122"/>
                <a:cs typeface="Aptos" pitchFamily="34" charset="-120"/>
              </a:rPr>
              <a:t>Alice asks Bob about a fictional Project Alpha change.</a:t>
            </a:r>
            <a:endParaRPr lang="en-US" sz="1250" dirty="0"/>
          </a:p>
        </p:txBody>
      </p:sp>
      <p:sp>
        <p:nvSpPr>
          <p:cNvPr id="5" name="Shape 3"/>
          <p:cNvSpPr/>
          <p:nvPr/>
        </p:nvSpPr>
        <p:spPr>
          <a:xfrm>
            <a:off x="658368" y="1874520"/>
            <a:ext cx="3794760" cy="3456432"/>
          </a:xfrm>
          <a:prstGeom prst="roundRect">
            <a:avLst>
              <a:gd name="adj" fmla="val 3175"/>
            </a:avLst>
          </a:prstGeom>
          <a:solidFill>
            <a:srgbClr val="FFFFFF"/>
          </a:solidFill>
          <a:ln w="12700">
            <a:solidFill>
              <a:srgbClr val="D7E1DB"/>
            </a:solidFill>
            <a:prstDash val="solid"/>
          </a:ln>
        </p:spPr>
      </p:sp>
      <p:sp>
        <p:nvSpPr>
          <p:cNvPr id="6" name="Shape 4"/>
          <p:cNvSpPr/>
          <p:nvPr/>
        </p:nvSpPr>
        <p:spPr>
          <a:xfrm>
            <a:off x="914400" y="2148840"/>
            <a:ext cx="1508760" cy="292608"/>
          </a:xfrm>
          <a:prstGeom prst="roundRect">
            <a:avLst>
              <a:gd name="adj" fmla="val 37500"/>
            </a:avLst>
          </a:prstGeom>
          <a:solidFill>
            <a:srgbClr val="EEEAF9"/>
          </a:solidFill>
          <a:ln w="12700">
            <a:solidFill>
              <a:srgbClr val="EEEAF9">
                <a:alpha val="0"/>
              </a:srgbClr>
            </a:solidFill>
            <a:prstDash val="solid"/>
          </a:ln>
        </p:spPr>
      </p:sp>
      <p:sp>
        <p:nvSpPr>
          <p:cNvPr id="7" name="Text 5"/>
          <p:cNvSpPr txBox="1"/>
          <p:nvPr/>
        </p:nvSpPr>
        <p:spPr>
          <a:xfrm>
            <a:off x="1005840" y="2185416"/>
            <a:ext cx="1325880" cy="201168"/>
          </a:xfrm>
          <a:prstGeom prst="rect">
            <a:avLst/>
          </a:prstGeom>
          <a:noFill/>
          <a:ln/>
        </p:spPr>
        <p:txBody>
          <a:bodyPr wrap="square" lIns="0" tIns="0" rIns="0" bIns="0" rtlCol="0" anchor="ctr">
            <a:normAutofit/>
          </a:bodyPr>
          <a:lstStyle/>
          <a:p>
            <a:pPr algn="ctr" indent="0" marL="0">
              <a:buNone/>
            </a:pPr>
            <a:r>
              <a:rPr lang="en-US" sz="850" b="1" spc="30" kern="0" dirty="0">
                <a:solidFill>
                  <a:srgbClr val="5278B8"/>
                </a:solidFill>
                <a:latin typeface="Aptos" pitchFamily="34" charset="0"/>
                <a:ea typeface="Aptos" pitchFamily="34" charset="-122"/>
                <a:cs typeface="Aptos" pitchFamily="34" charset="-120"/>
              </a:rPr>
              <a:t>ASKED BY ALICE</a:t>
            </a:r>
            <a:endParaRPr lang="en-US" sz="850" dirty="0"/>
          </a:p>
        </p:txBody>
      </p:sp>
      <p:sp>
        <p:nvSpPr>
          <p:cNvPr id="8" name="Text 6"/>
          <p:cNvSpPr txBox="1"/>
          <p:nvPr/>
        </p:nvSpPr>
        <p:spPr>
          <a:xfrm>
            <a:off x="914400" y="2670048"/>
            <a:ext cx="3182112" cy="1143000"/>
          </a:xfrm>
          <a:prstGeom prst="rect">
            <a:avLst/>
          </a:prstGeom>
          <a:noFill/>
          <a:ln/>
        </p:spPr>
        <p:txBody>
          <a:bodyPr wrap="square" lIns="0" tIns="0" rIns="0" bIns="0" rtlCol="0" anchor="t">
            <a:normAutofit/>
          </a:bodyPr>
          <a:lstStyle/>
          <a:p>
            <a:pPr algn="l" indent="0" marL="0">
              <a:buNone/>
            </a:pPr>
            <a:r>
              <a:rPr lang="en-US" sz="2100" b="1" dirty="0">
                <a:solidFill>
                  <a:srgbClr val="17352F"/>
                </a:solidFill>
                <a:latin typeface="Aptos" pitchFamily="34" charset="0"/>
                <a:ea typeface="Aptos" pitchFamily="34" charset="-122"/>
                <a:cs typeface="Aptos" pitchFamily="34" charset="-120"/>
              </a:rPr>
              <a:t>Why did the timeout change from 90 to 120 seconds? Is 120 seconds still needed?</a:t>
            </a:r>
            <a:endParaRPr lang="en-US" sz="2100" dirty="0"/>
          </a:p>
        </p:txBody>
      </p:sp>
      <p:sp>
        <p:nvSpPr>
          <p:cNvPr id="9" name="Text 7"/>
          <p:cNvSpPr txBox="1"/>
          <p:nvPr/>
        </p:nvSpPr>
        <p:spPr>
          <a:xfrm>
            <a:off x="914400" y="4315968"/>
            <a:ext cx="3108960" cy="566928"/>
          </a:xfrm>
          <a:prstGeom prst="rect">
            <a:avLst/>
          </a:prstGeom>
          <a:noFill/>
          <a:ln/>
        </p:spPr>
        <p:txBody>
          <a:bodyPr wrap="square" lIns="0" tIns="0" rIns="0" bIns="0" rtlCol="0" anchor="t">
            <a:normAutofit/>
          </a:bodyPr>
          <a:lstStyle/>
          <a:p>
            <a:pPr algn="l" indent="0" marL="0">
              <a:buNone/>
            </a:pPr>
            <a:r>
              <a:rPr lang="en-US" sz="1100" dirty="0">
                <a:solidFill>
                  <a:srgbClr val="63756D"/>
                </a:solidFill>
                <a:latin typeface="Aptos" pitchFamily="34" charset="0"/>
                <a:ea typeface="Aptos" pitchFamily="34" charset="-122"/>
                <a:cs typeface="Aptos" pitchFamily="34" charset="-120"/>
              </a:rPr>
              <a:t>Directed to Bob · DevOps / project owner</a:t>
            </a:r>
            <a:endParaRPr lang="en-US" sz="1100" dirty="0"/>
          </a:p>
          <a:p>
            <a:pPr algn="l" indent="0" marL="0">
              <a:buNone/>
            </a:pPr>
            <a:r>
              <a:rPr lang="en-US" sz="1100" dirty="0">
                <a:solidFill>
                  <a:srgbClr val="63756D"/>
                </a:solidFill>
                <a:latin typeface="Aptos" pitchFamily="34" charset="0"/>
                <a:ea typeface="Aptos" pitchFamily="34" charset="-122"/>
                <a:cs typeface="Aptos" pitchFamily="34" charset="-120"/>
              </a:rPr>
              <a:t>Synthetic out-of-office status</a:t>
            </a:r>
            <a:endParaRPr lang="en-US" sz="1100" dirty="0"/>
          </a:p>
        </p:txBody>
      </p:sp>
      <p:sp>
        <p:nvSpPr>
          <p:cNvPr id="10" name="Shape 8"/>
          <p:cNvSpPr/>
          <p:nvPr/>
        </p:nvSpPr>
        <p:spPr>
          <a:xfrm>
            <a:off x="4663440" y="3529584"/>
            <a:ext cx="1005840" cy="0"/>
          </a:xfrm>
          <a:prstGeom prst="line">
            <a:avLst/>
          </a:prstGeom>
          <a:noFill/>
          <a:ln w="25400">
            <a:solidFill>
              <a:srgbClr val="2F8069"/>
            </a:solidFill>
            <a:prstDash val="solid"/>
            <a:tailEnd type="triangle"/>
          </a:ln>
        </p:spPr>
      </p:sp>
      <p:sp>
        <p:nvSpPr>
          <p:cNvPr id="11" name="Shape 9"/>
          <p:cNvSpPr/>
          <p:nvPr/>
        </p:nvSpPr>
        <p:spPr>
          <a:xfrm>
            <a:off x="5925312" y="1874520"/>
            <a:ext cx="5532120" cy="3456432"/>
          </a:xfrm>
          <a:prstGeom prst="roundRect">
            <a:avLst>
              <a:gd name="adj" fmla="val 3175"/>
            </a:avLst>
          </a:prstGeom>
          <a:solidFill>
            <a:srgbClr val="E8F1EC"/>
          </a:solidFill>
          <a:ln w="12700">
            <a:solidFill>
              <a:srgbClr val="E8F1EC">
                <a:alpha val="0"/>
              </a:srgbClr>
            </a:solidFill>
            <a:prstDash val="solid"/>
          </a:ln>
        </p:spPr>
      </p:sp>
      <p:sp>
        <p:nvSpPr>
          <p:cNvPr id="12" name="Shape 10"/>
          <p:cNvSpPr/>
          <p:nvPr/>
        </p:nvSpPr>
        <p:spPr>
          <a:xfrm>
            <a:off x="6236208" y="2148840"/>
            <a:ext cx="2560320" cy="292608"/>
          </a:xfrm>
          <a:prstGeom prst="roundRect">
            <a:avLst>
              <a:gd name="adj" fmla="val 37500"/>
            </a:avLst>
          </a:prstGeom>
          <a:solidFill>
            <a:srgbClr val="D5EDE2"/>
          </a:solidFill>
          <a:ln w="12700">
            <a:solidFill>
              <a:srgbClr val="D5EDE2">
                <a:alpha val="0"/>
              </a:srgbClr>
            </a:solidFill>
            <a:prstDash val="solid"/>
          </a:ln>
        </p:spPr>
      </p:sp>
      <p:sp>
        <p:nvSpPr>
          <p:cNvPr id="13" name="Text 11"/>
          <p:cNvSpPr txBox="1"/>
          <p:nvPr/>
        </p:nvSpPr>
        <p:spPr>
          <a:xfrm>
            <a:off x="6327648" y="2185416"/>
            <a:ext cx="2377440" cy="201168"/>
          </a:xfrm>
          <a:prstGeom prst="rect">
            <a:avLst/>
          </a:prstGeom>
          <a:noFill/>
          <a:ln/>
        </p:spPr>
        <p:txBody>
          <a:bodyPr wrap="square" lIns="0" tIns="0" rIns="0" bIns="0" rtlCol="0" anchor="ctr">
            <a:normAutofit/>
          </a:bodyPr>
          <a:lstStyle/>
          <a:p>
            <a:pPr algn="ctr" indent="0" marL="0">
              <a:buNone/>
            </a:pPr>
            <a:r>
              <a:rPr lang="en-US" sz="850" b="1" spc="30" kern="0" dirty="0">
                <a:solidFill>
                  <a:srgbClr val="2F8069"/>
                </a:solidFill>
                <a:latin typeface="Aptos" pitchFamily="34" charset="0"/>
                <a:ea typeface="Aptos" pitchFamily="34" charset="-122"/>
                <a:cs typeface="Aptos" pitchFamily="34" charset="-120"/>
              </a:rPr>
              <a:t>SOFTWARE ANSWER · PARTIAL</a:t>
            </a:r>
            <a:endParaRPr lang="en-US" sz="850" dirty="0"/>
          </a:p>
        </p:txBody>
      </p:sp>
      <p:sp>
        <p:nvSpPr>
          <p:cNvPr id="14" name="Text 12"/>
          <p:cNvSpPr txBox="1"/>
          <p:nvPr/>
        </p:nvSpPr>
        <p:spPr>
          <a:xfrm>
            <a:off x="6236208" y="2697480"/>
            <a:ext cx="4800600" cy="1508760"/>
          </a:xfrm>
          <a:prstGeom prst="rect">
            <a:avLst/>
          </a:prstGeom>
          <a:noFill/>
          <a:ln/>
        </p:spPr>
        <p:txBody>
          <a:bodyPr wrap="square" lIns="0" tIns="0" rIns="0" bIns="0" rtlCol="0" anchor="t">
            <a:normAutofit/>
          </a:bodyPr>
          <a:lstStyle/>
          <a:p>
            <a:pPr algn="l" indent="0" marL="0">
              <a:buNone/>
            </a:pPr>
            <a:r>
              <a:rPr lang="en-US" sz="1650" dirty="0">
                <a:solidFill>
                  <a:srgbClr val="17352F"/>
                </a:solidFill>
                <a:latin typeface="Aptos" pitchFamily="34" charset="0"/>
                <a:ea typeface="Aptos" pitchFamily="34" charset="-122"/>
                <a:cs typeface="Aptos" pitchFamily="34" charset="-120"/>
              </a:rPr>
              <a:t>The decision note says the timeout rose because setup sometimes took longer than 90 seconds. The change was approved for release 5.2. The note does not say whether 120 seconds is still needed today.</a:t>
            </a:r>
            <a:endParaRPr lang="en-US" sz="1650" dirty="0"/>
          </a:p>
        </p:txBody>
      </p:sp>
      <p:sp>
        <p:nvSpPr>
          <p:cNvPr id="15" name="Text 13"/>
          <p:cNvSpPr txBox="1"/>
          <p:nvPr/>
        </p:nvSpPr>
        <p:spPr>
          <a:xfrm>
            <a:off x="6236208" y="4599432"/>
            <a:ext cx="4800600" cy="320040"/>
          </a:xfrm>
          <a:prstGeom prst="rect">
            <a:avLst/>
          </a:prstGeom>
          <a:noFill/>
          <a:ln/>
        </p:spPr>
        <p:txBody>
          <a:bodyPr wrap="square" lIns="0" tIns="0" rIns="0" bIns="0" rtlCol="0" anchor="ctr">
            <a:normAutofit/>
          </a:bodyPr>
          <a:lstStyle/>
          <a:p>
            <a:pPr algn="l" indent="0" marL="0">
              <a:buNone/>
            </a:pPr>
            <a:r>
              <a:rPr lang="en-US" sz="1000" b="1" dirty="0">
                <a:solidFill>
                  <a:srgbClr val="2F8069"/>
                </a:solidFill>
                <a:latin typeface="Aptos" pitchFamily="34" charset="0"/>
                <a:ea typeface="Aptos" pitchFamily="34" charset="-122"/>
                <a:cs typeface="Aptos" pitchFamily="34" charset="-120"/>
              </a:rPr>
              <a:t>SOURCE  ADR-024 · written decision · version 1.0</a:t>
            </a:r>
            <a:endParaRPr lang="en-US" sz="1000" dirty="0"/>
          </a:p>
        </p:txBody>
      </p:sp>
      <p:sp>
        <p:nvSpPr>
          <p:cNvPr id="16" name="Text 14"/>
          <p:cNvSpPr txBox="1"/>
          <p:nvPr/>
        </p:nvSpPr>
        <p:spPr>
          <a:xfrm>
            <a:off x="6236208" y="4992624"/>
            <a:ext cx="4800600" cy="228600"/>
          </a:xfrm>
          <a:prstGeom prst="rect">
            <a:avLst/>
          </a:prstGeom>
          <a:noFill/>
          <a:ln/>
        </p:spPr>
        <p:txBody>
          <a:bodyPr wrap="square" lIns="0" tIns="0" rIns="0" bIns="0" rtlCol="0" anchor="ctr">
            <a:normAutofit/>
          </a:bodyPr>
          <a:lstStyle/>
          <a:p>
            <a:pPr algn="l" indent="0" marL="0">
              <a:buNone/>
            </a:pPr>
            <a:r>
              <a:rPr lang="en-US" sz="950" dirty="0">
                <a:solidFill>
                  <a:srgbClr val="63756D"/>
                </a:solidFill>
                <a:latin typeface="Aptos" pitchFamily="34" charset="0"/>
                <a:ea typeface="Aptos" pitchFamily="34" charset="-122"/>
                <a:cs typeface="Aptos" pitchFamily="34" charset="-120"/>
              </a:rPr>
              <a:t>This is not a reply written by Bob.</a:t>
            </a:r>
            <a:endParaRPr lang="en-US" sz="950" dirty="0"/>
          </a:p>
        </p:txBody>
      </p:sp>
      <p:sp>
        <p:nvSpPr>
          <p:cNvPr id="17" name="Text 15"/>
          <p:cNvSpPr txBox="1"/>
          <p:nvPr/>
        </p:nvSpPr>
        <p:spPr>
          <a:xfrm>
            <a:off x="548640" y="6318504"/>
            <a:ext cx="10881360" cy="146304"/>
          </a:xfrm>
          <a:prstGeom prst="rect">
            <a:avLst/>
          </a:prstGeom>
          <a:noFill/>
          <a:ln/>
        </p:spPr>
        <p:txBody>
          <a:bodyPr wrap="square" lIns="0" tIns="0" rIns="0" bIns="0" rtlCol="0" anchor="ctr">
            <a:normAutofit/>
          </a:bodyPr>
          <a:lstStyle/>
          <a:p>
            <a:pPr algn="l" indent="0" marL="0">
              <a:buNone/>
            </a:pPr>
            <a:r>
              <a:rPr lang="en-US" sz="730" dirty="0">
                <a:solidFill>
                  <a:srgbClr val="63756D"/>
                </a:solidFill>
                <a:latin typeface="Aptos" pitchFamily="34" charset="0"/>
                <a:ea typeface="Aptos" pitchFamily="34" charset="-122"/>
                <a:cs typeface="Aptos" pitchFamily="34" charset="-120"/>
              </a:rPr>
              <a:t>Background and research sources are in the speaker notes.</a:t>
            </a:r>
            <a:endParaRPr lang="en-US" sz="730" dirty="0"/>
          </a:p>
        </p:txBody>
      </p:sp>
      <p:sp>
        <p:nvSpPr>
          <p:cNvPr id="25" name="Slide Number Placeholder 0"/>
          <p:cNvSpPr>
            <a:spLocks noGrp="1"/>
          </p:cNvSpPr>
          <p:nvPr>
            <p:ph type="sldNum" sz="quarter" idx="4294967295"/>
          </p:nvPr>
        </p:nvSpPr>
        <p:spPr>
          <a:xfrm>
            <a:off x="11686032"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47C"/>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30352" y="347472"/>
            <a:ext cx="1088136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2F8069"/>
                </a:solidFill>
                <a:latin typeface="Aptos" pitchFamily="34" charset="0"/>
                <a:ea typeface="Aptos" pitchFamily="34" charset="-122"/>
                <a:cs typeface="Aptos" pitchFamily="34" charset="-120"/>
              </a:rPr>
              <a:t>03 / BUSINESS IMPACT</a:t>
            </a:r>
            <a:endParaRPr lang="en-US" sz="900" dirty="0"/>
          </a:p>
        </p:txBody>
      </p:sp>
      <p:sp>
        <p:nvSpPr>
          <p:cNvPr id="3" name="Text 1"/>
          <p:cNvSpPr txBox="1"/>
          <p:nvPr/>
        </p:nvSpPr>
        <p:spPr>
          <a:xfrm>
            <a:off x="530352" y="69494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7352F"/>
                </a:solidFill>
                <a:latin typeface="Aptos Display" pitchFamily="34" charset="0"/>
                <a:ea typeface="Aptos Display" pitchFamily="34" charset="-122"/>
                <a:cs typeface="Aptos Display" pitchFamily="34" charset="-120"/>
              </a:rPr>
              <a:t>What time might the idea save?</a:t>
            </a:r>
            <a:endParaRPr lang="en-US" sz="2700" dirty="0"/>
          </a:p>
        </p:txBody>
      </p:sp>
      <p:sp>
        <p:nvSpPr>
          <p:cNvPr id="4" name="Text 2"/>
          <p:cNvSpPr txBox="1"/>
          <p:nvPr/>
        </p:nvSpPr>
        <p:spPr>
          <a:xfrm>
            <a:off x="548640" y="1243584"/>
            <a:ext cx="10972800" cy="347472"/>
          </a:xfrm>
          <a:prstGeom prst="rect">
            <a:avLst/>
          </a:prstGeom>
          <a:noFill/>
          <a:ln/>
        </p:spPr>
        <p:txBody>
          <a:bodyPr wrap="square" lIns="0" tIns="0" rIns="0" bIns="0" rtlCol="0" anchor="ctr">
            <a:normAutofit/>
          </a:bodyPr>
          <a:lstStyle/>
          <a:p>
            <a:pPr algn="l" indent="0" marL="0">
              <a:buNone/>
            </a:pPr>
            <a:r>
              <a:rPr lang="en-US" sz="1250" dirty="0">
                <a:solidFill>
                  <a:srgbClr val="63756D"/>
                </a:solidFill>
                <a:latin typeface="Aptos" pitchFamily="34" charset="0"/>
                <a:ea typeface="Aptos" pitchFamily="34" charset="-122"/>
                <a:cs typeface="Aptos" pitchFamily="34" charset="-120"/>
              </a:rPr>
              <a:t>A planning example—not a measured Presight figure.</a:t>
            </a:r>
            <a:endParaRPr lang="en-US" sz="1250" dirty="0"/>
          </a:p>
        </p:txBody>
      </p:sp>
      <p:sp>
        <p:nvSpPr>
          <p:cNvPr id="5" name="Text 3"/>
          <p:cNvSpPr txBox="1"/>
          <p:nvPr/>
        </p:nvSpPr>
        <p:spPr>
          <a:xfrm>
            <a:off x="694944" y="1874520"/>
            <a:ext cx="2651760" cy="713232"/>
          </a:xfrm>
          <a:prstGeom prst="rect">
            <a:avLst/>
          </a:prstGeom>
          <a:noFill/>
          <a:ln/>
        </p:spPr>
        <p:txBody>
          <a:bodyPr wrap="square" lIns="0" tIns="0" rIns="0" bIns="0" rtlCol="0" anchor="ctr">
            <a:normAutofit/>
          </a:bodyPr>
          <a:lstStyle/>
          <a:p>
            <a:pPr algn="l" indent="0" marL="0">
              <a:buNone/>
            </a:pPr>
            <a:r>
              <a:rPr lang="en-US" sz="4600" b="1" dirty="0">
                <a:solidFill>
                  <a:srgbClr val="17352F"/>
                </a:solidFill>
                <a:latin typeface="Aptos Display" pitchFamily="34" charset="0"/>
                <a:ea typeface="Aptos Display" pitchFamily="34" charset="-122"/>
                <a:cs typeface="Aptos Display" pitchFamily="34" charset="-120"/>
              </a:rPr>
              <a:t>50,000</a:t>
            </a:r>
            <a:endParaRPr lang="en-US" sz="4600" dirty="0"/>
          </a:p>
        </p:txBody>
      </p:sp>
      <p:sp>
        <p:nvSpPr>
          <p:cNvPr id="6" name="Text 4"/>
          <p:cNvSpPr txBox="1"/>
          <p:nvPr/>
        </p:nvSpPr>
        <p:spPr>
          <a:xfrm>
            <a:off x="731520" y="2624328"/>
            <a:ext cx="3017520" cy="292608"/>
          </a:xfrm>
          <a:prstGeom prst="rect">
            <a:avLst/>
          </a:prstGeom>
          <a:noFill/>
          <a:ln/>
        </p:spPr>
        <p:txBody>
          <a:bodyPr wrap="square" lIns="0" tIns="0" rIns="0" bIns="0" rtlCol="0" anchor="ctr">
            <a:normAutofit/>
          </a:bodyPr>
          <a:lstStyle/>
          <a:p>
            <a:pPr algn="l" indent="0" marL="0">
              <a:buNone/>
            </a:pPr>
            <a:r>
              <a:rPr lang="en-US" sz="1100" dirty="0">
                <a:solidFill>
                  <a:srgbClr val="63756D"/>
                </a:solidFill>
                <a:latin typeface="Aptos" pitchFamily="34" charset="0"/>
                <a:ea typeface="Aptos" pitchFamily="34" charset="-122"/>
                <a:cs typeface="Aptos" pitchFamily="34" charset="-120"/>
              </a:rPr>
              <a:t>possible work questions each year</a:t>
            </a:r>
            <a:endParaRPr lang="en-US" sz="1100" dirty="0"/>
          </a:p>
        </p:txBody>
      </p:sp>
      <p:sp>
        <p:nvSpPr>
          <p:cNvPr id="7" name="Text 5"/>
          <p:cNvSpPr txBox="1"/>
          <p:nvPr/>
        </p:nvSpPr>
        <p:spPr>
          <a:xfrm>
            <a:off x="731520" y="3072384"/>
            <a:ext cx="3474720" cy="329184"/>
          </a:xfrm>
          <a:prstGeom prst="rect">
            <a:avLst/>
          </a:prstGeom>
          <a:noFill/>
          <a:ln/>
        </p:spPr>
        <p:txBody>
          <a:bodyPr wrap="square" lIns="0" tIns="0" rIns="0" bIns="0" rtlCol="0" anchor="ctr">
            <a:normAutofit/>
          </a:bodyPr>
          <a:lstStyle/>
          <a:p>
            <a:pPr algn="l" indent="0" marL="0">
              <a:buNone/>
            </a:pPr>
            <a:r>
              <a:rPr lang="en-US" sz="1250" b="1" dirty="0">
                <a:solidFill>
                  <a:srgbClr val="2F8069"/>
                </a:solidFill>
                <a:latin typeface="Aptos" pitchFamily="34" charset="0"/>
                <a:ea typeface="Aptos" pitchFamily="34" charset="-122"/>
                <a:cs typeface="Aptos" pitchFamily="34" charset="-120"/>
              </a:rPr>
              <a:t>500 employees × 2 questions/week × 50 weeks</a:t>
            </a:r>
            <a:endParaRPr lang="en-US" sz="1250" dirty="0"/>
          </a:p>
        </p:txBody>
      </p:sp>
      <p:sp>
        <p:nvSpPr>
          <p:cNvPr id="8" name="Shape 6"/>
          <p:cNvSpPr/>
          <p:nvPr/>
        </p:nvSpPr>
        <p:spPr>
          <a:xfrm>
            <a:off x="685800" y="3657600"/>
            <a:ext cx="3429000" cy="1417320"/>
          </a:xfrm>
          <a:prstGeom prst="roundRect">
            <a:avLst>
              <a:gd name="adj" fmla="val 7742"/>
            </a:avLst>
          </a:prstGeom>
          <a:solidFill>
            <a:srgbClr val="FFFFFF"/>
          </a:solidFill>
          <a:ln w="12700">
            <a:solidFill>
              <a:srgbClr val="D7E1DB"/>
            </a:solidFill>
            <a:prstDash val="solid"/>
          </a:ln>
        </p:spPr>
      </p:sp>
      <p:sp>
        <p:nvSpPr>
          <p:cNvPr id="9" name="Shape 7"/>
          <p:cNvSpPr/>
          <p:nvPr/>
        </p:nvSpPr>
        <p:spPr>
          <a:xfrm>
            <a:off x="685800" y="3657600"/>
            <a:ext cx="54864" cy="1417320"/>
          </a:xfrm>
          <a:prstGeom prst="rect">
            <a:avLst>
              <a:gd name="adj" fmla="val 200000"/>
            </a:avLst>
          </a:prstGeom>
          <a:solidFill>
            <a:srgbClr val="2F8069"/>
          </a:solidFill>
          <a:ln w="12700">
            <a:solidFill>
              <a:srgbClr val="2F8069">
                <a:alpha val="0"/>
              </a:srgbClr>
            </a:solidFill>
            <a:prstDash val="solid"/>
          </a:ln>
        </p:spPr>
      </p:sp>
      <p:sp>
        <p:nvSpPr>
          <p:cNvPr id="10" name="Text 8"/>
          <p:cNvSpPr txBox="1"/>
          <p:nvPr/>
        </p:nvSpPr>
        <p:spPr>
          <a:xfrm>
            <a:off x="886968" y="3822192"/>
            <a:ext cx="3044952" cy="292608"/>
          </a:xfrm>
          <a:prstGeom prst="rect">
            <a:avLst/>
          </a:prstGeom>
          <a:noFill/>
          <a:ln/>
        </p:spPr>
        <p:txBody>
          <a:bodyPr wrap="square" lIns="0" tIns="0" rIns="0" bIns="0" rtlCol="0" anchor="ctr">
            <a:normAutofit/>
          </a:bodyPr>
          <a:lstStyle/>
          <a:p>
            <a:pPr algn="l" indent="0" marL="0">
              <a:buNone/>
            </a:pPr>
            <a:r>
              <a:rPr lang="en-US" sz="1400" b="1" dirty="0">
                <a:solidFill>
                  <a:srgbClr val="17352F"/>
                </a:solidFill>
                <a:latin typeface="Aptos" pitchFamily="34" charset="0"/>
                <a:ea typeface="Aptos" pitchFamily="34" charset="-122"/>
                <a:cs typeface="Aptos" pitchFamily="34" charset="-120"/>
              </a:rPr>
              <a:t>Count search time</a:t>
            </a:r>
            <a:endParaRPr lang="en-US" sz="1400" dirty="0"/>
          </a:p>
        </p:txBody>
      </p:sp>
      <p:sp>
        <p:nvSpPr>
          <p:cNvPr id="11" name="Text 9"/>
          <p:cNvSpPr txBox="1"/>
          <p:nvPr/>
        </p:nvSpPr>
        <p:spPr>
          <a:xfrm>
            <a:off x="886968" y="4197096"/>
            <a:ext cx="3026664" cy="758952"/>
          </a:xfrm>
          <a:prstGeom prst="rect">
            <a:avLst/>
          </a:prstGeom>
          <a:noFill/>
          <a:ln/>
        </p:spPr>
        <p:txBody>
          <a:bodyPr wrap="square" lIns="0" tIns="0" rIns="0" bIns="0" rtlCol="0" anchor="t">
            <a:normAutofit/>
          </a:bodyPr>
          <a:lstStyle/>
          <a:p>
            <a:pPr algn="l" indent="0" marL="0">
              <a:buNone/>
            </a:pPr>
            <a:r>
              <a:rPr lang="en-US" sz="1050" dirty="0">
                <a:solidFill>
                  <a:srgbClr val="63756D"/>
                </a:solidFill>
                <a:latin typeface="Aptos" pitchFamily="34" charset="0"/>
                <a:ea typeface="Aptos" pitchFamily="34" charset="-122"/>
                <a:cs typeface="Aptos" pitchFamily="34" charset="-120"/>
              </a:rPr>
              <a:t>Time people actually spend finding and checking the answer.</a:t>
            </a:r>
            <a:endParaRPr lang="en-US" sz="1050" dirty="0"/>
          </a:p>
        </p:txBody>
      </p:sp>
      <p:sp>
        <p:nvSpPr>
          <p:cNvPr id="12" name="Shape 10"/>
          <p:cNvSpPr/>
          <p:nvPr/>
        </p:nvSpPr>
        <p:spPr>
          <a:xfrm>
            <a:off x="4370832" y="3657600"/>
            <a:ext cx="3429000" cy="1417320"/>
          </a:xfrm>
          <a:prstGeom prst="roundRect">
            <a:avLst>
              <a:gd name="adj" fmla="val 7742"/>
            </a:avLst>
          </a:prstGeom>
          <a:solidFill>
            <a:srgbClr val="FFF0E9"/>
          </a:solidFill>
          <a:ln w="12700">
            <a:solidFill>
              <a:srgbClr val="D7E1DB"/>
            </a:solidFill>
            <a:prstDash val="solid"/>
          </a:ln>
        </p:spPr>
      </p:sp>
      <p:sp>
        <p:nvSpPr>
          <p:cNvPr id="13" name="Shape 11"/>
          <p:cNvSpPr/>
          <p:nvPr/>
        </p:nvSpPr>
        <p:spPr>
          <a:xfrm>
            <a:off x="4370832" y="3657600"/>
            <a:ext cx="54864" cy="1417320"/>
          </a:xfrm>
          <a:prstGeom prst="rect">
            <a:avLst>
              <a:gd name="adj" fmla="val 200000"/>
            </a:avLst>
          </a:prstGeom>
          <a:solidFill>
            <a:srgbClr val="E87C65"/>
          </a:solidFill>
          <a:ln w="12700">
            <a:solidFill>
              <a:srgbClr val="E87C65">
                <a:alpha val="0"/>
              </a:srgbClr>
            </a:solidFill>
            <a:prstDash val="solid"/>
          </a:ln>
        </p:spPr>
      </p:sp>
      <p:sp>
        <p:nvSpPr>
          <p:cNvPr id="14" name="Text 12"/>
          <p:cNvSpPr txBox="1"/>
          <p:nvPr/>
        </p:nvSpPr>
        <p:spPr>
          <a:xfrm>
            <a:off x="4572000" y="3822192"/>
            <a:ext cx="3044952" cy="292608"/>
          </a:xfrm>
          <a:prstGeom prst="rect">
            <a:avLst/>
          </a:prstGeom>
          <a:noFill/>
          <a:ln/>
        </p:spPr>
        <p:txBody>
          <a:bodyPr wrap="square" lIns="0" tIns="0" rIns="0" bIns="0" rtlCol="0" anchor="ctr">
            <a:normAutofit/>
          </a:bodyPr>
          <a:lstStyle/>
          <a:p>
            <a:pPr algn="l" indent="0" marL="0">
              <a:buNone/>
            </a:pPr>
            <a:r>
              <a:rPr lang="en-US" sz="1400" b="1" dirty="0">
                <a:solidFill>
                  <a:srgbClr val="17352F"/>
                </a:solidFill>
                <a:latin typeface="Aptos" pitchFamily="34" charset="0"/>
                <a:ea typeface="Aptos" pitchFamily="34" charset="-122"/>
                <a:cs typeface="Aptos" pitchFamily="34" charset="-120"/>
              </a:rPr>
              <a:t>Do not count waiting</a:t>
            </a:r>
            <a:endParaRPr lang="en-US" sz="1400" dirty="0"/>
          </a:p>
        </p:txBody>
      </p:sp>
      <p:sp>
        <p:nvSpPr>
          <p:cNvPr id="15" name="Text 13"/>
          <p:cNvSpPr txBox="1"/>
          <p:nvPr/>
        </p:nvSpPr>
        <p:spPr>
          <a:xfrm>
            <a:off x="4572000" y="4197096"/>
            <a:ext cx="3026664" cy="758952"/>
          </a:xfrm>
          <a:prstGeom prst="rect">
            <a:avLst/>
          </a:prstGeom>
          <a:noFill/>
          <a:ln/>
        </p:spPr>
        <p:txBody>
          <a:bodyPr wrap="square" lIns="0" tIns="0" rIns="0" bIns="0" rtlCol="0" anchor="t">
            <a:normAutofit/>
          </a:bodyPr>
          <a:lstStyle/>
          <a:p>
            <a:pPr algn="l" indent="0" marL="0">
              <a:buNone/>
            </a:pPr>
            <a:r>
              <a:rPr lang="en-US" sz="1050" dirty="0">
                <a:solidFill>
                  <a:srgbClr val="63756D"/>
                </a:solidFill>
                <a:latin typeface="Aptos" pitchFamily="34" charset="0"/>
                <a:ea typeface="Aptos" pitchFamily="34" charset="-122"/>
                <a:cs typeface="Aptos" pitchFamily="34" charset="-120"/>
              </a:rPr>
              <a:t>Time spent waiting is not automatically saved work.</a:t>
            </a:r>
            <a:endParaRPr lang="en-US" sz="1050" dirty="0"/>
          </a:p>
        </p:txBody>
      </p:sp>
      <p:sp>
        <p:nvSpPr>
          <p:cNvPr id="16" name="Shape 14"/>
          <p:cNvSpPr/>
          <p:nvPr/>
        </p:nvSpPr>
        <p:spPr>
          <a:xfrm>
            <a:off x="8046720" y="3657600"/>
            <a:ext cx="3429000" cy="1417320"/>
          </a:xfrm>
          <a:prstGeom prst="roundRect">
            <a:avLst>
              <a:gd name="adj" fmla="val 7742"/>
            </a:avLst>
          </a:prstGeom>
          <a:solidFill>
            <a:srgbClr val="FFFFFF"/>
          </a:solidFill>
          <a:ln w="12700">
            <a:solidFill>
              <a:srgbClr val="D7E1DB"/>
            </a:solidFill>
            <a:prstDash val="solid"/>
          </a:ln>
        </p:spPr>
      </p:sp>
      <p:sp>
        <p:nvSpPr>
          <p:cNvPr id="17" name="Shape 15"/>
          <p:cNvSpPr/>
          <p:nvPr/>
        </p:nvSpPr>
        <p:spPr>
          <a:xfrm>
            <a:off x="8046720" y="3657600"/>
            <a:ext cx="54864" cy="1417320"/>
          </a:xfrm>
          <a:prstGeom prst="rect">
            <a:avLst>
              <a:gd name="adj" fmla="val 200000"/>
            </a:avLst>
          </a:prstGeom>
          <a:solidFill>
            <a:srgbClr val="5278B8"/>
          </a:solidFill>
          <a:ln w="12700">
            <a:solidFill>
              <a:srgbClr val="5278B8">
                <a:alpha val="0"/>
              </a:srgbClr>
            </a:solidFill>
            <a:prstDash val="solid"/>
          </a:ln>
        </p:spPr>
      </p:sp>
      <p:sp>
        <p:nvSpPr>
          <p:cNvPr id="18" name="Text 16"/>
          <p:cNvSpPr txBox="1"/>
          <p:nvPr/>
        </p:nvSpPr>
        <p:spPr>
          <a:xfrm>
            <a:off x="8247888" y="3822192"/>
            <a:ext cx="3044952" cy="292608"/>
          </a:xfrm>
          <a:prstGeom prst="rect">
            <a:avLst/>
          </a:prstGeom>
          <a:noFill/>
          <a:ln/>
        </p:spPr>
        <p:txBody>
          <a:bodyPr wrap="square" lIns="0" tIns="0" rIns="0" bIns="0" rtlCol="0" anchor="ctr">
            <a:normAutofit/>
          </a:bodyPr>
          <a:lstStyle/>
          <a:p>
            <a:pPr algn="l" indent="0" marL="0">
              <a:buNone/>
            </a:pPr>
            <a:r>
              <a:rPr lang="en-US" sz="1400" b="1" dirty="0">
                <a:solidFill>
                  <a:srgbClr val="17352F"/>
                </a:solidFill>
                <a:latin typeface="Aptos" pitchFamily="34" charset="0"/>
                <a:ea typeface="Aptos" pitchFamily="34" charset="-122"/>
                <a:cs typeface="Aptos" pitchFamily="34" charset="-120"/>
              </a:rPr>
              <a:t>Measure real use</a:t>
            </a:r>
            <a:endParaRPr lang="en-US" sz="1400" dirty="0"/>
          </a:p>
        </p:txBody>
      </p:sp>
      <p:sp>
        <p:nvSpPr>
          <p:cNvPr id="19" name="Text 17"/>
          <p:cNvSpPr txBox="1"/>
          <p:nvPr/>
        </p:nvSpPr>
        <p:spPr>
          <a:xfrm>
            <a:off x="8247888" y="4197096"/>
            <a:ext cx="3026664" cy="758952"/>
          </a:xfrm>
          <a:prstGeom prst="rect">
            <a:avLst/>
          </a:prstGeom>
          <a:noFill/>
          <a:ln/>
        </p:spPr>
        <p:txBody>
          <a:bodyPr wrap="square" lIns="0" tIns="0" rIns="0" bIns="0" rtlCol="0" anchor="t">
            <a:normAutofit/>
          </a:bodyPr>
          <a:lstStyle/>
          <a:p>
            <a:pPr algn="l" indent="0" marL="0">
              <a:buNone/>
            </a:pPr>
            <a:r>
              <a:rPr lang="en-US" sz="1050" dirty="0">
                <a:solidFill>
                  <a:srgbClr val="63756D"/>
                </a:solidFill>
                <a:latin typeface="Aptos" pitchFamily="34" charset="0"/>
                <a:ea typeface="Aptos" pitchFamily="34" charset="-122"/>
                <a:cs typeface="Aptos" pitchFamily="34" charset="-120"/>
              </a:rPr>
              <a:t>Count answers people accept and time the pilot can verify.</a:t>
            </a:r>
            <a:endParaRPr lang="en-US" sz="1050" dirty="0"/>
          </a:p>
        </p:txBody>
      </p:sp>
      <p:sp>
        <p:nvSpPr>
          <p:cNvPr id="20" name="Shape 18"/>
          <p:cNvSpPr/>
          <p:nvPr/>
        </p:nvSpPr>
        <p:spPr>
          <a:xfrm>
            <a:off x="713232" y="5404104"/>
            <a:ext cx="3474720" cy="292608"/>
          </a:xfrm>
          <a:prstGeom prst="roundRect">
            <a:avLst>
              <a:gd name="adj" fmla="val 37500"/>
            </a:avLst>
          </a:prstGeom>
          <a:solidFill>
            <a:srgbClr val="EEEAF9"/>
          </a:solidFill>
          <a:ln w="12700">
            <a:solidFill>
              <a:srgbClr val="EEEAF9">
                <a:alpha val="0"/>
              </a:srgbClr>
            </a:solidFill>
            <a:prstDash val="solid"/>
          </a:ln>
        </p:spPr>
      </p:sp>
      <p:sp>
        <p:nvSpPr>
          <p:cNvPr id="21" name="Text 19"/>
          <p:cNvSpPr txBox="1"/>
          <p:nvPr/>
        </p:nvSpPr>
        <p:spPr>
          <a:xfrm>
            <a:off x="804672" y="5440680"/>
            <a:ext cx="3291840" cy="201168"/>
          </a:xfrm>
          <a:prstGeom prst="rect">
            <a:avLst/>
          </a:prstGeom>
          <a:noFill/>
          <a:ln/>
        </p:spPr>
        <p:txBody>
          <a:bodyPr wrap="square" lIns="0" tIns="0" rIns="0" bIns="0" rtlCol="0" anchor="ctr">
            <a:normAutofit/>
          </a:bodyPr>
          <a:lstStyle/>
          <a:p>
            <a:pPr algn="ctr" indent="0" marL="0">
              <a:buNone/>
            </a:pPr>
            <a:r>
              <a:rPr lang="en-US" sz="850" b="1" spc="30" kern="0" dirty="0">
                <a:solidFill>
                  <a:srgbClr val="5278B8"/>
                </a:solidFill>
                <a:latin typeface="Aptos" pitchFamily="34" charset="0"/>
                <a:ea typeface="Aptos" pitchFamily="34" charset="-122"/>
                <a:cs typeface="Aptos" pitchFamily="34" charset="-120"/>
              </a:rPr>
              <a:t>EXAMPLE ASSUMPTIONS · NOT MEASURED BENEFIT</a:t>
            </a:r>
            <a:endParaRPr lang="en-US" sz="850" dirty="0"/>
          </a:p>
        </p:txBody>
      </p:sp>
      <p:sp>
        <p:nvSpPr>
          <p:cNvPr id="22" name="Text 20"/>
          <p:cNvSpPr txBox="1"/>
          <p:nvPr/>
        </p:nvSpPr>
        <p:spPr>
          <a:xfrm>
            <a:off x="548640" y="6318504"/>
            <a:ext cx="10881360" cy="146304"/>
          </a:xfrm>
          <a:prstGeom prst="rect">
            <a:avLst/>
          </a:prstGeom>
          <a:noFill/>
          <a:ln/>
        </p:spPr>
        <p:txBody>
          <a:bodyPr wrap="square" lIns="0" tIns="0" rIns="0" bIns="0" rtlCol="0" anchor="ctr">
            <a:normAutofit/>
          </a:bodyPr>
          <a:lstStyle/>
          <a:p>
            <a:pPr algn="l" indent="0" marL="0">
              <a:buNone/>
            </a:pPr>
            <a:r>
              <a:rPr lang="en-US" sz="730" dirty="0">
                <a:solidFill>
                  <a:srgbClr val="63756D"/>
                </a:solidFill>
                <a:latin typeface="Aptos" pitchFamily="34" charset="0"/>
                <a:ea typeface="Aptos" pitchFamily="34" charset="-122"/>
                <a:cs typeface="Aptos" pitchFamily="34" charset="-120"/>
              </a:rPr>
              <a:t>Background and research sources are in the speaker notes.</a:t>
            </a:r>
            <a:endParaRPr lang="en-US" sz="730" dirty="0"/>
          </a:p>
        </p:txBody>
      </p:sp>
      <p:sp>
        <p:nvSpPr>
          <p:cNvPr id="25" name="Slide Number Placeholder 0"/>
          <p:cNvSpPr>
            <a:spLocks noGrp="1"/>
          </p:cNvSpPr>
          <p:nvPr>
            <p:ph type="sldNum" sz="quarter" idx="4294967295"/>
          </p:nvPr>
        </p:nvSpPr>
        <p:spPr>
          <a:xfrm>
            <a:off x="11686032"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47C"/>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30352" y="347472"/>
            <a:ext cx="1088136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2F8069"/>
                </a:solidFill>
                <a:latin typeface="Aptos" pitchFamily="34" charset="0"/>
                <a:ea typeface="Aptos" pitchFamily="34" charset="-122"/>
                <a:cs typeface="Aptos" pitchFamily="34" charset="-120"/>
              </a:rPr>
              <a:t>04 / THE SOLUTION</a:t>
            </a:r>
            <a:endParaRPr lang="en-US" sz="900" dirty="0"/>
          </a:p>
        </p:txBody>
      </p:sp>
      <p:sp>
        <p:nvSpPr>
          <p:cNvPr id="3" name="Text 1"/>
          <p:cNvSpPr txBox="1"/>
          <p:nvPr/>
        </p:nvSpPr>
        <p:spPr>
          <a:xfrm>
            <a:off x="530352" y="69494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7352F"/>
                </a:solidFill>
                <a:latin typeface="Aptos Display" pitchFamily="34" charset="0"/>
                <a:ea typeface="Aptos Display" pitchFamily="34" charset="-122"/>
                <a:cs typeface="Aptos Display" pitchFamily="34" charset="-120"/>
              </a:rPr>
              <a:t>Owner consent does not give file access</a:t>
            </a:r>
            <a:endParaRPr lang="en-US" sz="2700" dirty="0"/>
          </a:p>
        </p:txBody>
      </p:sp>
      <p:sp>
        <p:nvSpPr>
          <p:cNvPr id="4" name="Text 2"/>
          <p:cNvSpPr txBox="1"/>
          <p:nvPr/>
        </p:nvSpPr>
        <p:spPr>
          <a:xfrm>
            <a:off x="548640" y="1243584"/>
            <a:ext cx="10972800" cy="347472"/>
          </a:xfrm>
          <a:prstGeom prst="rect">
            <a:avLst/>
          </a:prstGeom>
          <a:noFill/>
          <a:ln/>
        </p:spPr>
        <p:txBody>
          <a:bodyPr wrap="square" lIns="0" tIns="0" rIns="0" bIns="0" rtlCol="0" anchor="ctr">
            <a:normAutofit/>
          </a:bodyPr>
          <a:lstStyle/>
          <a:p>
            <a:pPr algn="l" indent="0" marL="0">
              <a:buNone/>
            </a:pPr>
            <a:r>
              <a:rPr lang="en-US" sz="1250" dirty="0">
                <a:solidFill>
                  <a:srgbClr val="63756D"/>
                </a:solidFill>
                <a:latin typeface="Aptos" pitchFamily="34" charset="0"/>
                <a:ea typeface="Aptos" pitchFamily="34" charset="-122"/>
                <a:cs typeface="Aptos" pitchFamily="34" charset="-120"/>
              </a:rPr>
              <a:t>Two separate checks protect the person asking and the person sharing knowledge.</a:t>
            </a:r>
            <a:endParaRPr lang="en-US" sz="1250" dirty="0"/>
          </a:p>
        </p:txBody>
      </p:sp>
      <p:sp>
        <p:nvSpPr>
          <p:cNvPr id="5" name="Shape 3"/>
          <p:cNvSpPr/>
          <p:nvPr/>
        </p:nvSpPr>
        <p:spPr>
          <a:xfrm>
            <a:off x="658368" y="2011680"/>
            <a:ext cx="3474720" cy="1965960"/>
          </a:xfrm>
          <a:prstGeom prst="roundRect">
            <a:avLst>
              <a:gd name="adj" fmla="val 5581"/>
            </a:avLst>
          </a:prstGeom>
          <a:solidFill>
            <a:srgbClr val="FFFFFF"/>
          </a:solidFill>
          <a:ln w="12700">
            <a:solidFill>
              <a:srgbClr val="D7E1DB"/>
            </a:solidFill>
            <a:prstDash val="solid"/>
          </a:ln>
        </p:spPr>
      </p:sp>
      <p:sp>
        <p:nvSpPr>
          <p:cNvPr id="6" name="Shape 4"/>
          <p:cNvSpPr/>
          <p:nvPr/>
        </p:nvSpPr>
        <p:spPr>
          <a:xfrm>
            <a:off x="658368" y="2011680"/>
            <a:ext cx="54864" cy="1965960"/>
          </a:xfrm>
          <a:prstGeom prst="rect">
            <a:avLst>
              <a:gd name="adj" fmla="val 200000"/>
            </a:avLst>
          </a:prstGeom>
          <a:solidFill>
            <a:srgbClr val="2F8069"/>
          </a:solidFill>
          <a:ln w="12700">
            <a:solidFill>
              <a:srgbClr val="2F8069">
                <a:alpha val="0"/>
              </a:srgbClr>
            </a:solidFill>
            <a:prstDash val="solid"/>
          </a:ln>
        </p:spPr>
      </p:sp>
      <p:sp>
        <p:nvSpPr>
          <p:cNvPr id="7" name="Text 5"/>
          <p:cNvSpPr txBox="1"/>
          <p:nvPr/>
        </p:nvSpPr>
        <p:spPr>
          <a:xfrm>
            <a:off x="859536" y="2176272"/>
            <a:ext cx="3090672" cy="292608"/>
          </a:xfrm>
          <a:prstGeom prst="rect">
            <a:avLst/>
          </a:prstGeom>
          <a:noFill/>
          <a:ln/>
        </p:spPr>
        <p:txBody>
          <a:bodyPr wrap="square" lIns="0" tIns="0" rIns="0" bIns="0" rtlCol="0" anchor="ctr">
            <a:normAutofit/>
          </a:bodyPr>
          <a:lstStyle/>
          <a:p>
            <a:pPr algn="l" indent="0" marL="0">
              <a:buNone/>
            </a:pPr>
            <a:r>
              <a:rPr lang="en-US" sz="1400" b="1" dirty="0">
                <a:solidFill>
                  <a:srgbClr val="17352F"/>
                </a:solidFill>
                <a:latin typeface="Aptos" pitchFamily="34" charset="0"/>
                <a:ea typeface="Aptos" pitchFamily="34" charset="-122"/>
                <a:cs typeface="Aptos" pitchFamily="34" charset="-120"/>
              </a:rPr>
              <a:t>The owner agrees</a:t>
            </a:r>
            <a:endParaRPr lang="en-US" sz="1400" dirty="0"/>
          </a:p>
        </p:txBody>
      </p:sp>
      <p:sp>
        <p:nvSpPr>
          <p:cNvPr id="8" name="Text 6"/>
          <p:cNvSpPr txBox="1"/>
          <p:nvPr/>
        </p:nvSpPr>
        <p:spPr>
          <a:xfrm>
            <a:off x="859536" y="2551176"/>
            <a:ext cx="3072384" cy="1307592"/>
          </a:xfrm>
          <a:prstGeom prst="rect">
            <a:avLst/>
          </a:prstGeom>
          <a:noFill/>
          <a:ln/>
        </p:spPr>
        <p:txBody>
          <a:bodyPr wrap="square" lIns="0" tIns="0" rIns="0" bIns="0" rtlCol="0" anchor="t">
            <a:normAutofit/>
          </a:bodyPr>
          <a:lstStyle/>
          <a:p>
            <a:pPr algn="l" indent="0" marL="0">
              <a:buNone/>
            </a:pPr>
            <a:r>
              <a:rPr lang="en-US" sz="1050" dirty="0">
                <a:solidFill>
                  <a:srgbClr val="63756D"/>
                </a:solidFill>
                <a:latin typeface="Aptos" pitchFamily="34" charset="0"/>
                <a:ea typeface="Aptos" pitchFamily="34" charset="-122"/>
                <a:cs typeface="Aptos" pitchFamily="34" charset="-120"/>
              </a:rPr>
              <a:t>Choose the dates, project, topic, coworkers, files and backup. Pause or stop at any time.</a:t>
            </a:r>
            <a:endParaRPr lang="en-US" sz="1050" dirty="0"/>
          </a:p>
        </p:txBody>
      </p:sp>
      <p:sp>
        <p:nvSpPr>
          <p:cNvPr id="9" name="Shape 7"/>
          <p:cNvSpPr/>
          <p:nvPr/>
        </p:nvSpPr>
        <p:spPr>
          <a:xfrm>
            <a:off x="4370832" y="2011680"/>
            <a:ext cx="3474720" cy="1965960"/>
          </a:xfrm>
          <a:prstGeom prst="roundRect">
            <a:avLst>
              <a:gd name="adj" fmla="val 5581"/>
            </a:avLst>
          </a:prstGeom>
          <a:solidFill>
            <a:srgbClr val="FFFFFF"/>
          </a:solidFill>
          <a:ln w="12700">
            <a:solidFill>
              <a:srgbClr val="D7E1DB"/>
            </a:solidFill>
            <a:prstDash val="solid"/>
          </a:ln>
        </p:spPr>
      </p:sp>
      <p:sp>
        <p:nvSpPr>
          <p:cNvPr id="10" name="Shape 8"/>
          <p:cNvSpPr/>
          <p:nvPr/>
        </p:nvSpPr>
        <p:spPr>
          <a:xfrm>
            <a:off x="4370832" y="2011680"/>
            <a:ext cx="54864" cy="1965960"/>
          </a:xfrm>
          <a:prstGeom prst="rect">
            <a:avLst>
              <a:gd name="adj" fmla="val 200000"/>
            </a:avLst>
          </a:prstGeom>
          <a:solidFill>
            <a:srgbClr val="5278B8"/>
          </a:solidFill>
          <a:ln w="12700">
            <a:solidFill>
              <a:srgbClr val="5278B8">
                <a:alpha val="0"/>
              </a:srgbClr>
            </a:solidFill>
            <a:prstDash val="solid"/>
          </a:ln>
        </p:spPr>
      </p:sp>
      <p:sp>
        <p:nvSpPr>
          <p:cNvPr id="11" name="Text 9"/>
          <p:cNvSpPr txBox="1"/>
          <p:nvPr/>
        </p:nvSpPr>
        <p:spPr>
          <a:xfrm>
            <a:off x="4572000" y="2176272"/>
            <a:ext cx="3090672" cy="292608"/>
          </a:xfrm>
          <a:prstGeom prst="rect">
            <a:avLst/>
          </a:prstGeom>
          <a:noFill/>
          <a:ln/>
        </p:spPr>
        <p:txBody>
          <a:bodyPr wrap="square" lIns="0" tIns="0" rIns="0" bIns="0" rtlCol="0" anchor="ctr">
            <a:normAutofit/>
          </a:bodyPr>
          <a:lstStyle/>
          <a:p>
            <a:pPr algn="l" indent="0" marL="0">
              <a:buNone/>
            </a:pPr>
            <a:r>
              <a:rPr lang="en-US" sz="1400" b="1" dirty="0">
                <a:solidFill>
                  <a:srgbClr val="17352F"/>
                </a:solidFill>
                <a:latin typeface="Aptos" pitchFamily="34" charset="0"/>
                <a:ea typeface="Aptos" pitchFamily="34" charset="-122"/>
                <a:cs typeface="Aptos" pitchFamily="34" charset="-120"/>
              </a:rPr>
              <a:t>The asker has access</a:t>
            </a:r>
            <a:endParaRPr lang="en-US" sz="1400" dirty="0"/>
          </a:p>
        </p:txBody>
      </p:sp>
      <p:sp>
        <p:nvSpPr>
          <p:cNvPr id="12" name="Text 10"/>
          <p:cNvSpPr txBox="1"/>
          <p:nvPr/>
        </p:nvSpPr>
        <p:spPr>
          <a:xfrm>
            <a:off x="4572000" y="2551176"/>
            <a:ext cx="3072384" cy="1307592"/>
          </a:xfrm>
          <a:prstGeom prst="rect">
            <a:avLst/>
          </a:prstGeom>
          <a:noFill/>
          <a:ln/>
        </p:spPr>
        <p:txBody>
          <a:bodyPr wrap="square" lIns="0" tIns="0" rIns="0" bIns="0" rtlCol="0" anchor="t">
            <a:normAutofit/>
          </a:bodyPr>
          <a:lstStyle/>
          <a:p>
            <a:pPr algn="l" indent="0" marL="0">
              <a:buNone/>
            </a:pPr>
            <a:r>
              <a:rPr lang="en-US" sz="1050" dirty="0">
                <a:solidFill>
                  <a:srgbClr val="63756D"/>
                </a:solidFill>
                <a:latin typeface="Aptos" pitchFamily="34" charset="0"/>
                <a:ea typeface="Aptos" pitchFamily="34" charset="-122"/>
                <a:cs typeface="Aptos" pitchFamily="34" charset="-120"/>
              </a:rPr>
              <a:t>Use only files the signed-in requester is already allowed to open.</a:t>
            </a:r>
            <a:endParaRPr lang="en-US" sz="1050" dirty="0"/>
          </a:p>
        </p:txBody>
      </p:sp>
      <p:sp>
        <p:nvSpPr>
          <p:cNvPr id="13" name="Shape 11"/>
          <p:cNvSpPr/>
          <p:nvPr/>
        </p:nvSpPr>
        <p:spPr>
          <a:xfrm>
            <a:off x="8083296" y="2011680"/>
            <a:ext cx="3474720" cy="1965960"/>
          </a:xfrm>
          <a:prstGeom prst="roundRect">
            <a:avLst>
              <a:gd name="adj" fmla="val 5581"/>
            </a:avLst>
          </a:prstGeom>
          <a:solidFill>
            <a:srgbClr val="FFFFFF"/>
          </a:solidFill>
          <a:ln w="12700">
            <a:solidFill>
              <a:srgbClr val="D7E1DB"/>
            </a:solidFill>
            <a:prstDash val="solid"/>
          </a:ln>
        </p:spPr>
      </p:sp>
      <p:sp>
        <p:nvSpPr>
          <p:cNvPr id="14" name="Shape 12"/>
          <p:cNvSpPr/>
          <p:nvPr/>
        </p:nvSpPr>
        <p:spPr>
          <a:xfrm>
            <a:off x="8083296" y="2011680"/>
            <a:ext cx="54864" cy="1965960"/>
          </a:xfrm>
          <a:prstGeom prst="rect">
            <a:avLst>
              <a:gd name="adj" fmla="val 200000"/>
            </a:avLst>
          </a:prstGeom>
          <a:solidFill>
            <a:srgbClr val="E87C65"/>
          </a:solidFill>
          <a:ln w="12700">
            <a:solidFill>
              <a:srgbClr val="E87C65">
                <a:alpha val="0"/>
              </a:srgbClr>
            </a:solidFill>
            <a:prstDash val="solid"/>
          </a:ln>
        </p:spPr>
      </p:sp>
      <p:sp>
        <p:nvSpPr>
          <p:cNvPr id="15" name="Text 13"/>
          <p:cNvSpPr txBox="1"/>
          <p:nvPr/>
        </p:nvSpPr>
        <p:spPr>
          <a:xfrm>
            <a:off x="8284464" y="2176272"/>
            <a:ext cx="3090672" cy="292608"/>
          </a:xfrm>
          <a:prstGeom prst="rect">
            <a:avLst/>
          </a:prstGeom>
          <a:noFill/>
          <a:ln/>
        </p:spPr>
        <p:txBody>
          <a:bodyPr wrap="square" lIns="0" tIns="0" rIns="0" bIns="0" rtlCol="0" anchor="ctr">
            <a:normAutofit/>
          </a:bodyPr>
          <a:lstStyle/>
          <a:p>
            <a:pPr algn="l" indent="0" marL="0">
              <a:buNone/>
            </a:pPr>
            <a:r>
              <a:rPr lang="en-US" sz="1400" b="1" dirty="0">
                <a:solidFill>
                  <a:srgbClr val="17352F"/>
                </a:solidFill>
                <a:latin typeface="Aptos" pitchFamily="34" charset="0"/>
                <a:ea typeface="Aptos" pitchFamily="34" charset="-122"/>
                <a:cs typeface="Aptos" pitchFamily="34" charset="-120"/>
              </a:rPr>
              <a:t>Answer or get help</a:t>
            </a:r>
            <a:endParaRPr lang="en-US" sz="1400" dirty="0"/>
          </a:p>
        </p:txBody>
      </p:sp>
      <p:sp>
        <p:nvSpPr>
          <p:cNvPr id="16" name="Text 14"/>
          <p:cNvSpPr txBox="1"/>
          <p:nvPr/>
        </p:nvSpPr>
        <p:spPr>
          <a:xfrm>
            <a:off x="8284464" y="2551176"/>
            <a:ext cx="3072384" cy="1307592"/>
          </a:xfrm>
          <a:prstGeom prst="rect">
            <a:avLst/>
          </a:prstGeom>
          <a:noFill/>
          <a:ln/>
        </p:spPr>
        <p:txBody>
          <a:bodyPr wrap="square" lIns="0" tIns="0" rIns="0" bIns="0" rtlCol="0" anchor="t">
            <a:normAutofit/>
          </a:bodyPr>
          <a:lstStyle/>
          <a:p>
            <a:pPr algn="l" indent="0" marL="0">
              <a:buNone/>
            </a:pPr>
            <a:r>
              <a:rPr lang="en-US" sz="1050" dirty="0">
                <a:solidFill>
                  <a:srgbClr val="63756D"/>
                </a:solidFill>
                <a:latin typeface="Aptos" pitchFamily="34" charset="0"/>
                <a:ea typeface="Aptos" pitchFamily="34" charset="-122"/>
                <a:cs typeface="Aptos" pitchFamily="34" charset="-120"/>
              </a:rPr>
              <a:t>Show the source and limits. Deny restricted requests. Ask a human when evidence is weak.</a:t>
            </a:r>
            <a:endParaRPr lang="en-US" sz="1050" dirty="0"/>
          </a:p>
        </p:txBody>
      </p:sp>
      <p:sp>
        <p:nvSpPr>
          <p:cNvPr id="17" name="Shape 15"/>
          <p:cNvSpPr/>
          <p:nvPr/>
        </p:nvSpPr>
        <p:spPr>
          <a:xfrm>
            <a:off x="4160520" y="2980944"/>
            <a:ext cx="182880" cy="0"/>
          </a:xfrm>
          <a:prstGeom prst="line">
            <a:avLst/>
          </a:prstGeom>
          <a:noFill/>
          <a:ln w="20320">
            <a:solidFill>
              <a:srgbClr val="2F8069"/>
            </a:solidFill>
            <a:prstDash val="solid"/>
            <a:tailEnd type="triangle"/>
          </a:ln>
        </p:spPr>
      </p:sp>
      <p:sp>
        <p:nvSpPr>
          <p:cNvPr id="18" name="Shape 16"/>
          <p:cNvSpPr/>
          <p:nvPr/>
        </p:nvSpPr>
        <p:spPr>
          <a:xfrm>
            <a:off x="7872984" y="2980944"/>
            <a:ext cx="182880" cy="0"/>
          </a:xfrm>
          <a:prstGeom prst="line">
            <a:avLst/>
          </a:prstGeom>
          <a:noFill/>
          <a:ln w="20320">
            <a:solidFill>
              <a:srgbClr val="2F8069"/>
            </a:solidFill>
            <a:prstDash val="solid"/>
            <a:tailEnd type="triangle"/>
          </a:ln>
        </p:spPr>
      </p:sp>
      <p:sp>
        <p:nvSpPr>
          <p:cNvPr id="19" name="Shape 17"/>
          <p:cNvSpPr/>
          <p:nvPr/>
        </p:nvSpPr>
        <p:spPr>
          <a:xfrm>
            <a:off x="658368" y="4480560"/>
            <a:ext cx="10899648" cy="822960"/>
          </a:xfrm>
          <a:prstGeom prst="roundRect">
            <a:avLst>
              <a:gd name="adj" fmla="val 13333"/>
            </a:avLst>
          </a:prstGeom>
          <a:solidFill>
            <a:srgbClr val="17352F"/>
          </a:solidFill>
          <a:ln w="12700">
            <a:solidFill>
              <a:srgbClr val="17352F">
                <a:alpha val="0"/>
              </a:srgbClr>
            </a:solidFill>
            <a:prstDash val="solid"/>
          </a:ln>
        </p:spPr>
      </p:sp>
      <p:sp>
        <p:nvSpPr>
          <p:cNvPr id="20" name="Text 18"/>
          <p:cNvSpPr txBox="1"/>
          <p:nvPr/>
        </p:nvSpPr>
        <p:spPr>
          <a:xfrm>
            <a:off x="932688" y="4745736"/>
            <a:ext cx="2743200" cy="283464"/>
          </a:xfrm>
          <a:prstGeom prst="rect">
            <a:avLst/>
          </a:prstGeom>
          <a:noFill/>
          <a:ln/>
        </p:spPr>
        <p:txBody>
          <a:bodyPr wrap="square" lIns="0" tIns="0" rIns="0" bIns="0" rtlCol="0" anchor="ctr">
            <a:normAutofit/>
          </a:bodyPr>
          <a:lstStyle/>
          <a:p>
            <a:pPr algn="l" indent="0" marL="0">
              <a:buNone/>
            </a:pPr>
            <a:r>
              <a:rPr lang="en-US" sz="1500" b="1" dirty="0">
                <a:solidFill>
                  <a:srgbClr val="FFFFFF"/>
                </a:solidFill>
                <a:latin typeface="Aptos" pitchFamily="34" charset="0"/>
                <a:ea typeface="Aptos" pitchFamily="34" charset="-122"/>
                <a:cs typeface="Aptos" pitchFamily="34" charset="-120"/>
              </a:rPr>
              <a:t>Every answer shows</a:t>
            </a:r>
            <a:endParaRPr lang="en-US" sz="1500" dirty="0"/>
          </a:p>
        </p:txBody>
      </p:sp>
      <p:sp>
        <p:nvSpPr>
          <p:cNvPr id="21" name="Text 19"/>
          <p:cNvSpPr txBox="1"/>
          <p:nvPr/>
        </p:nvSpPr>
        <p:spPr>
          <a:xfrm>
            <a:off x="3703320" y="4764024"/>
            <a:ext cx="7498080" cy="256032"/>
          </a:xfrm>
          <a:prstGeom prst="rect">
            <a:avLst/>
          </a:prstGeom>
          <a:noFill/>
          <a:ln/>
        </p:spPr>
        <p:txBody>
          <a:bodyPr wrap="square" lIns="0" tIns="0" rIns="0" bIns="0" rtlCol="0" anchor="ctr">
            <a:normAutofit/>
          </a:bodyPr>
          <a:lstStyle/>
          <a:p>
            <a:pPr algn="r" indent="0" marL="0">
              <a:buNone/>
            </a:pPr>
            <a:r>
              <a:rPr lang="en-US" sz="1250" dirty="0">
                <a:solidFill>
                  <a:srgbClr val="BFE7D6"/>
                </a:solidFill>
                <a:latin typeface="Aptos" pitchFamily="34" charset="0"/>
                <a:ea typeface="Aptos" pitchFamily="34" charset="-122"/>
                <a:cs typeface="Aptos" pitchFamily="34" charset="-120"/>
              </a:rPr>
              <a:t>Who wrote it  /  which file supports it  /  what is unknown  /  who can help next</a:t>
            </a:r>
            <a:endParaRPr lang="en-US" sz="1250" dirty="0"/>
          </a:p>
        </p:txBody>
      </p:sp>
      <p:sp>
        <p:nvSpPr>
          <p:cNvPr id="22" name="Text 20"/>
          <p:cNvSpPr txBox="1"/>
          <p:nvPr/>
        </p:nvSpPr>
        <p:spPr>
          <a:xfrm>
            <a:off x="548640" y="6318504"/>
            <a:ext cx="10881360" cy="146304"/>
          </a:xfrm>
          <a:prstGeom prst="rect">
            <a:avLst/>
          </a:prstGeom>
          <a:noFill/>
          <a:ln/>
        </p:spPr>
        <p:txBody>
          <a:bodyPr wrap="square" lIns="0" tIns="0" rIns="0" bIns="0" rtlCol="0" anchor="ctr">
            <a:normAutofit/>
          </a:bodyPr>
          <a:lstStyle/>
          <a:p>
            <a:pPr algn="l" indent="0" marL="0">
              <a:buNone/>
            </a:pPr>
            <a:r>
              <a:rPr lang="en-US" sz="730" dirty="0">
                <a:solidFill>
                  <a:srgbClr val="63756D"/>
                </a:solidFill>
                <a:latin typeface="Aptos" pitchFamily="34" charset="0"/>
                <a:ea typeface="Aptos" pitchFamily="34" charset="-122"/>
                <a:cs typeface="Aptos" pitchFamily="34" charset="-120"/>
              </a:rPr>
              <a:t>Background and research sources are in the speaker notes.</a:t>
            </a:r>
            <a:endParaRPr lang="en-US" sz="730" dirty="0"/>
          </a:p>
        </p:txBody>
      </p:sp>
      <p:sp>
        <p:nvSpPr>
          <p:cNvPr id="25" name="Slide Number Placeholder 0"/>
          <p:cNvSpPr>
            <a:spLocks noGrp="1"/>
          </p:cNvSpPr>
          <p:nvPr>
            <p:ph type="sldNum" sz="quarter" idx="4294967295"/>
          </p:nvPr>
        </p:nvSpPr>
        <p:spPr>
          <a:xfrm>
            <a:off x="11686032"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47C"/>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30352" y="347472"/>
            <a:ext cx="1088136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2F8069"/>
                </a:solidFill>
                <a:latin typeface="Aptos" pitchFamily="34" charset="0"/>
                <a:ea typeface="Aptos" pitchFamily="34" charset="-122"/>
                <a:cs typeface="Aptos" pitchFamily="34" charset="-120"/>
              </a:rPr>
              <a:t>05 / HOW IT WORKS</a:t>
            </a:r>
            <a:endParaRPr lang="en-US" sz="900" dirty="0"/>
          </a:p>
        </p:txBody>
      </p:sp>
      <p:sp>
        <p:nvSpPr>
          <p:cNvPr id="3" name="Text 1"/>
          <p:cNvSpPr txBox="1"/>
          <p:nvPr/>
        </p:nvSpPr>
        <p:spPr>
          <a:xfrm>
            <a:off x="530352" y="69494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7352F"/>
                </a:solidFill>
                <a:latin typeface="Aptos Display" pitchFamily="34" charset="0"/>
                <a:ea typeface="Aptos Display" pitchFamily="34" charset="-122"/>
                <a:cs typeface="Aptos Display" pitchFamily="34" charset="-120"/>
              </a:rPr>
              <a:t>One question, five clear steps</a:t>
            </a:r>
            <a:endParaRPr lang="en-US" sz="2700" dirty="0"/>
          </a:p>
        </p:txBody>
      </p:sp>
      <p:sp>
        <p:nvSpPr>
          <p:cNvPr id="4" name="Text 2"/>
          <p:cNvSpPr txBox="1"/>
          <p:nvPr/>
        </p:nvSpPr>
        <p:spPr>
          <a:xfrm>
            <a:off x="548640" y="1243584"/>
            <a:ext cx="10972800" cy="347472"/>
          </a:xfrm>
          <a:prstGeom prst="rect">
            <a:avLst/>
          </a:prstGeom>
          <a:noFill/>
          <a:ln/>
        </p:spPr>
        <p:txBody>
          <a:bodyPr wrap="square" lIns="0" tIns="0" rIns="0" bIns="0" rtlCol="0" anchor="ctr">
            <a:normAutofit/>
          </a:bodyPr>
          <a:lstStyle/>
          <a:p>
            <a:pPr algn="l" indent="0" marL="0">
              <a:buNone/>
            </a:pPr>
            <a:r>
              <a:rPr lang="en-US" sz="1250" dirty="0">
                <a:solidFill>
                  <a:srgbClr val="63756D"/>
                </a:solidFill>
                <a:latin typeface="Aptos" pitchFamily="34" charset="0"/>
                <a:ea typeface="Aptos" pitchFamily="34" charset="-122"/>
                <a:cs typeface="Aptos" pitchFamily="34" charset="-120"/>
              </a:rPr>
              <a:t>The app records what happened and checks file access before searching.</a:t>
            </a:r>
            <a:endParaRPr lang="en-US" sz="1250" dirty="0"/>
          </a:p>
        </p:txBody>
      </p:sp>
      <p:sp>
        <p:nvSpPr>
          <p:cNvPr id="5" name="Shape 3"/>
          <p:cNvSpPr/>
          <p:nvPr/>
        </p:nvSpPr>
        <p:spPr>
          <a:xfrm>
            <a:off x="1069848" y="2221992"/>
            <a:ext cx="658368" cy="658368"/>
          </a:xfrm>
          <a:prstGeom prst="ellipse">
            <a:avLst/>
          </a:prstGeom>
          <a:solidFill>
            <a:srgbClr val="2F8069"/>
          </a:solidFill>
          <a:ln w="25400">
            <a:solidFill>
              <a:srgbClr val="FFFFFF"/>
            </a:solidFill>
            <a:prstDash val="solid"/>
          </a:ln>
        </p:spPr>
      </p:sp>
      <p:sp>
        <p:nvSpPr>
          <p:cNvPr id="6" name="Text 4"/>
          <p:cNvSpPr txBox="1"/>
          <p:nvPr/>
        </p:nvSpPr>
        <p:spPr>
          <a:xfrm>
            <a:off x="1069848" y="2395728"/>
            <a:ext cx="658368" cy="237744"/>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01</a:t>
            </a:r>
            <a:endParaRPr lang="en-US" sz="1400" dirty="0"/>
          </a:p>
        </p:txBody>
      </p:sp>
      <p:sp>
        <p:nvSpPr>
          <p:cNvPr id="7" name="Text 5"/>
          <p:cNvSpPr txBox="1"/>
          <p:nvPr/>
        </p:nvSpPr>
        <p:spPr>
          <a:xfrm>
            <a:off x="722376" y="3054096"/>
            <a:ext cx="1371600" cy="640080"/>
          </a:xfrm>
          <a:prstGeom prst="rect">
            <a:avLst/>
          </a:prstGeom>
          <a:noFill/>
          <a:ln/>
        </p:spPr>
        <p:txBody>
          <a:bodyPr wrap="square" lIns="0" tIns="0" rIns="0" bIns="0" rtlCol="0" anchor="t">
            <a:normAutofit/>
          </a:bodyPr>
          <a:lstStyle/>
          <a:p>
            <a:pPr algn="ctr" indent="0" marL="0">
              <a:buNone/>
            </a:pPr>
            <a:r>
              <a:rPr lang="en-US" sz="1300" b="1" dirty="0">
                <a:solidFill>
                  <a:srgbClr val="17352F"/>
                </a:solidFill>
                <a:latin typeface="Aptos" pitchFamily="34" charset="0"/>
                <a:ea typeface="Aptos" pitchFamily="34" charset="-122"/>
                <a:cs typeface="Aptos" pitchFamily="34" charset="-120"/>
              </a:rPr>
              <a:t>Save the</a:t>
            </a:r>
            <a:endParaRPr lang="en-US" sz="1300" dirty="0"/>
          </a:p>
          <a:p>
            <a:pPr algn="ctr" indent="0" marL="0">
              <a:buNone/>
            </a:pPr>
            <a:r>
              <a:rPr lang="en-US" sz="1300" b="1" dirty="0">
                <a:solidFill>
                  <a:srgbClr val="17352F"/>
                </a:solidFill>
                <a:latin typeface="Aptos" pitchFamily="34" charset="0"/>
                <a:ea typeface="Aptos" pitchFamily="34" charset="-122"/>
                <a:cs typeface="Aptos" pitchFamily="34" charset="-120"/>
              </a:rPr>
              <a:t>question</a:t>
            </a:r>
            <a:endParaRPr lang="en-US" sz="1300" dirty="0"/>
          </a:p>
        </p:txBody>
      </p:sp>
      <p:sp>
        <p:nvSpPr>
          <p:cNvPr id="8" name="Shape 6"/>
          <p:cNvSpPr/>
          <p:nvPr/>
        </p:nvSpPr>
        <p:spPr>
          <a:xfrm>
            <a:off x="1947672" y="2560320"/>
            <a:ext cx="1298448" cy="0"/>
          </a:xfrm>
          <a:prstGeom prst="line">
            <a:avLst/>
          </a:prstGeom>
          <a:noFill/>
          <a:ln w="19050">
            <a:solidFill>
              <a:srgbClr val="2F8069"/>
            </a:solidFill>
            <a:prstDash val="solid"/>
            <a:tailEnd type="triangle"/>
          </a:ln>
        </p:spPr>
      </p:sp>
      <p:sp>
        <p:nvSpPr>
          <p:cNvPr id="9" name="Shape 7"/>
          <p:cNvSpPr/>
          <p:nvPr/>
        </p:nvSpPr>
        <p:spPr>
          <a:xfrm>
            <a:off x="3328416" y="2221992"/>
            <a:ext cx="658368" cy="658368"/>
          </a:xfrm>
          <a:prstGeom prst="ellipse">
            <a:avLst/>
          </a:prstGeom>
          <a:solidFill>
            <a:srgbClr val="2F8069"/>
          </a:solidFill>
          <a:ln w="25400">
            <a:solidFill>
              <a:srgbClr val="FFFFFF"/>
            </a:solidFill>
            <a:prstDash val="solid"/>
          </a:ln>
        </p:spPr>
      </p:sp>
      <p:sp>
        <p:nvSpPr>
          <p:cNvPr id="10" name="Text 8"/>
          <p:cNvSpPr txBox="1"/>
          <p:nvPr/>
        </p:nvSpPr>
        <p:spPr>
          <a:xfrm>
            <a:off x="3328416" y="2395728"/>
            <a:ext cx="658368" cy="237744"/>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02</a:t>
            </a:r>
            <a:endParaRPr lang="en-US" sz="1400" dirty="0"/>
          </a:p>
        </p:txBody>
      </p:sp>
      <p:sp>
        <p:nvSpPr>
          <p:cNvPr id="11" name="Text 9"/>
          <p:cNvSpPr txBox="1"/>
          <p:nvPr/>
        </p:nvSpPr>
        <p:spPr>
          <a:xfrm>
            <a:off x="2980944" y="3054096"/>
            <a:ext cx="1371600" cy="640080"/>
          </a:xfrm>
          <a:prstGeom prst="rect">
            <a:avLst/>
          </a:prstGeom>
          <a:noFill/>
          <a:ln/>
        </p:spPr>
        <p:txBody>
          <a:bodyPr wrap="square" lIns="0" tIns="0" rIns="0" bIns="0" rtlCol="0" anchor="t">
            <a:normAutofit/>
          </a:bodyPr>
          <a:lstStyle/>
          <a:p>
            <a:pPr algn="ctr" indent="0" marL="0">
              <a:buNone/>
            </a:pPr>
            <a:r>
              <a:rPr lang="en-US" sz="1300" b="1" dirty="0">
                <a:solidFill>
                  <a:srgbClr val="17352F"/>
                </a:solidFill>
                <a:latin typeface="Aptos" pitchFamily="34" charset="0"/>
                <a:ea typeface="Aptos" pitchFamily="34" charset="-122"/>
                <a:cs typeface="Aptos" pitchFamily="34" charset="-120"/>
              </a:rPr>
              <a:t>Check owner's</a:t>
            </a:r>
            <a:endParaRPr lang="en-US" sz="1300" dirty="0"/>
          </a:p>
          <a:p>
            <a:pPr algn="ctr" indent="0" marL="0">
              <a:buNone/>
            </a:pPr>
            <a:r>
              <a:rPr lang="en-US" sz="1300" b="1" dirty="0">
                <a:solidFill>
                  <a:srgbClr val="17352F"/>
                </a:solidFill>
                <a:latin typeface="Aptos" pitchFamily="34" charset="0"/>
                <a:ea typeface="Aptos" pitchFamily="34" charset="-122"/>
                <a:cs typeface="Aptos" pitchFamily="34" charset="-120"/>
              </a:rPr>
              <a:t>limits</a:t>
            </a:r>
            <a:endParaRPr lang="en-US" sz="1300" dirty="0"/>
          </a:p>
        </p:txBody>
      </p:sp>
      <p:sp>
        <p:nvSpPr>
          <p:cNvPr id="12" name="Shape 10"/>
          <p:cNvSpPr/>
          <p:nvPr/>
        </p:nvSpPr>
        <p:spPr>
          <a:xfrm>
            <a:off x="4206240" y="2560320"/>
            <a:ext cx="1298448" cy="0"/>
          </a:xfrm>
          <a:prstGeom prst="line">
            <a:avLst/>
          </a:prstGeom>
          <a:noFill/>
          <a:ln w="19050">
            <a:solidFill>
              <a:srgbClr val="2F8069"/>
            </a:solidFill>
            <a:prstDash val="solid"/>
            <a:tailEnd type="triangle"/>
          </a:ln>
        </p:spPr>
      </p:sp>
      <p:sp>
        <p:nvSpPr>
          <p:cNvPr id="13" name="Shape 11"/>
          <p:cNvSpPr/>
          <p:nvPr/>
        </p:nvSpPr>
        <p:spPr>
          <a:xfrm>
            <a:off x="5586984" y="2221992"/>
            <a:ext cx="658368" cy="658368"/>
          </a:xfrm>
          <a:prstGeom prst="ellipse">
            <a:avLst/>
          </a:prstGeom>
          <a:solidFill>
            <a:srgbClr val="2F8069"/>
          </a:solidFill>
          <a:ln w="25400">
            <a:solidFill>
              <a:srgbClr val="FFFFFF"/>
            </a:solidFill>
            <a:prstDash val="solid"/>
          </a:ln>
        </p:spPr>
      </p:sp>
      <p:sp>
        <p:nvSpPr>
          <p:cNvPr id="14" name="Text 12"/>
          <p:cNvSpPr txBox="1"/>
          <p:nvPr/>
        </p:nvSpPr>
        <p:spPr>
          <a:xfrm>
            <a:off x="5586984" y="2395728"/>
            <a:ext cx="658368" cy="237744"/>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03</a:t>
            </a:r>
            <a:endParaRPr lang="en-US" sz="1400" dirty="0"/>
          </a:p>
        </p:txBody>
      </p:sp>
      <p:sp>
        <p:nvSpPr>
          <p:cNvPr id="15" name="Text 13"/>
          <p:cNvSpPr txBox="1"/>
          <p:nvPr/>
        </p:nvSpPr>
        <p:spPr>
          <a:xfrm>
            <a:off x="5239512" y="3054096"/>
            <a:ext cx="1371600" cy="640080"/>
          </a:xfrm>
          <a:prstGeom prst="rect">
            <a:avLst/>
          </a:prstGeom>
          <a:noFill/>
          <a:ln/>
        </p:spPr>
        <p:txBody>
          <a:bodyPr wrap="square" lIns="0" tIns="0" rIns="0" bIns="0" rtlCol="0" anchor="t">
            <a:normAutofit/>
          </a:bodyPr>
          <a:lstStyle/>
          <a:p>
            <a:pPr algn="ctr" indent="0" marL="0">
              <a:buNone/>
            </a:pPr>
            <a:r>
              <a:rPr lang="en-US" sz="1300" b="1" dirty="0">
                <a:solidFill>
                  <a:srgbClr val="17352F"/>
                </a:solidFill>
                <a:latin typeface="Aptos" pitchFamily="34" charset="0"/>
                <a:ea typeface="Aptos" pitchFamily="34" charset="-122"/>
                <a:cs typeface="Aptos" pitchFamily="34" charset="-120"/>
              </a:rPr>
              <a:t>Check asker's</a:t>
            </a:r>
            <a:endParaRPr lang="en-US" sz="1300" dirty="0"/>
          </a:p>
          <a:p>
            <a:pPr algn="ctr" indent="0" marL="0">
              <a:buNone/>
            </a:pPr>
            <a:r>
              <a:rPr lang="en-US" sz="1300" b="1" dirty="0">
                <a:solidFill>
                  <a:srgbClr val="17352F"/>
                </a:solidFill>
                <a:latin typeface="Aptos" pitchFamily="34" charset="0"/>
                <a:ea typeface="Aptos" pitchFamily="34" charset="-122"/>
                <a:cs typeface="Aptos" pitchFamily="34" charset="-120"/>
              </a:rPr>
              <a:t>file access</a:t>
            </a:r>
            <a:endParaRPr lang="en-US" sz="1300" dirty="0"/>
          </a:p>
        </p:txBody>
      </p:sp>
      <p:sp>
        <p:nvSpPr>
          <p:cNvPr id="16" name="Shape 14"/>
          <p:cNvSpPr/>
          <p:nvPr/>
        </p:nvSpPr>
        <p:spPr>
          <a:xfrm>
            <a:off x="6464808" y="2560320"/>
            <a:ext cx="1298448" cy="0"/>
          </a:xfrm>
          <a:prstGeom prst="line">
            <a:avLst/>
          </a:prstGeom>
          <a:noFill/>
          <a:ln w="19050">
            <a:solidFill>
              <a:srgbClr val="2F8069"/>
            </a:solidFill>
            <a:prstDash val="solid"/>
            <a:tailEnd type="triangle"/>
          </a:ln>
        </p:spPr>
      </p:sp>
      <p:sp>
        <p:nvSpPr>
          <p:cNvPr id="17" name="Shape 15"/>
          <p:cNvSpPr/>
          <p:nvPr/>
        </p:nvSpPr>
        <p:spPr>
          <a:xfrm>
            <a:off x="7845552" y="2221992"/>
            <a:ext cx="658368" cy="658368"/>
          </a:xfrm>
          <a:prstGeom prst="ellipse">
            <a:avLst/>
          </a:prstGeom>
          <a:solidFill>
            <a:srgbClr val="2F8069"/>
          </a:solidFill>
          <a:ln w="25400">
            <a:solidFill>
              <a:srgbClr val="FFFFFF"/>
            </a:solidFill>
            <a:prstDash val="solid"/>
          </a:ln>
        </p:spPr>
      </p:sp>
      <p:sp>
        <p:nvSpPr>
          <p:cNvPr id="18" name="Text 16"/>
          <p:cNvSpPr txBox="1"/>
          <p:nvPr/>
        </p:nvSpPr>
        <p:spPr>
          <a:xfrm>
            <a:off x="7845552" y="2395728"/>
            <a:ext cx="658368" cy="237744"/>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04</a:t>
            </a:r>
            <a:endParaRPr lang="en-US" sz="1400" dirty="0"/>
          </a:p>
        </p:txBody>
      </p:sp>
      <p:sp>
        <p:nvSpPr>
          <p:cNvPr id="19" name="Text 17"/>
          <p:cNvSpPr txBox="1"/>
          <p:nvPr/>
        </p:nvSpPr>
        <p:spPr>
          <a:xfrm>
            <a:off x="7498080" y="3054096"/>
            <a:ext cx="1371600" cy="640080"/>
          </a:xfrm>
          <a:prstGeom prst="rect">
            <a:avLst/>
          </a:prstGeom>
          <a:noFill/>
          <a:ln/>
        </p:spPr>
        <p:txBody>
          <a:bodyPr wrap="square" lIns="0" tIns="0" rIns="0" bIns="0" rtlCol="0" anchor="t">
            <a:normAutofit/>
          </a:bodyPr>
          <a:lstStyle/>
          <a:p>
            <a:pPr algn="ctr" indent="0" marL="0">
              <a:buNone/>
            </a:pPr>
            <a:r>
              <a:rPr lang="en-US" sz="1300" b="1" dirty="0">
                <a:solidFill>
                  <a:srgbClr val="17352F"/>
                </a:solidFill>
                <a:latin typeface="Aptos" pitchFamily="34" charset="0"/>
                <a:ea typeface="Aptos" pitchFamily="34" charset="-122"/>
                <a:cs typeface="Aptos" pitchFamily="34" charset="-120"/>
              </a:rPr>
              <a:t>Search</a:t>
            </a:r>
            <a:endParaRPr lang="en-US" sz="1300" dirty="0"/>
          </a:p>
          <a:p>
            <a:pPr algn="ctr" indent="0" marL="0">
              <a:buNone/>
            </a:pPr>
            <a:r>
              <a:rPr lang="en-US" sz="1300" b="1" dirty="0">
                <a:solidFill>
                  <a:srgbClr val="17352F"/>
                </a:solidFill>
                <a:latin typeface="Aptos" pitchFamily="34" charset="0"/>
                <a:ea typeface="Aptos" pitchFamily="34" charset="-122"/>
                <a:cs typeface="Aptos" pitchFamily="34" charset="-120"/>
              </a:rPr>
              <a:t>approved files</a:t>
            </a:r>
            <a:endParaRPr lang="en-US" sz="1300" dirty="0"/>
          </a:p>
        </p:txBody>
      </p:sp>
      <p:sp>
        <p:nvSpPr>
          <p:cNvPr id="20" name="Shape 18"/>
          <p:cNvSpPr/>
          <p:nvPr/>
        </p:nvSpPr>
        <p:spPr>
          <a:xfrm>
            <a:off x="8723376" y="2560320"/>
            <a:ext cx="1298448" cy="0"/>
          </a:xfrm>
          <a:prstGeom prst="line">
            <a:avLst/>
          </a:prstGeom>
          <a:noFill/>
          <a:ln w="19050">
            <a:solidFill>
              <a:srgbClr val="2F8069"/>
            </a:solidFill>
            <a:prstDash val="solid"/>
            <a:tailEnd type="triangle"/>
          </a:ln>
        </p:spPr>
      </p:sp>
      <p:sp>
        <p:nvSpPr>
          <p:cNvPr id="21" name="Shape 19"/>
          <p:cNvSpPr/>
          <p:nvPr/>
        </p:nvSpPr>
        <p:spPr>
          <a:xfrm>
            <a:off x="10104120" y="2221992"/>
            <a:ext cx="658368" cy="658368"/>
          </a:xfrm>
          <a:prstGeom prst="ellipse">
            <a:avLst/>
          </a:prstGeom>
          <a:solidFill>
            <a:srgbClr val="E87C65"/>
          </a:solidFill>
          <a:ln w="25400">
            <a:solidFill>
              <a:srgbClr val="FFFFFF"/>
            </a:solidFill>
            <a:prstDash val="solid"/>
          </a:ln>
        </p:spPr>
      </p:sp>
      <p:sp>
        <p:nvSpPr>
          <p:cNvPr id="22" name="Text 20"/>
          <p:cNvSpPr txBox="1"/>
          <p:nvPr/>
        </p:nvSpPr>
        <p:spPr>
          <a:xfrm>
            <a:off x="10104120" y="2395728"/>
            <a:ext cx="658368" cy="237744"/>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05</a:t>
            </a:r>
            <a:endParaRPr lang="en-US" sz="1400" dirty="0"/>
          </a:p>
        </p:txBody>
      </p:sp>
      <p:sp>
        <p:nvSpPr>
          <p:cNvPr id="23" name="Text 21"/>
          <p:cNvSpPr txBox="1"/>
          <p:nvPr/>
        </p:nvSpPr>
        <p:spPr>
          <a:xfrm>
            <a:off x="9756648" y="3054096"/>
            <a:ext cx="1371600" cy="640080"/>
          </a:xfrm>
          <a:prstGeom prst="rect">
            <a:avLst/>
          </a:prstGeom>
          <a:noFill/>
          <a:ln/>
        </p:spPr>
        <p:txBody>
          <a:bodyPr wrap="square" lIns="0" tIns="0" rIns="0" bIns="0" rtlCol="0" anchor="t">
            <a:normAutofit/>
          </a:bodyPr>
          <a:lstStyle/>
          <a:p>
            <a:pPr algn="ctr" indent="0" marL="0">
              <a:buNone/>
            </a:pPr>
            <a:r>
              <a:rPr lang="en-US" sz="1300" b="1" dirty="0">
                <a:solidFill>
                  <a:srgbClr val="17352F"/>
                </a:solidFill>
                <a:latin typeface="Aptos" pitchFamily="34" charset="0"/>
                <a:ea typeface="Aptos" pitchFamily="34" charset="-122"/>
                <a:cs typeface="Aptos" pitchFamily="34" charset="-120"/>
              </a:rPr>
              <a:t>Answer or</a:t>
            </a:r>
            <a:endParaRPr lang="en-US" sz="1300" dirty="0"/>
          </a:p>
          <a:p>
            <a:pPr algn="ctr" indent="0" marL="0">
              <a:buNone/>
            </a:pPr>
            <a:r>
              <a:rPr lang="en-US" sz="1300" b="1" dirty="0">
                <a:solidFill>
                  <a:srgbClr val="17352F"/>
                </a:solidFill>
                <a:latin typeface="Aptos" pitchFamily="34" charset="0"/>
                <a:ea typeface="Aptos" pitchFamily="34" charset="-122"/>
                <a:cs typeface="Aptos" pitchFamily="34" charset="-120"/>
              </a:rPr>
              <a:t>ask a person</a:t>
            </a:r>
            <a:endParaRPr lang="en-US" sz="1300" dirty="0"/>
          </a:p>
        </p:txBody>
      </p:sp>
      <p:sp>
        <p:nvSpPr>
          <p:cNvPr id="24" name="Shape 22"/>
          <p:cNvSpPr/>
          <p:nvPr/>
        </p:nvSpPr>
        <p:spPr>
          <a:xfrm>
            <a:off x="777240" y="4251960"/>
            <a:ext cx="5166360" cy="960120"/>
          </a:xfrm>
          <a:prstGeom prst="roundRect">
            <a:avLst>
              <a:gd name="adj" fmla="val 11429"/>
            </a:avLst>
          </a:prstGeom>
          <a:solidFill>
            <a:srgbClr val="FFFFFF"/>
          </a:solidFill>
          <a:ln w="12700">
            <a:solidFill>
              <a:srgbClr val="D7E1DB"/>
            </a:solidFill>
            <a:prstDash val="solid"/>
          </a:ln>
        </p:spPr>
      </p:sp>
      <p:sp>
        <p:nvSpPr>
          <p:cNvPr id="25" name="Text 23"/>
          <p:cNvSpPr txBox="1"/>
          <p:nvPr/>
        </p:nvSpPr>
        <p:spPr>
          <a:xfrm>
            <a:off x="1005840" y="4462272"/>
            <a:ext cx="3291840" cy="274320"/>
          </a:xfrm>
          <a:prstGeom prst="rect">
            <a:avLst/>
          </a:prstGeom>
          <a:noFill/>
          <a:ln/>
        </p:spPr>
        <p:txBody>
          <a:bodyPr wrap="square" lIns="0" tIns="0" rIns="0" bIns="0" rtlCol="0" anchor="ctr">
            <a:normAutofit/>
          </a:bodyPr>
          <a:lstStyle/>
          <a:p>
            <a:pPr algn="l" indent="0" marL="0">
              <a:buNone/>
            </a:pPr>
            <a:r>
              <a:rPr lang="en-US" sz="1300" b="1" dirty="0">
                <a:solidFill>
                  <a:srgbClr val="17352F"/>
                </a:solidFill>
                <a:latin typeface="Aptos" pitchFamily="34" charset="0"/>
                <a:ea typeface="Aptos" pitchFamily="34" charset="-122"/>
                <a:cs typeface="Aptos" pitchFamily="34" charset="-120"/>
              </a:rPr>
              <a:t>A source supports the answer</a:t>
            </a:r>
            <a:endParaRPr lang="en-US" sz="1300" dirty="0"/>
          </a:p>
        </p:txBody>
      </p:sp>
      <p:sp>
        <p:nvSpPr>
          <p:cNvPr id="26" name="Text 24"/>
          <p:cNvSpPr txBox="1"/>
          <p:nvPr/>
        </p:nvSpPr>
        <p:spPr>
          <a:xfrm>
            <a:off x="1005840" y="4818888"/>
            <a:ext cx="4389120" cy="201168"/>
          </a:xfrm>
          <a:prstGeom prst="rect">
            <a:avLst/>
          </a:prstGeom>
          <a:noFill/>
          <a:ln/>
        </p:spPr>
        <p:txBody>
          <a:bodyPr wrap="square" lIns="0" tIns="0" rIns="0" bIns="0" rtlCol="0" anchor="ctr">
            <a:normAutofit/>
          </a:bodyPr>
          <a:lstStyle/>
          <a:p>
            <a:pPr algn="l" indent="0" marL="0">
              <a:buNone/>
            </a:pPr>
            <a:r>
              <a:rPr lang="en-US" sz="1050" dirty="0">
                <a:solidFill>
                  <a:srgbClr val="2F8069"/>
                </a:solidFill>
                <a:latin typeface="Aptos" pitchFamily="34" charset="0"/>
                <a:ea typeface="Aptos" pitchFamily="34" charset="-122"/>
                <a:cs typeface="Aptos" pitchFamily="34" charset="-120"/>
              </a:rPr>
              <a:t>Show the file, version and known limits</a:t>
            </a:r>
            <a:endParaRPr lang="en-US" sz="1050" dirty="0"/>
          </a:p>
        </p:txBody>
      </p:sp>
      <p:sp>
        <p:nvSpPr>
          <p:cNvPr id="27" name="Shape 25"/>
          <p:cNvSpPr/>
          <p:nvPr/>
        </p:nvSpPr>
        <p:spPr>
          <a:xfrm>
            <a:off x="6199632" y="4251960"/>
            <a:ext cx="5166360" cy="960120"/>
          </a:xfrm>
          <a:prstGeom prst="roundRect">
            <a:avLst>
              <a:gd name="adj" fmla="val 11429"/>
            </a:avLst>
          </a:prstGeom>
          <a:solidFill>
            <a:srgbClr val="FFF0E9"/>
          </a:solidFill>
          <a:ln w="12700">
            <a:solidFill>
              <a:srgbClr val="FFF0E9">
                <a:alpha val="0"/>
              </a:srgbClr>
            </a:solidFill>
            <a:prstDash val="solid"/>
          </a:ln>
        </p:spPr>
      </p:sp>
      <p:sp>
        <p:nvSpPr>
          <p:cNvPr id="28" name="Text 26"/>
          <p:cNvSpPr txBox="1"/>
          <p:nvPr/>
        </p:nvSpPr>
        <p:spPr>
          <a:xfrm>
            <a:off x="6428232" y="4462272"/>
            <a:ext cx="3520440" cy="274320"/>
          </a:xfrm>
          <a:prstGeom prst="rect">
            <a:avLst/>
          </a:prstGeom>
          <a:noFill/>
          <a:ln/>
        </p:spPr>
        <p:txBody>
          <a:bodyPr wrap="square" lIns="0" tIns="0" rIns="0" bIns="0" rtlCol="0" anchor="ctr">
            <a:normAutofit/>
          </a:bodyPr>
          <a:lstStyle/>
          <a:p>
            <a:pPr algn="l" indent="0" marL="0">
              <a:buNone/>
            </a:pPr>
            <a:r>
              <a:rPr lang="en-US" sz="1300" b="1" dirty="0">
                <a:solidFill>
                  <a:srgbClr val="17352F"/>
                </a:solidFill>
                <a:latin typeface="Aptos" pitchFamily="34" charset="0"/>
                <a:ea typeface="Aptos" pitchFamily="34" charset="-122"/>
                <a:cs typeface="Aptos" pitchFamily="34" charset="-120"/>
              </a:rPr>
              <a:t>No proof, restricted or conflicting</a:t>
            </a:r>
            <a:endParaRPr lang="en-US" sz="1300" dirty="0"/>
          </a:p>
        </p:txBody>
      </p:sp>
      <p:sp>
        <p:nvSpPr>
          <p:cNvPr id="29" name="Text 27"/>
          <p:cNvSpPr txBox="1"/>
          <p:nvPr/>
        </p:nvSpPr>
        <p:spPr>
          <a:xfrm>
            <a:off x="6428232" y="4818888"/>
            <a:ext cx="4480560" cy="201168"/>
          </a:xfrm>
          <a:prstGeom prst="rect">
            <a:avLst/>
          </a:prstGeom>
          <a:noFill/>
          <a:ln/>
        </p:spPr>
        <p:txBody>
          <a:bodyPr wrap="square" lIns="0" tIns="0" rIns="0" bIns="0" rtlCol="0" anchor="ctr">
            <a:normAutofit/>
          </a:bodyPr>
          <a:lstStyle/>
          <a:p>
            <a:pPr algn="l" indent="0" marL="0">
              <a:buNone/>
            </a:pPr>
            <a:r>
              <a:rPr lang="en-US" sz="1050" dirty="0">
                <a:solidFill>
                  <a:srgbClr val="E87C65"/>
                </a:solidFill>
                <a:latin typeface="Aptos" pitchFamily="34" charset="0"/>
                <a:ea typeface="Aptos" pitchFamily="34" charset="-122"/>
                <a:cs typeface="Aptos" pitchFamily="34" charset="-120"/>
              </a:rPr>
              <a:t>Give a safe denial or ask an approved person</a:t>
            </a:r>
            <a:endParaRPr lang="en-US" sz="1050" dirty="0"/>
          </a:p>
        </p:txBody>
      </p:sp>
      <p:sp>
        <p:nvSpPr>
          <p:cNvPr id="30" name="Text 28"/>
          <p:cNvSpPr txBox="1"/>
          <p:nvPr/>
        </p:nvSpPr>
        <p:spPr>
          <a:xfrm>
            <a:off x="548640" y="6318504"/>
            <a:ext cx="10881360" cy="146304"/>
          </a:xfrm>
          <a:prstGeom prst="rect">
            <a:avLst/>
          </a:prstGeom>
          <a:noFill/>
          <a:ln/>
        </p:spPr>
        <p:txBody>
          <a:bodyPr wrap="square" lIns="0" tIns="0" rIns="0" bIns="0" rtlCol="0" anchor="ctr">
            <a:normAutofit/>
          </a:bodyPr>
          <a:lstStyle/>
          <a:p>
            <a:pPr algn="l" indent="0" marL="0">
              <a:buNone/>
            </a:pPr>
            <a:r>
              <a:rPr lang="en-US" sz="730" dirty="0">
                <a:solidFill>
                  <a:srgbClr val="63756D"/>
                </a:solidFill>
                <a:latin typeface="Aptos" pitchFamily="34" charset="0"/>
                <a:ea typeface="Aptos" pitchFamily="34" charset="-122"/>
                <a:cs typeface="Aptos" pitchFamily="34" charset="-120"/>
              </a:rPr>
              <a:t>Background and research sources are in the speaker notes.</a:t>
            </a:r>
            <a:endParaRPr lang="en-US" sz="730" dirty="0"/>
          </a:p>
        </p:txBody>
      </p:sp>
      <p:sp>
        <p:nvSpPr>
          <p:cNvPr id="25" name="Slide Number Placeholder 0"/>
          <p:cNvSpPr>
            <a:spLocks noGrp="1"/>
          </p:cNvSpPr>
          <p:nvPr>
            <p:ph type="sldNum" sz="quarter" idx="4294967295"/>
          </p:nvPr>
        </p:nvSpPr>
        <p:spPr>
          <a:xfrm>
            <a:off x="11686032"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47C"/>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30352" y="347472"/>
            <a:ext cx="1088136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2F8069"/>
                </a:solidFill>
                <a:latin typeface="Aptos" pitchFamily="34" charset="0"/>
                <a:ea typeface="Aptos" pitchFamily="34" charset="-122"/>
                <a:cs typeface="Aptos" pitchFamily="34" charset="-120"/>
              </a:rPr>
              <a:t>06 / OWNER'S CHOICE</a:t>
            </a:r>
            <a:endParaRPr lang="en-US" sz="900" dirty="0"/>
          </a:p>
        </p:txBody>
      </p:sp>
      <p:sp>
        <p:nvSpPr>
          <p:cNvPr id="3" name="Text 1"/>
          <p:cNvSpPr txBox="1"/>
          <p:nvPr/>
        </p:nvSpPr>
        <p:spPr>
          <a:xfrm>
            <a:off x="530352" y="69494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7352F"/>
                </a:solidFill>
                <a:latin typeface="Aptos Display" pitchFamily="34" charset="0"/>
                <a:ea typeface="Aptos Display" pitchFamily="34" charset="-122"/>
                <a:cs typeface="Aptos Display" pitchFamily="34" charset="-120"/>
              </a:rPr>
              <a:t>What Bob has agreed to</a:t>
            </a:r>
            <a:endParaRPr lang="en-US" sz="2700" dirty="0"/>
          </a:p>
        </p:txBody>
      </p:sp>
      <p:sp>
        <p:nvSpPr>
          <p:cNvPr id="4" name="Text 2"/>
          <p:cNvSpPr txBox="1"/>
          <p:nvPr/>
        </p:nvSpPr>
        <p:spPr>
          <a:xfrm>
            <a:off x="548640" y="1243584"/>
            <a:ext cx="10972800" cy="347472"/>
          </a:xfrm>
          <a:prstGeom prst="rect">
            <a:avLst/>
          </a:prstGeom>
          <a:noFill/>
          <a:ln/>
        </p:spPr>
        <p:txBody>
          <a:bodyPr wrap="square" lIns="0" tIns="0" rIns="0" bIns="0" rtlCol="0" anchor="ctr">
            <a:normAutofit/>
          </a:bodyPr>
          <a:lstStyle/>
          <a:p>
            <a:pPr algn="l" indent="0" marL="0">
              <a:buNone/>
            </a:pPr>
            <a:r>
              <a:rPr lang="en-US" sz="1250" dirty="0">
                <a:solidFill>
                  <a:srgbClr val="63756D"/>
                </a:solidFill>
                <a:latin typeface="Aptos" pitchFamily="34" charset="0"/>
                <a:ea typeface="Aptos" pitchFamily="34" charset="-122"/>
                <a:cs typeface="Aptos" pitchFamily="34" charset="-120"/>
              </a:rPr>
              <a:t>The owner can pause or stop the helper at any time.</a:t>
            </a:r>
            <a:endParaRPr lang="en-US" sz="1250" dirty="0"/>
          </a:p>
        </p:txBody>
      </p:sp>
      <p:sp>
        <p:nvSpPr>
          <p:cNvPr id="5" name="Shape 3"/>
          <p:cNvSpPr/>
          <p:nvPr/>
        </p:nvSpPr>
        <p:spPr>
          <a:xfrm>
            <a:off x="685800" y="1874520"/>
            <a:ext cx="6812280" cy="3429000"/>
          </a:xfrm>
          <a:prstGeom prst="roundRect">
            <a:avLst>
              <a:gd name="adj" fmla="val 3200"/>
            </a:avLst>
          </a:prstGeom>
          <a:solidFill>
            <a:srgbClr val="FFFFFF"/>
          </a:solidFill>
          <a:ln w="12700">
            <a:solidFill>
              <a:srgbClr val="D7E1DB"/>
            </a:solidFill>
            <a:prstDash val="solid"/>
          </a:ln>
        </p:spPr>
      </p:sp>
      <p:sp>
        <p:nvSpPr>
          <p:cNvPr id="6" name="Text 4"/>
          <p:cNvSpPr txBox="1"/>
          <p:nvPr/>
        </p:nvSpPr>
        <p:spPr>
          <a:xfrm>
            <a:off x="960120" y="2176272"/>
            <a:ext cx="2606040" cy="164592"/>
          </a:xfrm>
          <a:prstGeom prst="rect">
            <a:avLst/>
          </a:prstGeom>
          <a:noFill/>
          <a:ln/>
        </p:spPr>
        <p:txBody>
          <a:bodyPr wrap="square" lIns="0" tIns="0" rIns="0" bIns="0" rtlCol="0" anchor="ctr">
            <a:normAutofit/>
          </a:bodyPr>
          <a:lstStyle/>
          <a:p>
            <a:pPr algn="l" indent="0" marL="0">
              <a:buNone/>
            </a:pPr>
            <a:r>
              <a:rPr lang="en-US" sz="800" b="1" spc="110" kern="0" dirty="0">
                <a:solidFill>
                  <a:srgbClr val="63756D"/>
                </a:solidFill>
                <a:latin typeface="Aptos" pitchFamily="34" charset="0"/>
                <a:ea typeface="Aptos" pitchFamily="34" charset="-122"/>
                <a:cs typeface="Aptos" pitchFamily="34" charset="-120"/>
              </a:rPr>
              <a:t>DATES</a:t>
            </a:r>
            <a:endParaRPr lang="en-US" sz="800" dirty="0"/>
          </a:p>
        </p:txBody>
      </p:sp>
      <p:sp>
        <p:nvSpPr>
          <p:cNvPr id="7" name="Text 5"/>
          <p:cNvSpPr txBox="1"/>
          <p:nvPr/>
        </p:nvSpPr>
        <p:spPr>
          <a:xfrm>
            <a:off x="960120" y="2423160"/>
            <a:ext cx="2743200" cy="292608"/>
          </a:xfrm>
          <a:prstGeom prst="rect">
            <a:avLst/>
          </a:prstGeom>
          <a:noFill/>
          <a:ln/>
        </p:spPr>
        <p:txBody>
          <a:bodyPr wrap="square" lIns="0" tIns="0" rIns="0" bIns="0" rtlCol="0" anchor="ctr">
            <a:normAutofit/>
          </a:bodyPr>
          <a:lstStyle/>
          <a:p>
            <a:pPr algn="l" indent="0" marL="0">
              <a:buNone/>
            </a:pPr>
            <a:r>
              <a:rPr lang="en-US" sz="1300" b="1" dirty="0">
                <a:solidFill>
                  <a:srgbClr val="17352F"/>
                </a:solidFill>
                <a:latin typeface="Aptos" pitchFamily="34" charset="0"/>
                <a:ea typeface="Aptos" pitchFamily="34" charset="-122"/>
                <a:cs typeface="Aptos" pitchFamily="34" charset="-120"/>
              </a:rPr>
              <a:t>20 Oct – 02 Nov</a:t>
            </a:r>
            <a:endParaRPr lang="en-US" sz="1300" dirty="0"/>
          </a:p>
        </p:txBody>
      </p:sp>
      <p:sp>
        <p:nvSpPr>
          <p:cNvPr id="8" name="Text 6"/>
          <p:cNvSpPr txBox="1"/>
          <p:nvPr/>
        </p:nvSpPr>
        <p:spPr>
          <a:xfrm>
            <a:off x="4206240" y="2176272"/>
            <a:ext cx="2606040" cy="164592"/>
          </a:xfrm>
          <a:prstGeom prst="rect">
            <a:avLst/>
          </a:prstGeom>
          <a:noFill/>
          <a:ln/>
        </p:spPr>
        <p:txBody>
          <a:bodyPr wrap="square" lIns="0" tIns="0" rIns="0" bIns="0" rtlCol="0" anchor="ctr">
            <a:normAutofit/>
          </a:bodyPr>
          <a:lstStyle/>
          <a:p>
            <a:pPr algn="l" indent="0" marL="0">
              <a:buNone/>
            </a:pPr>
            <a:r>
              <a:rPr lang="en-US" sz="800" b="1" spc="110" kern="0" dirty="0">
                <a:solidFill>
                  <a:srgbClr val="63756D"/>
                </a:solidFill>
                <a:latin typeface="Aptos" pitchFamily="34" charset="0"/>
                <a:ea typeface="Aptos" pitchFamily="34" charset="-122"/>
                <a:cs typeface="Aptos" pitchFamily="34" charset="-120"/>
              </a:rPr>
              <a:t>PROJECT</a:t>
            </a:r>
            <a:endParaRPr lang="en-US" sz="800" dirty="0"/>
          </a:p>
        </p:txBody>
      </p:sp>
      <p:sp>
        <p:nvSpPr>
          <p:cNvPr id="9" name="Text 7"/>
          <p:cNvSpPr txBox="1"/>
          <p:nvPr/>
        </p:nvSpPr>
        <p:spPr>
          <a:xfrm>
            <a:off x="4206240" y="2423160"/>
            <a:ext cx="2743200" cy="292608"/>
          </a:xfrm>
          <a:prstGeom prst="rect">
            <a:avLst/>
          </a:prstGeom>
          <a:noFill/>
          <a:ln/>
        </p:spPr>
        <p:txBody>
          <a:bodyPr wrap="square" lIns="0" tIns="0" rIns="0" bIns="0" rtlCol="0" anchor="ctr">
            <a:normAutofit/>
          </a:bodyPr>
          <a:lstStyle/>
          <a:p>
            <a:pPr algn="l" indent="0" marL="0">
              <a:buNone/>
            </a:pPr>
            <a:r>
              <a:rPr lang="en-US" sz="1300" b="1" dirty="0">
                <a:solidFill>
                  <a:srgbClr val="17352F"/>
                </a:solidFill>
                <a:latin typeface="Aptos" pitchFamily="34" charset="0"/>
                <a:ea typeface="Aptos" pitchFamily="34" charset="-122"/>
                <a:cs typeface="Aptos" pitchFamily="34" charset="-120"/>
              </a:rPr>
              <a:t>Project Alpha</a:t>
            </a:r>
            <a:endParaRPr lang="en-US" sz="1300" dirty="0"/>
          </a:p>
        </p:txBody>
      </p:sp>
      <p:sp>
        <p:nvSpPr>
          <p:cNvPr id="10" name="Text 8"/>
          <p:cNvSpPr txBox="1"/>
          <p:nvPr/>
        </p:nvSpPr>
        <p:spPr>
          <a:xfrm>
            <a:off x="960120" y="3090672"/>
            <a:ext cx="2606040" cy="164592"/>
          </a:xfrm>
          <a:prstGeom prst="rect">
            <a:avLst/>
          </a:prstGeom>
          <a:noFill/>
          <a:ln/>
        </p:spPr>
        <p:txBody>
          <a:bodyPr wrap="square" lIns="0" tIns="0" rIns="0" bIns="0" rtlCol="0" anchor="ctr">
            <a:normAutofit/>
          </a:bodyPr>
          <a:lstStyle/>
          <a:p>
            <a:pPr algn="l" indent="0" marL="0">
              <a:buNone/>
            </a:pPr>
            <a:r>
              <a:rPr lang="en-US" sz="800" b="1" spc="110" kern="0" dirty="0">
                <a:solidFill>
                  <a:srgbClr val="63756D"/>
                </a:solidFill>
                <a:latin typeface="Aptos" pitchFamily="34" charset="0"/>
                <a:ea typeface="Aptos" pitchFamily="34" charset="-122"/>
                <a:cs typeface="Aptos" pitchFamily="34" charset="-120"/>
              </a:rPr>
              <a:t>QUESTION TOPICS</a:t>
            </a:r>
            <a:endParaRPr lang="en-US" sz="800" dirty="0"/>
          </a:p>
        </p:txBody>
      </p:sp>
      <p:sp>
        <p:nvSpPr>
          <p:cNvPr id="11" name="Text 9"/>
          <p:cNvSpPr txBox="1"/>
          <p:nvPr/>
        </p:nvSpPr>
        <p:spPr>
          <a:xfrm>
            <a:off x="960120" y="3337560"/>
            <a:ext cx="2743200" cy="292608"/>
          </a:xfrm>
          <a:prstGeom prst="rect">
            <a:avLst/>
          </a:prstGeom>
          <a:noFill/>
          <a:ln/>
        </p:spPr>
        <p:txBody>
          <a:bodyPr wrap="square" lIns="0" tIns="0" rIns="0" bIns="0" rtlCol="0" anchor="ctr">
            <a:normAutofit/>
          </a:bodyPr>
          <a:lstStyle/>
          <a:p>
            <a:pPr algn="l" indent="0" marL="0">
              <a:buNone/>
            </a:pPr>
            <a:r>
              <a:rPr lang="en-US" sz="1300" b="1" dirty="0">
                <a:solidFill>
                  <a:srgbClr val="17352F"/>
                </a:solidFill>
                <a:latin typeface="Aptos" pitchFamily="34" charset="0"/>
                <a:ea typeface="Aptos" pitchFamily="34" charset="-122"/>
                <a:cs typeface="Aptos" pitchFamily="34" charset="-120"/>
              </a:rPr>
              <a:t>Deployment · timeout</a:t>
            </a:r>
            <a:endParaRPr lang="en-US" sz="1300" dirty="0"/>
          </a:p>
        </p:txBody>
      </p:sp>
      <p:sp>
        <p:nvSpPr>
          <p:cNvPr id="12" name="Text 10"/>
          <p:cNvSpPr txBox="1"/>
          <p:nvPr/>
        </p:nvSpPr>
        <p:spPr>
          <a:xfrm>
            <a:off x="4206240" y="3090672"/>
            <a:ext cx="2606040" cy="164592"/>
          </a:xfrm>
          <a:prstGeom prst="rect">
            <a:avLst/>
          </a:prstGeom>
          <a:noFill/>
          <a:ln/>
        </p:spPr>
        <p:txBody>
          <a:bodyPr wrap="square" lIns="0" tIns="0" rIns="0" bIns="0" rtlCol="0" anchor="ctr">
            <a:normAutofit/>
          </a:bodyPr>
          <a:lstStyle/>
          <a:p>
            <a:pPr algn="l" indent="0" marL="0">
              <a:buNone/>
            </a:pPr>
            <a:r>
              <a:rPr lang="en-US" sz="800" b="1" spc="110" kern="0" dirty="0">
                <a:solidFill>
                  <a:srgbClr val="63756D"/>
                </a:solidFill>
                <a:latin typeface="Aptos" pitchFamily="34" charset="0"/>
                <a:ea typeface="Aptos" pitchFamily="34" charset="-122"/>
                <a:cs typeface="Aptos" pitchFamily="34" charset="-120"/>
              </a:rPr>
              <a:t>WHO MAY ASK</a:t>
            </a:r>
            <a:endParaRPr lang="en-US" sz="800" dirty="0"/>
          </a:p>
        </p:txBody>
      </p:sp>
      <p:sp>
        <p:nvSpPr>
          <p:cNvPr id="13" name="Text 11"/>
          <p:cNvSpPr txBox="1"/>
          <p:nvPr/>
        </p:nvSpPr>
        <p:spPr>
          <a:xfrm>
            <a:off x="4206240" y="3337560"/>
            <a:ext cx="2743200" cy="292608"/>
          </a:xfrm>
          <a:prstGeom prst="rect">
            <a:avLst/>
          </a:prstGeom>
          <a:noFill/>
          <a:ln/>
        </p:spPr>
        <p:txBody>
          <a:bodyPr wrap="square" lIns="0" tIns="0" rIns="0" bIns="0" rtlCol="0" anchor="ctr">
            <a:normAutofit/>
          </a:bodyPr>
          <a:lstStyle/>
          <a:p>
            <a:pPr algn="l" indent="0" marL="0">
              <a:buNone/>
            </a:pPr>
            <a:r>
              <a:rPr lang="en-US" sz="1300" b="1" dirty="0">
                <a:solidFill>
                  <a:srgbClr val="17352F"/>
                </a:solidFill>
                <a:latin typeface="Aptos" pitchFamily="34" charset="0"/>
                <a:ea typeface="Aptos" pitchFamily="34" charset="-122"/>
                <a:cs typeface="Aptos" pitchFamily="34" charset="-120"/>
              </a:rPr>
              <a:t>Approved project colleagues</a:t>
            </a:r>
            <a:endParaRPr lang="en-US" sz="1300" dirty="0"/>
          </a:p>
        </p:txBody>
      </p:sp>
      <p:sp>
        <p:nvSpPr>
          <p:cNvPr id="14" name="Text 12"/>
          <p:cNvSpPr txBox="1"/>
          <p:nvPr/>
        </p:nvSpPr>
        <p:spPr>
          <a:xfrm>
            <a:off x="960120" y="4005072"/>
            <a:ext cx="2606040" cy="164592"/>
          </a:xfrm>
          <a:prstGeom prst="rect">
            <a:avLst/>
          </a:prstGeom>
          <a:noFill/>
          <a:ln/>
        </p:spPr>
        <p:txBody>
          <a:bodyPr wrap="square" lIns="0" tIns="0" rIns="0" bIns="0" rtlCol="0" anchor="ctr">
            <a:normAutofit/>
          </a:bodyPr>
          <a:lstStyle/>
          <a:p>
            <a:pPr algn="l" indent="0" marL="0">
              <a:buNone/>
            </a:pPr>
            <a:r>
              <a:rPr lang="en-US" sz="800" b="1" spc="110" kern="0" dirty="0">
                <a:solidFill>
                  <a:srgbClr val="63756D"/>
                </a:solidFill>
                <a:latin typeface="Aptos" pitchFamily="34" charset="0"/>
                <a:ea typeface="Aptos" pitchFamily="34" charset="-122"/>
                <a:cs typeface="Aptos" pitchFamily="34" charset="-120"/>
              </a:rPr>
              <a:t>FILES TO CHECK</a:t>
            </a:r>
            <a:endParaRPr lang="en-US" sz="800" dirty="0"/>
          </a:p>
        </p:txBody>
      </p:sp>
      <p:sp>
        <p:nvSpPr>
          <p:cNvPr id="15" name="Text 13"/>
          <p:cNvSpPr txBox="1"/>
          <p:nvPr/>
        </p:nvSpPr>
        <p:spPr>
          <a:xfrm>
            <a:off x="960120" y="4251960"/>
            <a:ext cx="2743200" cy="292608"/>
          </a:xfrm>
          <a:prstGeom prst="rect">
            <a:avLst/>
          </a:prstGeom>
          <a:noFill/>
          <a:ln/>
        </p:spPr>
        <p:txBody>
          <a:bodyPr wrap="square" lIns="0" tIns="0" rIns="0" bIns="0" rtlCol="0" anchor="ctr">
            <a:normAutofit/>
          </a:bodyPr>
          <a:lstStyle/>
          <a:p>
            <a:pPr algn="l" indent="0" marL="0">
              <a:buNone/>
            </a:pPr>
            <a:r>
              <a:rPr lang="en-US" sz="1300" b="1" dirty="0">
                <a:solidFill>
                  <a:srgbClr val="17352F"/>
                </a:solidFill>
                <a:latin typeface="Aptos" pitchFamily="34" charset="0"/>
                <a:ea typeface="Aptos" pitchFamily="34" charset="-122"/>
                <a:cs typeface="Aptos" pitchFamily="34" charset="-120"/>
              </a:rPr>
              <a:t>Selected decision notes / guides</a:t>
            </a:r>
            <a:endParaRPr lang="en-US" sz="1300" dirty="0"/>
          </a:p>
        </p:txBody>
      </p:sp>
      <p:sp>
        <p:nvSpPr>
          <p:cNvPr id="16" name="Text 14"/>
          <p:cNvSpPr txBox="1"/>
          <p:nvPr/>
        </p:nvSpPr>
        <p:spPr>
          <a:xfrm>
            <a:off x="4206240" y="4005072"/>
            <a:ext cx="2606040" cy="164592"/>
          </a:xfrm>
          <a:prstGeom prst="rect">
            <a:avLst/>
          </a:prstGeom>
          <a:noFill/>
          <a:ln/>
        </p:spPr>
        <p:txBody>
          <a:bodyPr wrap="square" lIns="0" tIns="0" rIns="0" bIns="0" rtlCol="0" anchor="ctr">
            <a:normAutofit/>
          </a:bodyPr>
          <a:lstStyle/>
          <a:p>
            <a:pPr algn="l" indent="0" marL="0">
              <a:buNone/>
            </a:pPr>
            <a:r>
              <a:rPr lang="en-US" sz="800" b="1" spc="110" kern="0" dirty="0">
                <a:solidFill>
                  <a:srgbClr val="63756D"/>
                </a:solidFill>
                <a:latin typeface="Aptos" pitchFamily="34" charset="0"/>
                <a:ea typeface="Aptos" pitchFamily="34" charset="-122"/>
                <a:cs typeface="Aptos" pitchFamily="34" charset="-120"/>
              </a:rPr>
              <a:t>BACKUP PERSON</a:t>
            </a:r>
            <a:endParaRPr lang="en-US" sz="800" dirty="0"/>
          </a:p>
        </p:txBody>
      </p:sp>
      <p:sp>
        <p:nvSpPr>
          <p:cNvPr id="17" name="Text 15"/>
          <p:cNvSpPr txBox="1"/>
          <p:nvPr/>
        </p:nvSpPr>
        <p:spPr>
          <a:xfrm>
            <a:off x="4206240" y="4251960"/>
            <a:ext cx="2743200" cy="292608"/>
          </a:xfrm>
          <a:prstGeom prst="rect">
            <a:avLst/>
          </a:prstGeom>
          <a:noFill/>
          <a:ln/>
        </p:spPr>
        <p:txBody>
          <a:bodyPr wrap="square" lIns="0" tIns="0" rIns="0" bIns="0" rtlCol="0" anchor="ctr">
            <a:normAutofit/>
          </a:bodyPr>
          <a:lstStyle/>
          <a:p>
            <a:pPr algn="l" indent="0" marL="0">
              <a:buNone/>
            </a:pPr>
            <a:r>
              <a:rPr lang="en-US" sz="1300" b="1" dirty="0">
                <a:solidFill>
                  <a:srgbClr val="17352F"/>
                </a:solidFill>
                <a:latin typeface="Aptos" pitchFamily="34" charset="0"/>
                <a:ea typeface="Aptos" pitchFamily="34" charset="-122"/>
                <a:cs typeface="Aptos" pitchFamily="34" charset="-120"/>
              </a:rPr>
              <a:t>Carla Mendez</a:t>
            </a:r>
            <a:endParaRPr lang="en-US" sz="1300" dirty="0"/>
          </a:p>
        </p:txBody>
      </p:sp>
      <p:sp>
        <p:nvSpPr>
          <p:cNvPr id="18" name="Shape 16"/>
          <p:cNvSpPr/>
          <p:nvPr/>
        </p:nvSpPr>
        <p:spPr>
          <a:xfrm>
            <a:off x="7863840" y="1874520"/>
            <a:ext cx="3611880" cy="3429000"/>
          </a:xfrm>
          <a:prstGeom prst="roundRect">
            <a:avLst>
              <a:gd name="adj" fmla="val 3200"/>
            </a:avLst>
          </a:prstGeom>
          <a:solidFill>
            <a:srgbClr val="17352F"/>
          </a:solidFill>
          <a:ln w="12700">
            <a:solidFill>
              <a:srgbClr val="17352F">
                <a:alpha val="0"/>
              </a:srgbClr>
            </a:solidFill>
            <a:prstDash val="solid"/>
          </a:ln>
        </p:spPr>
      </p:sp>
      <p:sp>
        <p:nvSpPr>
          <p:cNvPr id="19" name="Shape 17"/>
          <p:cNvSpPr/>
          <p:nvPr/>
        </p:nvSpPr>
        <p:spPr>
          <a:xfrm>
            <a:off x="8183880" y="2176272"/>
            <a:ext cx="1508760" cy="292608"/>
          </a:xfrm>
          <a:prstGeom prst="roundRect">
            <a:avLst>
              <a:gd name="adj" fmla="val 37500"/>
            </a:avLst>
          </a:prstGeom>
          <a:solidFill>
            <a:srgbClr val="254C42"/>
          </a:solidFill>
          <a:ln w="12700">
            <a:solidFill>
              <a:srgbClr val="254C42">
                <a:alpha val="0"/>
              </a:srgbClr>
            </a:solidFill>
            <a:prstDash val="solid"/>
          </a:ln>
        </p:spPr>
      </p:sp>
      <p:sp>
        <p:nvSpPr>
          <p:cNvPr id="20" name="Text 18"/>
          <p:cNvSpPr txBox="1"/>
          <p:nvPr/>
        </p:nvSpPr>
        <p:spPr>
          <a:xfrm>
            <a:off x="8275320" y="2212848"/>
            <a:ext cx="1325880" cy="201168"/>
          </a:xfrm>
          <a:prstGeom prst="rect">
            <a:avLst/>
          </a:prstGeom>
          <a:noFill/>
          <a:ln/>
        </p:spPr>
        <p:txBody>
          <a:bodyPr wrap="square" lIns="0" tIns="0" rIns="0" bIns="0" rtlCol="0" anchor="ctr">
            <a:normAutofit/>
          </a:bodyPr>
          <a:lstStyle/>
          <a:p>
            <a:pPr algn="ctr" indent="0" marL="0">
              <a:buNone/>
            </a:pPr>
            <a:r>
              <a:rPr lang="en-US" sz="850" b="1" spc="30" kern="0" dirty="0">
                <a:solidFill>
                  <a:srgbClr val="BFE7D6"/>
                </a:solidFill>
                <a:latin typeface="Aptos" pitchFamily="34" charset="0"/>
                <a:ea typeface="Aptos" pitchFamily="34" charset="-122"/>
                <a:cs typeface="Aptos" pitchFamily="34" charset="-120"/>
              </a:rPr>
              <a:t>OWNER CONTROL</a:t>
            </a:r>
            <a:endParaRPr lang="en-US" sz="850" dirty="0"/>
          </a:p>
        </p:txBody>
      </p:sp>
      <p:sp>
        <p:nvSpPr>
          <p:cNvPr id="21" name="Text 19"/>
          <p:cNvSpPr txBox="1"/>
          <p:nvPr/>
        </p:nvSpPr>
        <p:spPr>
          <a:xfrm>
            <a:off x="8183880" y="2743200"/>
            <a:ext cx="2926080" cy="384048"/>
          </a:xfrm>
          <a:prstGeom prst="rect">
            <a:avLst/>
          </a:prstGeom>
          <a:noFill/>
          <a:ln/>
        </p:spPr>
        <p:txBody>
          <a:bodyPr wrap="square" lIns="0" tIns="0" rIns="0" bIns="0" rtlCol="0" anchor="ctr">
            <a:normAutofit/>
          </a:bodyPr>
          <a:lstStyle/>
          <a:p>
            <a:pPr algn="l" indent="0" marL="0">
              <a:buNone/>
            </a:pPr>
            <a:r>
              <a:rPr lang="en-US" sz="2000" b="1" dirty="0">
                <a:solidFill>
                  <a:srgbClr val="FFFFFF"/>
                </a:solidFill>
                <a:latin typeface="Aptos" pitchFamily="34" charset="0"/>
                <a:ea typeface="Aptos" pitchFamily="34" charset="-122"/>
                <a:cs typeface="Aptos" pitchFamily="34" charset="-120"/>
              </a:rPr>
              <a:t>Pause or stop</a:t>
            </a:r>
            <a:endParaRPr lang="en-US" sz="2000" dirty="0"/>
          </a:p>
        </p:txBody>
      </p:sp>
      <p:sp>
        <p:nvSpPr>
          <p:cNvPr id="22" name="Text 20"/>
          <p:cNvSpPr txBox="1"/>
          <p:nvPr/>
        </p:nvSpPr>
        <p:spPr>
          <a:xfrm>
            <a:off x="8183880" y="3355848"/>
            <a:ext cx="2697480" cy="822960"/>
          </a:xfrm>
          <a:prstGeom prst="rect">
            <a:avLst/>
          </a:prstGeom>
          <a:noFill/>
          <a:ln/>
        </p:spPr>
        <p:txBody>
          <a:bodyPr wrap="square" lIns="0" tIns="0" rIns="0" bIns="0" rtlCol="0" anchor="t">
            <a:normAutofit/>
          </a:bodyPr>
          <a:lstStyle/>
          <a:p>
            <a:pPr algn="l" indent="0" marL="0">
              <a:buNone/>
            </a:pPr>
            <a:r>
              <a:rPr lang="en-US" sz="1200" dirty="0">
                <a:solidFill>
                  <a:srgbClr val="D1E1D9"/>
                </a:solidFill>
                <a:latin typeface="Aptos" pitchFamily="34" charset="0"/>
                <a:ea typeface="Aptos" pitchFamily="34" charset="-122"/>
                <a:cs typeface="Aptos" pitchFamily="34" charset="-120"/>
              </a:rPr>
              <a:t>A manager reviews changes. Being Busy or away never counts as permission.</a:t>
            </a:r>
            <a:endParaRPr lang="en-US" sz="1200" dirty="0"/>
          </a:p>
        </p:txBody>
      </p:sp>
      <p:sp>
        <p:nvSpPr>
          <p:cNvPr id="23" name="Text 21"/>
          <p:cNvSpPr txBox="1"/>
          <p:nvPr/>
        </p:nvSpPr>
        <p:spPr>
          <a:xfrm>
            <a:off x="8183880" y="4709160"/>
            <a:ext cx="2880360" cy="274320"/>
          </a:xfrm>
          <a:prstGeom prst="rect">
            <a:avLst/>
          </a:prstGeom>
          <a:noFill/>
          <a:ln/>
        </p:spPr>
        <p:txBody>
          <a:bodyPr wrap="square" lIns="0" tIns="0" rIns="0" bIns="0" rtlCol="0" anchor="ctr">
            <a:normAutofit/>
          </a:bodyPr>
          <a:lstStyle/>
          <a:p>
            <a:pPr algn="l" indent="0" marL="0">
              <a:buNone/>
            </a:pPr>
            <a:r>
              <a:rPr lang="en-US" sz="950" b="1" dirty="0">
                <a:solidFill>
                  <a:srgbClr val="BFE7D6"/>
                </a:solidFill>
                <a:latin typeface="Aptos" pitchFamily="34" charset="0"/>
                <a:ea typeface="Aptos" pitchFamily="34" charset="-122"/>
                <a:cs typeface="Aptos" pitchFamily="34" charset="-120"/>
              </a:rPr>
              <a:t>Every change is recorded.</a:t>
            </a:r>
            <a:endParaRPr lang="en-US" sz="950" dirty="0"/>
          </a:p>
        </p:txBody>
      </p:sp>
      <p:sp>
        <p:nvSpPr>
          <p:cNvPr id="24" name="Text 22"/>
          <p:cNvSpPr txBox="1"/>
          <p:nvPr/>
        </p:nvSpPr>
        <p:spPr>
          <a:xfrm>
            <a:off x="548640" y="6318504"/>
            <a:ext cx="10881360" cy="146304"/>
          </a:xfrm>
          <a:prstGeom prst="rect">
            <a:avLst/>
          </a:prstGeom>
          <a:noFill/>
          <a:ln/>
        </p:spPr>
        <p:txBody>
          <a:bodyPr wrap="square" lIns="0" tIns="0" rIns="0" bIns="0" rtlCol="0" anchor="ctr">
            <a:normAutofit/>
          </a:bodyPr>
          <a:lstStyle/>
          <a:p>
            <a:pPr algn="l" indent="0" marL="0">
              <a:buNone/>
            </a:pPr>
            <a:r>
              <a:rPr lang="en-US" sz="730" dirty="0">
                <a:solidFill>
                  <a:srgbClr val="63756D"/>
                </a:solidFill>
                <a:latin typeface="Aptos" pitchFamily="34" charset="0"/>
                <a:ea typeface="Aptos" pitchFamily="34" charset="-122"/>
                <a:cs typeface="Aptos" pitchFamily="34" charset="-120"/>
              </a:rPr>
              <a:t>Background and research sources are in the speaker notes.</a:t>
            </a:r>
            <a:endParaRPr lang="en-US" sz="730" dirty="0"/>
          </a:p>
        </p:txBody>
      </p:sp>
      <p:sp>
        <p:nvSpPr>
          <p:cNvPr id="25" name="Slide Number Placeholder 0"/>
          <p:cNvSpPr>
            <a:spLocks noGrp="1"/>
          </p:cNvSpPr>
          <p:nvPr>
            <p:ph type="sldNum" sz="quarter" idx="4294967295"/>
          </p:nvPr>
        </p:nvSpPr>
        <p:spPr>
          <a:xfrm>
            <a:off x="11686032"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47C"/>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30352" y="347472"/>
            <a:ext cx="1088136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2F8069"/>
                </a:solidFill>
                <a:latin typeface="Aptos" pitchFamily="34" charset="0"/>
                <a:ea typeface="Aptos" pitchFamily="34" charset="-122"/>
                <a:cs typeface="Aptos" pitchFamily="34" charset="-120"/>
              </a:rPr>
              <a:t>07 / POSSIBLE MICROSOFT CONNECTION</a:t>
            </a:r>
            <a:endParaRPr lang="en-US" sz="900" dirty="0"/>
          </a:p>
        </p:txBody>
      </p:sp>
      <p:sp>
        <p:nvSpPr>
          <p:cNvPr id="3" name="Text 1"/>
          <p:cNvSpPr txBox="1"/>
          <p:nvPr/>
        </p:nvSpPr>
        <p:spPr>
          <a:xfrm>
            <a:off x="530352" y="69494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7352F"/>
                </a:solidFill>
                <a:latin typeface="Aptos Display" pitchFamily="34" charset="0"/>
                <a:ea typeface="Aptos Display" pitchFamily="34" charset="-122"/>
                <a:cs typeface="Aptos Display" pitchFamily="34" charset="-120"/>
              </a:rPr>
              <a:t>Where a Microsoft connection could fit</a:t>
            </a:r>
            <a:endParaRPr lang="en-US" sz="2700" dirty="0"/>
          </a:p>
        </p:txBody>
      </p:sp>
      <p:sp>
        <p:nvSpPr>
          <p:cNvPr id="4" name="Text 2"/>
          <p:cNvSpPr txBox="1"/>
          <p:nvPr/>
        </p:nvSpPr>
        <p:spPr>
          <a:xfrm>
            <a:off x="548640" y="1243584"/>
            <a:ext cx="10972800" cy="347472"/>
          </a:xfrm>
          <a:prstGeom prst="rect">
            <a:avLst/>
          </a:prstGeom>
          <a:noFill/>
          <a:ln/>
        </p:spPr>
        <p:txBody>
          <a:bodyPr wrap="square" lIns="0" tIns="0" rIns="0" bIns="0" rtlCol="0" anchor="ctr">
            <a:normAutofit/>
          </a:bodyPr>
          <a:lstStyle/>
          <a:p>
            <a:pPr algn="l" indent="0" marL="0">
              <a:buNone/>
            </a:pPr>
            <a:r>
              <a:rPr lang="en-US" sz="1250" dirty="0">
                <a:solidFill>
                  <a:srgbClr val="63756D"/>
                </a:solidFill>
                <a:latin typeface="Aptos" pitchFamily="34" charset="0"/>
                <a:ea typeface="Aptos" pitchFamily="34" charset="-122"/>
                <a:cs typeface="Aptos" pitchFamily="34" charset="-120"/>
              </a:rPr>
              <a:t>These connections are not part of the tested local demo.</a:t>
            </a:r>
            <a:endParaRPr lang="en-US" sz="1250" dirty="0"/>
          </a:p>
        </p:txBody>
      </p:sp>
      <p:sp>
        <p:nvSpPr>
          <p:cNvPr id="5" name="Shape 3"/>
          <p:cNvSpPr/>
          <p:nvPr/>
        </p:nvSpPr>
        <p:spPr>
          <a:xfrm>
            <a:off x="658368" y="1993392"/>
            <a:ext cx="2624328" cy="2286000"/>
          </a:xfrm>
          <a:prstGeom prst="roundRect">
            <a:avLst>
              <a:gd name="adj" fmla="val 4800"/>
            </a:avLst>
          </a:prstGeom>
          <a:solidFill>
            <a:srgbClr val="FFFFFF"/>
          </a:solidFill>
          <a:ln w="12700">
            <a:solidFill>
              <a:srgbClr val="D7E1DB"/>
            </a:solidFill>
            <a:prstDash val="solid"/>
          </a:ln>
        </p:spPr>
      </p:sp>
      <p:sp>
        <p:nvSpPr>
          <p:cNvPr id="6" name="Shape 4"/>
          <p:cNvSpPr/>
          <p:nvPr/>
        </p:nvSpPr>
        <p:spPr>
          <a:xfrm>
            <a:off x="658368" y="1993392"/>
            <a:ext cx="54864" cy="2286000"/>
          </a:xfrm>
          <a:prstGeom prst="rect">
            <a:avLst>
              <a:gd name="adj" fmla="val 200000"/>
            </a:avLst>
          </a:prstGeom>
          <a:solidFill>
            <a:srgbClr val="5278B8"/>
          </a:solidFill>
          <a:ln w="12700">
            <a:solidFill>
              <a:srgbClr val="5278B8">
                <a:alpha val="0"/>
              </a:srgbClr>
            </a:solidFill>
            <a:prstDash val="solid"/>
          </a:ln>
        </p:spPr>
      </p:sp>
      <p:sp>
        <p:nvSpPr>
          <p:cNvPr id="7" name="Text 5"/>
          <p:cNvSpPr txBox="1"/>
          <p:nvPr/>
        </p:nvSpPr>
        <p:spPr>
          <a:xfrm>
            <a:off x="859536" y="2157984"/>
            <a:ext cx="2240280" cy="292608"/>
          </a:xfrm>
          <a:prstGeom prst="rect">
            <a:avLst/>
          </a:prstGeom>
          <a:noFill/>
          <a:ln/>
        </p:spPr>
        <p:txBody>
          <a:bodyPr wrap="square" lIns="0" tIns="0" rIns="0" bIns="0" rtlCol="0" anchor="ctr">
            <a:normAutofit/>
          </a:bodyPr>
          <a:lstStyle/>
          <a:p>
            <a:pPr algn="l" indent="0" marL="0">
              <a:buNone/>
            </a:pPr>
            <a:r>
              <a:rPr lang="en-US" sz="1400" b="1" dirty="0">
                <a:solidFill>
                  <a:srgbClr val="17352F"/>
                </a:solidFill>
                <a:latin typeface="Aptos" pitchFamily="34" charset="0"/>
                <a:ea typeface="Aptos" pitchFamily="34" charset="-122"/>
                <a:cs typeface="Aptos" pitchFamily="34" charset="-120"/>
              </a:rPr>
              <a:t>Work sign-in</a:t>
            </a:r>
            <a:endParaRPr lang="en-US" sz="1400" dirty="0"/>
          </a:p>
        </p:txBody>
      </p:sp>
      <p:sp>
        <p:nvSpPr>
          <p:cNvPr id="8" name="Text 6"/>
          <p:cNvSpPr txBox="1"/>
          <p:nvPr/>
        </p:nvSpPr>
        <p:spPr>
          <a:xfrm>
            <a:off x="859536" y="2532888"/>
            <a:ext cx="2221992" cy="1627632"/>
          </a:xfrm>
          <a:prstGeom prst="rect">
            <a:avLst/>
          </a:prstGeom>
          <a:noFill/>
          <a:ln/>
        </p:spPr>
        <p:txBody>
          <a:bodyPr wrap="square" lIns="0" tIns="0" rIns="0" bIns="0" rtlCol="0" anchor="t">
            <a:normAutofit/>
          </a:bodyPr>
          <a:lstStyle/>
          <a:p>
            <a:pPr algn="l" indent="0" marL="0">
              <a:buNone/>
            </a:pPr>
            <a:r>
              <a:rPr lang="en-US" sz="1050" dirty="0">
                <a:solidFill>
                  <a:srgbClr val="63756D"/>
                </a:solidFill>
                <a:latin typeface="Aptos" pitchFamily="34" charset="0"/>
                <a:ea typeface="Aptos" pitchFamily="34" charset="-122"/>
                <a:cs typeface="Aptos" pitchFamily="34" charset="-120"/>
              </a:rPr>
              <a:t>Check who is signed in with a Microsoft work account. Early code only; needs tenant testing.</a:t>
            </a:r>
            <a:endParaRPr lang="en-US" sz="1050" dirty="0"/>
          </a:p>
        </p:txBody>
      </p:sp>
      <p:sp>
        <p:nvSpPr>
          <p:cNvPr id="9" name="Shape 7"/>
          <p:cNvSpPr/>
          <p:nvPr/>
        </p:nvSpPr>
        <p:spPr>
          <a:xfrm>
            <a:off x="868680" y="3913632"/>
            <a:ext cx="1508760" cy="292608"/>
          </a:xfrm>
          <a:prstGeom prst="roundRect">
            <a:avLst>
              <a:gd name="adj" fmla="val 37500"/>
            </a:avLst>
          </a:prstGeom>
          <a:solidFill>
            <a:srgbClr val="EEEAF9"/>
          </a:solidFill>
          <a:ln w="12700">
            <a:solidFill>
              <a:srgbClr val="EEEAF9">
                <a:alpha val="0"/>
              </a:srgbClr>
            </a:solidFill>
            <a:prstDash val="solid"/>
          </a:ln>
        </p:spPr>
      </p:sp>
      <p:sp>
        <p:nvSpPr>
          <p:cNvPr id="10" name="Text 8"/>
          <p:cNvSpPr txBox="1"/>
          <p:nvPr/>
        </p:nvSpPr>
        <p:spPr>
          <a:xfrm>
            <a:off x="960120" y="3950208"/>
            <a:ext cx="1325880" cy="201168"/>
          </a:xfrm>
          <a:prstGeom prst="rect">
            <a:avLst/>
          </a:prstGeom>
          <a:noFill/>
          <a:ln/>
        </p:spPr>
        <p:txBody>
          <a:bodyPr wrap="square" lIns="0" tIns="0" rIns="0" bIns="0" rtlCol="0" anchor="ctr">
            <a:normAutofit/>
          </a:bodyPr>
          <a:lstStyle/>
          <a:p>
            <a:pPr algn="ctr" indent="0" marL="0">
              <a:buNone/>
            </a:pPr>
            <a:r>
              <a:rPr lang="en-US" sz="850" b="1" spc="30" kern="0" dirty="0">
                <a:solidFill>
                  <a:srgbClr val="5278B8"/>
                </a:solidFill>
                <a:latin typeface="Aptos" pitchFamily="34" charset="0"/>
                <a:ea typeface="Aptos" pitchFamily="34" charset="-122"/>
                <a:cs typeface="Aptos" pitchFamily="34" charset="-120"/>
              </a:rPr>
              <a:t>NOT CONNECTED</a:t>
            </a:r>
            <a:endParaRPr lang="en-US" sz="850" dirty="0"/>
          </a:p>
        </p:txBody>
      </p:sp>
      <p:sp>
        <p:nvSpPr>
          <p:cNvPr id="11" name="Shape 9"/>
          <p:cNvSpPr/>
          <p:nvPr/>
        </p:nvSpPr>
        <p:spPr>
          <a:xfrm>
            <a:off x="3447288" y="1993392"/>
            <a:ext cx="2624328" cy="2286000"/>
          </a:xfrm>
          <a:prstGeom prst="roundRect">
            <a:avLst>
              <a:gd name="adj" fmla="val 4800"/>
            </a:avLst>
          </a:prstGeom>
          <a:solidFill>
            <a:srgbClr val="FFFFFF"/>
          </a:solidFill>
          <a:ln w="12700">
            <a:solidFill>
              <a:srgbClr val="D7E1DB"/>
            </a:solidFill>
            <a:prstDash val="solid"/>
          </a:ln>
        </p:spPr>
      </p:sp>
      <p:sp>
        <p:nvSpPr>
          <p:cNvPr id="12" name="Shape 10"/>
          <p:cNvSpPr/>
          <p:nvPr/>
        </p:nvSpPr>
        <p:spPr>
          <a:xfrm>
            <a:off x="3447288" y="1993392"/>
            <a:ext cx="54864" cy="2286000"/>
          </a:xfrm>
          <a:prstGeom prst="rect">
            <a:avLst>
              <a:gd name="adj" fmla="val 200000"/>
            </a:avLst>
          </a:prstGeom>
          <a:solidFill>
            <a:srgbClr val="2F8069"/>
          </a:solidFill>
          <a:ln w="12700">
            <a:solidFill>
              <a:srgbClr val="2F8069">
                <a:alpha val="0"/>
              </a:srgbClr>
            </a:solidFill>
            <a:prstDash val="solid"/>
          </a:ln>
        </p:spPr>
      </p:sp>
      <p:sp>
        <p:nvSpPr>
          <p:cNvPr id="13" name="Text 11"/>
          <p:cNvSpPr txBox="1"/>
          <p:nvPr/>
        </p:nvSpPr>
        <p:spPr>
          <a:xfrm>
            <a:off x="3648456" y="2157984"/>
            <a:ext cx="2240280" cy="292608"/>
          </a:xfrm>
          <a:prstGeom prst="rect">
            <a:avLst/>
          </a:prstGeom>
          <a:noFill/>
          <a:ln/>
        </p:spPr>
        <p:txBody>
          <a:bodyPr wrap="square" lIns="0" tIns="0" rIns="0" bIns="0" rtlCol="0" anchor="ctr">
            <a:normAutofit/>
          </a:bodyPr>
          <a:lstStyle/>
          <a:p>
            <a:pPr algn="l" indent="0" marL="0">
              <a:buNone/>
            </a:pPr>
            <a:r>
              <a:rPr lang="en-US" sz="1400" b="1" dirty="0">
                <a:solidFill>
                  <a:srgbClr val="17352F"/>
                </a:solidFill>
                <a:latin typeface="Aptos" pitchFamily="34" charset="0"/>
                <a:ea typeface="Aptos" pitchFamily="34" charset="-122"/>
                <a:cs typeface="Aptos" pitchFamily="34" charset="-120"/>
              </a:rPr>
              <a:t>SharePoint files</a:t>
            </a:r>
            <a:endParaRPr lang="en-US" sz="1400" dirty="0"/>
          </a:p>
        </p:txBody>
      </p:sp>
      <p:sp>
        <p:nvSpPr>
          <p:cNvPr id="14" name="Text 12"/>
          <p:cNvSpPr txBox="1"/>
          <p:nvPr/>
        </p:nvSpPr>
        <p:spPr>
          <a:xfrm>
            <a:off x="3648456" y="2532888"/>
            <a:ext cx="2221992" cy="1627632"/>
          </a:xfrm>
          <a:prstGeom prst="rect">
            <a:avLst/>
          </a:prstGeom>
          <a:noFill/>
          <a:ln/>
        </p:spPr>
        <p:txBody>
          <a:bodyPr wrap="square" lIns="0" tIns="0" rIns="0" bIns="0" rtlCol="0" anchor="t">
            <a:normAutofit/>
          </a:bodyPr>
          <a:lstStyle/>
          <a:p>
            <a:pPr algn="l" indent="0" marL="0">
              <a:buNone/>
            </a:pPr>
            <a:r>
              <a:rPr lang="en-US" sz="1050" dirty="0">
                <a:solidFill>
                  <a:srgbClr val="63756D"/>
                </a:solidFill>
                <a:latin typeface="Aptos" pitchFamily="34" charset="0"/>
                <a:ea typeface="Aptos" pitchFamily="34" charset="-122"/>
                <a:cs typeface="Aptos" pitchFamily="34" charset="-120"/>
              </a:rPr>
              <a:t>Search and open files as Alice, using Alice's existing access. Adapter not tenant-tested.</a:t>
            </a:r>
            <a:endParaRPr lang="en-US" sz="1050" dirty="0"/>
          </a:p>
        </p:txBody>
      </p:sp>
      <p:sp>
        <p:nvSpPr>
          <p:cNvPr id="15" name="Shape 13"/>
          <p:cNvSpPr/>
          <p:nvPr/>
        </p:nvSpPr>
        <p:spPr>
          <a:xfrm>
            <a:off x="3657600" y="3913632"/>
            <a:ext cx="1737360" cy="292608"/>
          </a:xfrm>
          <a:prstGeom prst="roundRect">
            <a:avLst>
              <a:gd name="adj" fmla="val 37500"/>
            </a:avLst>
          </a:prstGeom>
          <a:solidFill>
            <a:srgbClr val="E8F1EC"/>
          </a:solidFill>
          <a:ln w="12700">
            <a:solidFill>
              <a:srgbClr val="E8F1EC">
                <a:alpha val="0"/>
              </a:srgbClr>
            </a:solidFill>
            <a:prstDash val="solid"/>
          </a:ln>
        </p:spPr>
      </p:sp>
      <p:sp>
        <p:nvSpPr>
          <p:cNvPr id="16" name="Text 14"/>
          <p:cNvSpPr txBox="1"/>
          <p:nvPr/>
        </p:nvSpPr>
        <p:spPr>
          <a:xfrm>
            <a:off x="3749040" y="3950208"/>
            <a:ext cx="1554480" cy="201168"/>
          </a:xfrm>
          <a:prstGeom prst="rect">
            <a:avLst/>
          </a:prstGeom>
          <a:noFill/>
          <a:ln/>
        </p:spPr>
        <p:txBody>
          <a:bodyPr wrap="square" lIns="0" tIns="0" rIns="0" bIns="0" rtlCol="0" anchor="ctr">
            <a:normAutofit/>
          </a:bodyPr>
          <a:lstStyle/>
          <a:p>
            <a:pPr algn="ctr" indent="0" marL="0">
              <a:buNone/>
            </a:pPr>
            <a:r>
              <a:rPr lang="en-US" sz="850" b="1" spc="30" kern="0" dirty="0">
                <a:solidFill>
                  <a:srgbClr val="2F8069"/>
                </a:solidFill>
                <a:latin typeface="Aptos" pitchFamily="34" charset="0"/>
                <a:ea typeface="Aptos" pitchFamily="34" charset="-122"/>
                <a:cs typeface="Aptos" pitchFamily="34" charset="-120"/>
              </a:rPr>
              <a:t>NOT TENANT TESTED</a:t>
            </a:r>
            <a:endParaRPr lang="en-US" sz="850" dirty="0"/>
          </a:p>
        </p:txBody>
      </p:sp>
      <p:sp>
        <p:nvSpPr>
          <p:cNvPr id="17" name="Shape 15"/>
          <p:cNvSpPr/>
          <p:nvPr/>
        </p:nvSpPr>
        <p:spPr>
          <a:xfrm>
            <a:off x="6236208" y="1993392"/>
            <a:ext cx="2624328" cy="2286000"/>
          </a:xfrm>
          <a:prstGeom prst="roundRect">
            <a:avLst>
              <a:gd name="adj" fmla="val 4800"/>
            </a:avLst>
          </a:prstGeom>
          <a:solidFill>
            <a:srgbClr val="FFFFFF"/>
          </a:solidFill>
          <a:ln w="12700">
            <a:solidFill>
              <a:srgbClr val="D7E1DB"/>
            </a:solidFill>
            <a:prstDash val="solid"/>
          </a:ln>
        </p:spPr>
      </p:sp>
      <p:sp>
        <p:nvSpPr>
          <p:cNvPr id="18" name="Shape 16"/>
          <p:cNvSpPr/>
          <p:nvPr/>
        </p:nvSpPr>
        <p:spPr>
          <a:xfrm>
            <a:off x="6236208" y="1993392"/>
            <a:ext cx="54864" cy="2286000"/>
          </a:xfrm>
          <a:prstGeom prst="rect">
            <a:avLst>
              <a:gd name="adj" fmla="val 200000"/>
            </a:avLst>
          </a:prstGeom>
          <a:solidFill>
            <a:srgbClr val="D1A04A"/>
          </a:solidFill>
          <a:ln w="12700">
            <a:solidFill>
              <a:srgbClr val="D1A04A">
                <a:alpha val="0"/>
              </a:srgbClr>
            </a:solidFill>
            <a:prstDash val="solid"/>
          </a:ln>
        </p:spPr>
      </p:sp>
      <p:sp>
        <p:nvSpPr>
          <p:cNvPr id="19" name="Text 17"/>
          <p:cNvSpPr txBox="1"/>
          <p:nvPr/>
        </p:nvSpPr>
        <p:spPr>
          <a:xfrm>
            <a:off x="6437376" y="2157984"/>
            <a:ext cx="2240280" cy="292608"/>
          </a:xfrm>
          <a:prstGeom prst="rect">
            <a:avLst/>
          </a:prstGeom>
          <a:noFill/>
          <a:ln/>
        </p:spPr>
        <p:txBody>
          <a:bodyPr wrap="square" lIns="0" tIns="0" rIns="0" bIns="0" rtlCol="0" anchor="ctr">
            <a:normAutofit/>
          </a:bodyPr>
          <a:lstStyle/>
          <a:p>
            <a:pPr algn="l" indent="0" marL="0">
              <a:buNone/>
            </a:pPr>
            <a:r>
              <a:rPr lang="en-US" sz="1400" b="1" dirty="0">
                <a:solidFill>
                  <a:srgbClr val="17352F"/>
                </a:solidFill>
                <a:latin typeface="Aptos" pitchFamily="34" charset="0"/>
                <a:ea typeface="Aptos" pitchFamily="34" charset="-122"/>
                <a:cs typeface="Aptos" pitchFamily="34" charset="-120"/>
              </a:rPr>
              <a:t>Out-of-office status</a:t>
            </a:r>
            <a:endParaRPr lang="en-US" sz="1400" dirty="0"/>
          </a:p>
        </p:txBody>
      </p:sp>
      <p:sp>
        <p:nvSpPr>
          <p:cNvPr id="20" name="Text 18"/>
          <p:cNvSpPr txBox="1"/>
          <p:nvPr/>
        </p:nvSpPr>
        <p:spPr>
          <a:xfrm>
            <a:off x="6437376" y="2532888"/>
            <a:ext cx="2221992" cy="1627632"/>
          </a:xfrm>
          <a:prstGeom prst="rect">
            <a:avLst/>
          </a:prstGeom>
          <a:noFill/>
          <a:ln/>
        </p:spPr>
        <p:txBody>
          <a:bodyPr wrap="square" lIns="0" tIns="0" rIns="0" bIns="0" rtlCol="0" anchor="t">
            <a:normAutofit/>
          </a:bodyPr>
          <a:lstStyle/>
          <a:p>
            <a:pPr algn="l" indent="0" marL="0">
              <a:buNone/>
            </a:pPr>
            <a:r>
              <a:rPr lang="en-US" sz="1050" dirty="0">
                <a:solidFill>
                  <a:srgbClr val="63756D"/>
                </a:solidFill>
                <a:latin typeface="Aptos" pitchFamily="34" charset="0"/>
                <a:ea typeface="Aptos" pitchFamily="34" charset="-122"/>
                <a:cs typeface="Aptos" pitchFamily="34" charset="-120"/>
              </a:rPr>
              <a:t>Possible future check of the owner's status and dates only. No inbox or message text.</a:t>
            </a:r>
            <a:endParaRPr lang="en-US" sz="1050" dirty="0"/>
          </a:p>
        </p:txBody>
      </p:sp>
      <p:sp>
        <p:nvSpPr>
          <p:cNvPr id="21" name="Shape 19"/>
          <p:cNvSpPr/>
          <p:nvPr/>
        </p:nvSpPr>
        <p:spPr>
          <a:xfrm>
            <a:off x="6446520" y="3913632"/>
            <a:ext cx="1572768" cy="292608"/>
          </a:xfrm>
          <a:prstGeom prst="roundRect">
            <a:avLst>
              <a:gd name="adj" fmla="val 37500"/>
            </a:avLst>
          </a:prstGeom>
          <a:solidFill>
            <a:srgbClr val="FFF3DB"/>
          </a:solidFill>
          <a:ln w="12700">
            <a:solidFill>
              <a:srgbClr val="FFF3DB">
                <a:alpha val="0"/>
              </a:srgbClr>
            </a:solidFill>
            <a:prstDash val="solid"/>
          </a:ln>
        </p:spPr>
      </p:sp>
      <p:sp>
        <p:nvSpPr>
          <p:cNvPr id="22" name="Text 20"/>
          <p:cNvSpPr txBox="1"/>
          <p:nvPr/>
        </p:nvSpPr>
        <p:spPr>
          <a:xfrm>
            <a:off x="6537960" y="3950208"/>
            <a:ext cx="1389888" cy="201168"/>
          </a:xfrm>
          <a:prstGeom prst="rect">
            <a:avLst/>
          </a:prstGeom>
          <a:noFill/>
          <a:ln/>
        </p:spPr>
        <p:txBody>
          <a:bodyPr wrap="square" lIns="0" tIns="0" rIns="0" bIns="0" rtlCol="0" anchor="ctr">
            <a:normAutofit/>
          </a:bodyPr>
          <a:lstStyle/>
          <a:p>
            <a:pPr algn="ctr" indent="0" marL="0">
              <a:buNone/>
            </a:pPr>
            <a:r>
              <a:rPr lang="en-US" sz="850" b="1" spc="30" kern="0" dirty="0">
                <a:solidFill>
                  <a:srgbClr val="956D21"/>
                </a:solidFill>
                <a:latin typeface="Aptos" pitchFamily="34" charset="0"/>
                <a:ea typeface="Aptos" pitchFamily="34" charset="-122"/>
                <a:cs typeface="Aptos" pitchFamily="34" charset="-120"/>
              </a:rPr>
              <a:t>EARLY ADAPTER</a:t>
            </a:r>
            <a:endParaRPr lang="en-US" sz="850" dirty="0"/>
          </a:p>
        </p:txBody>
      </p:sp>
      <p:sp>
        <p:nvSpPr>
          <p:cNvPr id="23" name="Shape 21"/>
          <p:cNvSpPr/>
          <p:nvPr/>
        </p:nvSpPr>
        <p:spPr>
          <a:xfrm>
            <a:off x="9025128" y="1993392"/>
            <a:ext cx="2624328" cy="2286000"/>
          </a:xfrm>
          <a:prstGeom prst="roundRect">
            <a:avLst>
              <a:gd name="adj" fmla="val 4800"/>
            </a:avLst>
          </a:prstGeom>
          <a:solidFill>
            <a:srgbClr val="FFFFFF"/>
          </a:solidFill>
          <a:ln w="12700">
            <a:solidFill>
              <a:srgbClr val="D7E1DB"/>
            </a:solidFill>
            <a:prstDash val="solid"/>
          </a:ln>
        </p:spPr>
      </p:sp>
      <p:sp>
        <p:nvSpPr>
          <p:cNvPr id="24" name="Shape 22"/>
          <p:cNvSpPr/>
          <p:nvPr/>
        </p:nvSpPr>
        <p:spPr>
          <a:xfrm>
            <a:off x="9025128" y="1993392"/>
            <a:ext cx="54864" cy="2286000"/>
          </a:xfrm>
          <a:prstGeom prst="rect">
            <a:avLst>
              <a:gd name="adj" fmla="val 200000"/>
            </a:avLst>
          </a:prstGeom>
          <a:solidFill>
            <a:srgbClr val="E87C65"/>
          </a:solidFill>
          <a:ln w="12700">
            <a:solidFill>
              <a:srgbClr val="E87C65">
                <a:alpha val="0"/>
              </a:srgbClr>
            </a:solidFill>
            <a:prstDash val="solid"/>
          </a:ln>
        </p:spPr>
      </p:sp>
      <p:sp>
        <p:nvSpPr>
          <p:cNvPr id="25" name="Text 23"/>
          <p:cNvSpPr txBox="1"/>
          <p:nvPr/>
        </p:nvSpPr>
        <p:spPr>
          <a:xfrm>
            <a:off x="9226296" y="2157984"/>
            <a:ext cx="2240280" cy="292608"/>
          </a:xfrm>
          <a:prstGeom prst="rect">
            <a:avLst/>
          </a:prstGeom>
          <a:noFill/>
          <a:ln/>
        </p:spPr>
        <p:txBody>
          <a:bodyPr wrap="square" lIns="0" tIns="0" rIns="0" bIns="0" rtlCol="0" anchor="ctr">
            <a:normAutofit/>
          </a:bodyPr>
          <a:lstStyle/>
          <a:p>
            <a:pPr algn="l" indent="0" marL="0">
              <a:buNone/>
            </a:pPr>
            <a:r>
              <a:rPr lang="en-US" sz="1400" b="1" dirty="0">
                <a:solidFill>
                  <a:srgbClr val="17352F"/>
                </a:solidFill>
                <a:latin typeface="Aptos" pitchFamily="34" charset="0"/>
                <a:ea typeface="Aptos" pitchFamily="34" charset="-122"/>
                <a:cs typeface="Aptos" pitchFamily="34" charset="-120"/>
              </a:rPr>
              <a:t>Teams</a:t>
            </a:r>
            <a:endParaRPr lang="en-US" sz="1400" dirty="0"/>
          </a:p>
        </p:txBody>
      </p:sp>
      <p:sp>
        <p:nvSpPr>
          <p:cNvPr id="26" name="Text 24"/>
          <p:cNvSpPr txBox="1"/>
          <p:nvPr/>
        </p:nvSpPr>
        <p:spPr>
          <a:xfrm>
            <a:off x="9226296" y="2532888"/>
            <a:ext cx="2221992" cy="1627632"/>
          </a:xfrm>
          <a:prstGeom prst="rect">
            <a:avLst/>
          </a:prstGeom>
          <a:noFill/>
          <a:ln/>
        </p:spPr>
        <p:txBody>
          <a:bodyPr wrap="square" lIns="0" tIns="0" rIns="0" bIns="0" rtlCol="0" anchor="t">
            <a:normAutofit/>
          </a:bodyPr>
          <a:lstStyle/>
          <a:p>
            <a:pPr algn="l" indent="0" marL="0">
              <a:buNone/>
            </a:pPr>
            <a:r>
              <a:rPr lang="en-US" sz="1050" dirty="0">
                <a:solidFill>
                  <a:srgbClr val="63756D"/>
                </a:solidFill>
                <a:latin typeface="Aptos" pitchFamily="34" charset="0"/>
                <a:ea typeface="Aptos" pitchFamily="34" charset="-122"/>
                <a:cs typeface="Aptos" pitchFamily="34" charset="-120"/>
              </a:rPr>
              <a:t>No bot yet. A future app needs registration, a secure web address and tenant approval.</a:t>
            </a:r>
            <a:endParaRPr lang="en-US" sz="1050" dirty="0"/>
          </a:p>
        </p:txBody>
      </p:sp>
      <p:sp>
        <p:nvSpPr>
          <p:cNvPr id="27" name="Shape 25"/>
          <p:cNvSpPr/>
          <p:nvPr/>
        </p:nvSpPr>
        <p:spPr>
          <a:xfrm>
            <a:off x="9235440" y="3913632"/>
            <a:ext cx="1371600" cy="292608"/>
          </a:xfrm>
          <a:prstGeom prst="roundRect">
            <a:avLst>
              <a:gd name="adj" fmla="val 37500"/>
            </a:avLst>
          </a:prstGeom>
          <a:solidFill>
            <a:srgbClr val="FFF0E9"/>
          </a:solidFill>
          <a:ln w="12700">
            <a:solidFill>
              <a:srgbClr val="FFF0E9">
                <a:alpha val="0"/>
              </a:srgbClr>
            </a:solidFill>
            <a:prstDash val="solid"/>
          </a:ln>
        </p:spPr>
      </p:sp>
      <p:sp>
        <p:nvSpPr>
          <p:cNvPr id="28" name="Text 26"/>
          <p:cNvSpPr txBox="1"/>
          <p:nvPr/>
        </p:nvSpPr>
        <p:spPr>
          <a:xfrm>
            <a:off x="9326880" y="3950208"/>
            <a:ext cx="1188720" cy="201168"/>
          </a:xfrm>
          <a:prstGeom prst="rect">
            <a:avLst/>
          </a:prstGeom>
          <a:noFill/>
          <a:ln/>
        </p:spPr>
        <p:txBody>
          <a:bodyPr wrap="square" lIns="0" tIns="0" rIns="0" bIns="0" rtlCol="0" anchor="ctr">
            <a:normAutofit/>
          </a:bodyPr>
          <a:lstStyle/>
          <a:p>
            <a:pPr algn="ctr" indent="0" marL="0">
              <a:buNone/>
            </a:pPr>
            <a:r>
              <a:rPr lang="en-US" sz="850" b="1" spc="30" kern="0" dirty="0">
                <a:solidFill>
                  <a:srgbClr val="E87C65"/>
                </a:solidFill>
                <a:latin typeface="Aptos" pitchFamily="34" charset="0"/>
                <a:ea typeface="Aptos" pitchFamily="34" charset="-122"/>
                <a:cs typeface="Aptos" pitchFamily="34" charset="-120"/>
              </a:rPr>
              <a:t>FUTURE WORK</a:t>
            </a:r>
            <a:endParaRPr lang="en-US" sz="850" dirty="0"/>
          </a:p>
        </p:txBody>
      </p:sp>
      <p:sp>
        <p:nvSpPr>
          <p:cNvPr id="29" name="Shape 27"/>
          <p:cNvSpPr/>
          <p:nvPr/>
        </p:nvSpPr>
        <p:spPr>
          <a:xfrm>
            <a:off x="685800" y="4709160"/>
            <a:ext cx="10927080" cy="566928"/>
          </a:xfrm>
          <a:prstGeom prst="roundRect">
            <a:avLst>
              <a:gd name="adj" fmla="val 19355"/>
            </a:avLst>
          </a:prstGeom>
          <a:solidFill>
            <a:srgbClr val="17352F"/>
          </a:solidFill>
          <a:ln w="12700">
            <a:solidFill>
              <a:srgbClr val="17352F">
                <a:alpha val="0"/>
              </a:srgbClr>
            </a:solidFill>
            <a:prstDash val="solid"/>
          </a:ln>
        </p:spPr>
      </p:sp>
      <p:sp>
        <p:nvSpPr>
          <p:cNvPr id="30" name="Text 28"/>
          <p:cNvSpPr txBox="1"/>
          <p:nvPr/>
        </p:nvSpPr>
        <p:spPr>
          <a:xfrm>
            <a:off x="914400" y="4882896"/>
            <a:ext cx="10469880" cy="19202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A future file search must use the requester's own Microsoft permissions.</a:t>
            </a:r>
            <a:endParaRPr lang="en-US" sz="1200" dirty="0"/>
          </a:p>
        </p:txBody>
      </p:sp>
      <p:sp>
        <p:nvSpPr>
          <p:cNvPr id="31" name="Text 29"/>
          <p:cNvSpPr txBox="1"/>
          <p:nvPr/>
        </p:nvSpPr>
        <p:spPr>
          <a:xfrm>
            <a:off x="548640" y="6318504"/>
            <a:ext cx="10881360" cy="146304"/>
          </a:xfrm>
          <a:prstGeom prst="rect">
            <a:avLst/>
          </a:prstGeom>
          <a:noFill/>
          <a:ln/>
        </p:spPr>
        <p:txBody>
          <a:bodyPr wrap="square" lIns="0" tIns="0" rIns="0" bIns="0" rtlCol="0" anchor="ctr">
            <a:normAutofit/>
          </a:bodyPr>
          <a:lstStyle/>
          <a:p>
            <a:pPr algn="l" indent="0" marL="0">
              <a:buNone/>
            </a:pPr>
            <a:r>
              <a:rPr lang="en-US" sz="730" dirty="0">
                <a:solidFill>
                  <a:srgbClr val="63756D"/>
                </a:solidFill>
                <a:latin typeface="Aptos" pitchFamily="34" charset="0"/>
                <a:ea typeface="Aptos" pitchFamily="34" charset="-122"/>
                <a:cs typeface="Aptos" pitchFamily="34" charset="-120"/>
              </a:rPr>
              <a:t>Background and research sources are in the speaker notes.</a:t>
            </a:r>
            <a:endParaRPr lang="en-US" sz="730" dirty="0"/>
          </a:p>
        </p:txBody>
      </p:sp>
      <p:sp>
        <p:nvSpPr>
          <p:cNvPr id="25" name="Slide Number Placeholder 0"/>
          <p:cNvSpPr>
            <a:spLocks noGrp="1"/>
          </p:cNvSpPr>
          <p:nvPr>
            <p:ph type="sldNum" sz="quarter" idx="4294967295"/>
          </p:nvPr>
        </p:nvSpPr>
        <p:spPr>
          <a:xfrm>
            <a:off x="11686032"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47C"/>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30352" y="347472"/>
            <a:ext cx="1088136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2F8069"/>
                </a:solidFill>
                <a:latin typeface="Aptos" pitchFamily="34" charset="0"/>
                <a:ea typeface="Aptos" pitchFamily="34" charset="-122"/>
                <a:cs typeface="Aptos" pitchFamily="34" charset="-120"/>
              </a:rPr>
              <a:t>08 / SAFETY</a:t>
            </a:r>
            <a:endParaRPr lang="en-US" sz="900" dirty="0"/>
          </a:p>
        </p:txBody>
      </p:sp>
      <p:sp>
        <p:nvSpPr>
          <p:cNvPr id="3" name="Text 1"/>
          <p:cNvSpPr txBox="1"/>
          <p:nvPr/>
        </p:nvSpPr>
        <p:spPr>
          <a:xfrm>
            <a:off x="530352" y="69494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7352F"/>
                </a:solidFill>
                <a:latin typeface="Aptos Display" pitchFamily="34" charset="0"/>
                <a:ea typeface="Aptos Display" pitchFamily="34" charset="-122"/>
                <a:cs typeface="Aptos Display" pitchFamily="34" charset="-120"/>
              </a:rPr>
              <a:t>The requester keeps control of file access</a:t>
            </a:r>
            <a:endParaRPr lang="en-US" sz="2700" dirty="0"/>
          </a:p>
        </p:txBody>
      </p:sp>
      <p:sp>
        <p:nvSpPr>
          <p:cNvPr id="4" name="Text 2"/>
          <p:cNvSpPr txBox="1"/>
          <p:nvPr/>
        </p:nvSpPr>
        <p:spPr>
          <a:xfrm>
            <a:off x="548640" y="1243584"/>
            <a:ext cx="10972800" cy="347472"/>
          </a:xfrm>
          <a:prstGeom prst="rect">
            <a:avLst/>
          </a:prstGeom>
          <a:noFill/>
          <a:ln/>
        </p:spPr>
        <p:txBody>
          <a:bodyPr wrap="square" lIns="0" tIns="0" rIns="0" bIns="0" rtlCol="0" anchor="ctr">
            <a:normAutofit/>
          </a:bodyPr>
          <a:lstStyle/>
          <a:p>
            <a:pPr algn="l" indent="0" marL="0">
              <a:buNone/>
            </a:pPr>
            <a:r>
              <a:rPr lang="en-US" sz="1250" dirty="0">
                <a:solidFill>
                  <a:srgbClr val="63756D"/>
                </a:solidFill>
                <a:latin typeface="Aptos" pitchFamily="34" charset="0"/>
                <a:ea typeface="Aptos" pitchFamily="34" charset="-122"/>
                <a:cs typeface="Aptos" pitchFamily="34" charset="-120"/>
              </a:rPr>
              <a:t>The owner's permission never unlocks files for another person.</a:t>
            </a:r>
            <a:endParaRPr lang="en-US" sz="1250" dirty="0"/>
          </a:p>
        </p:txBody>
      </p:sp>
      <p:sp>
        <p:nvSpPr>
          <p:cNvPr id="5" name="Shape 3"/>
          <p:cNvSpPr/>
          <p:nvPr/>
        </p:nvSpPr>
        <p:spPr>
          <a:xfrm>
            <a:off x="685800" y="2148840"/>
            <a:ext cx="1874520" cy="1417320"/>
          </a:xfrm>
          <a:prstGeom prst="roundRect">
            <a:avLst>
              <a:gd name="adj" fmla="val 7742"/>
            </a:avLst>
          </a:prstGeom>
          <a:solidFill>
            <a:srgbClr val="FFFFFF"/>
          </a:solidFill>
          <a:ln w="12700">
            <a:solidFill>
              <a:srgbClr val="D7E1DB"/>
            </a:solidFill>
            <a:prstDash val="solid"/>
          </a:ln>
        </p:spPr>
      </p:sp>
      <p:sp>
        <p:nvSpPr>
          <p:cNvPr id="6" name="Text 4"/>
          <p:cNvSpPr txBox="1"/>
          <p:nvPr/>
        </p:nvSpPr>
        <p:spPr>
          <a:xfrm>
            <a:off x="850392" y="2404872"/>
            <a:ext cx="1554480" cy="274320"/>
          </a:xfrm>
          <a:prstGeom prst="rect">
            <a:avLst/>
          </a:prstGeom>
          <a:noFill/>
          <a:ln/>
        </p:spPr>
        <p:txBody>
          <a:bodyPr wrap="square" lIns="0" tIns="0" rIns="0" bIns="0" rtlCol="0" anchor="ctr">
            <a:normAutofit/>
          </a:bodyPr>
          <a:lstStyle/>
          <a:p>
            <a:pPr algn="ctr" indent="0" marL="0">
              <a:buNone/>
            </a:pPr>
            <a:r>
              <a:rPr lang="en-US" sz="1250" b="1" dirty="0">
                <a:solidFill>
                  <a:srgbClr val="17352F"/>
                </a:solidFill>
                <a:latin typeface="Aptos" pitchFamily="34" charset="0"/>
                <a:ea typeface="Aptos" pitchFamily="34" charset="-122"/>
                <a:cs typeface="Aptos" pitchFamily="34" charset="-120"/>
              </a:rPr>
              <a:t>Who is asking?</a:t>
            </a:r>
            <a:endParaRPr lang="en-US" sz="1250" dirty="0"/>
          </a:p>
        </p:txBody>
      </p:sp>
      <p:sp>
        <p:nvSpPr>
          <p:cNvPr id="7" name="Text 5"/>
          <p:cNvSpPr txBox="1"/>
          <p:nvPr/>
        </p:nvSpPr>
        <p:spPr>
          <a:xfrm>
            <a:off x="832104" y="2788920"/>
            <a:ext cx="1581912" cy="530352"/>
          </a:xfrm>
          <a:prstGeom prst="rect">
            <a:avLst/>
          </a:prstGeom>
          <a:noFill/>
          <a:ln/>
        </p:spPr>
        <p:txBody>
          <a:bodyPr wrap="square" lIns="0" tIns="0" rIns="0" bIns="0" rtlCol="0" anchor="t">
            <a:normAutofit/>
          </a:bodyPr>
          <a:lstStyle/>
          <a:p>
            <a:pPr algn="ctr" indent="0" marL="0">
              <a:buNone/>
            </a:pPr>
            <a:r>
              <a:rPr lang="en-US" sz="950" dirty="0">
                <a:solidFill>
                  <a:srgbClr val="63756D"/>
                </a:solidFill>
                <a:latin typeface="Aptos" pitchFamily="34" charset="0"/>
                <a:ea typeface="Aptos" pitchFamily="34" charset="-122"/>
                <a:cs typeface="Aptos" pitchFamily="34" charset="-120"/>
              </a:rPr>
              <a:t>Work identity · project</a:t>
            </a:r>
            <a:endParaRPr lang="en-US" sz="950" dirty="0"/>
          </a:p>
          <a:p>
            <a:pPr algn="ctr" indent="0" marL="0">
              <a:buNone/>
            </a:pPr>
            <a:r>
              <a:rPr lang="en-US" sz="950" dirty="0">
                <a:solidFill>
                  <a:srgbClr val="63756D"/>
                </a:solidFill>
                <a:latin typeface="Aptos" pitchFamily="34" charset="0"/>
                <a:ea typeface="Aptos" pitchFamily="34" charset="-122"/>
                <a:cs typeface="Aptos" pitchFamily="34" charset="-120"/>
              </a:rPr>
              <a:t>question · deadline</a:t>
            </a:r>
            <a:endParaRPr lang="en-US" sz="950" dirty="0"/>
          </a:p>
        </p:txBody>
      </p:sp>
      <p:sp>
        <p:nvSpPr>
          <p:cNvPr id="8" name="Shape 6"/>
          <p:cNvSpPr/>
          <p:nvPr/>
        </p:nvSpPr>
        <p:spPr>
          <a:xfrm>
            <a:off x="2926080" y="2148840"/>
            <a:ext cx="1874520" cy="1417320"/>
          </a:xfrm>
          <a:prstGeom prst="roundRect">
            <a:avLst>
              <a:gd name="adj" fmla="val 7742"/>
            </a:avLst>
          </a:prstGeom>
          <a:solidFill>
            <a:srgbClr val="E8F1EC"/>
          </a:solidFill>
          <a:ln w="12700">
            <a:solidFill>
              <a:srgbClr val="D7E1DB"/>
            </a:solidFill>
            <a:prstDash val="solid"/>
          </a:ln>
        </p:spPr>
      </p:sp>
      <p:sp>
        <p:nvSpPr>
          <p:cNvPr id="9" name="Text 7"/>
          <p:cNvSpPr txBox="1"/>
          <p:nvPr/>
        </p:nvSpPr>
        <p:spPr>
          <a:xfrm>
            <a:off x="3090672" y="2404872"/>
            <a:ext cx="1554480" cy="274320"/>
          </a:xfrm>
          <a:prstGeom prst="rect">
            <a:avLst/>
          </a:prstGeom>
          <a:noFill/>
          <a:ln/>
        </p:spPr>
        <p:txBody>
          <a:bodyPr wrap="square" lIns="0" tIns="0" rIns="0" bIns="0" rtlCol="0" anchor="ctr">
            <a:normAutofit/>
          </a:bodyPr>
          <a:lstStyle/>
          <a:p>
            <a:pPr algn="ctr" indent="0" marL="0">
              <a:buNone/>
            </a:pPr>
            <a:r>
              <a:rPr lang="en-US" sz="1250" b="1" dirty="0">
                <a:solidFill>
                  <a:srgbClr val="17352F"/>
                </a:solidFill>
                <a:latin typeface="Aptos" pitchFamily="34" charset="0"/>
                <a:ea typeface="Aptos" pitchFamily="34" charset="-122"/>
                <a:cs typeface="Aptos" pitchFamily="34" charset="-120"/>
              </a:rPr>
              <a:t>What did owner allow?</a:t>
            </a:r>
            <a:endParaRPr lang="en-US" sz="1250" dirty="0"/>
          </a:p>
        </p:txBody>
      </p:sp>
      <p:sp>
        <p:nvSpPr>
          <p:cNvPr id="10" name="Text 8"/>
          <p:cNvSpPr txBox="1"/>
          <p:nvPr/>
        </p:nvSpPr>
        <p:spPr>
          <a:xfrm>
            <a:off x="3072384" y="2788920"/>
            <a:ext cx="1581912" cy="530352"/>
          </a:xfrm>
          <a:prstGeom prst="rect">
            <a:avLst/>
          </a:prstGeom>
          <a:noFill/>
          <a:ln/>
        </p:spPr>
        <p:txBody>
          <a:bodyPr wrap="square" lIns="0" tIns="0" rIns="0" bIns="0" rtlCol="0" anchor="t">
            <a:normAutofit/>
          </a:bodyPr>
          <a:lstStyle/>
          <a:p>
            <a:pPr algn="ctr" indent="0" marL="0">
              <a:buNone/>
            </a:pPr>
            <a:r>
              <a:rPr lang="en-US" sz="950" dirty="0">
                <a:solidFill>
                  <a:srgbClr val="63756D"/>
                </a:solidFill>
                <a:latin typeface="Aptos" pitchFamily="34" charset="0"/>
                <a:ea typeface="Aptos" pitchFamily="34" charset="-122"/>
                <a:cs typeface="Aptos" pitchFamily="34" charset="-120"/>
              </a:rPr>
              <a:t>Dates · topic</a:t>
            </a:r>
            <a:endParaRPr lang="en-US" sz="950" dirty="0"/>
          </a:p>
          <a:p>
            <a:pPr algn="ctr" indent="0" marL="0">
              <a:buNone/>
            </a:pPr>
            <a:r>
              <a:rPr lang="en-US" sz="950" dirty="0">
                <a:solidFill>
                  <a:srgbClr val="63756D"/>
                </a:solidFill>
                <a:latin typeface="Aptos" pitchFamily="34" charset="0"/>
                <a:ea typeface="Aptos" pitchFamily="34" charset="-122"/>
                <a:cs typeface="Aptos" pitchFamily="34" charset="-120"/>
              </a:rPr>
              <a:t>people · files</a:t>
            </a:r>
            <a:endParaRPr lang="en-US" sz="950" dirty="0"/>
          </a:p>
        </p:txBody>
      </p:sp>
      <p:sp>
        <p:nvSpPr>
          <p:cNvPr id="11" name="Shape 9"/>
          <p:cNvSpPr/>
          <p:nvPr/>
        </p:nvSpPr>
        <p:spPr>
          <a:xfrm>
            <a:off x="5166360" y="2148840"/>
            <a:ext cx="1874520" cy="1417320"/>
          </a:xfrm>
          <a:prstGeom prst="roundRect">
            <a:avLst>
              <a:gd name="adj" fmla="val 7742"/>
            </a:avLst>
          </a:prstGeom>
          <a:solidFill>
            <a:srgbClr val="FFFFFF"/>
          </a:solidFill>
          <a:ln w="12700">
            <a:solidFill>
              <a:srgbClr val="D7E1DB"/>
            </a:solidFill>
            <a:prstDash val="solid"/>
          </a:ln>
        </p:spPr>
      </p:sp>
      <p:sp>
        <p:nvSpPr>
          <p:cNvPr id="12" name="Text 10"/>
          <p:cNvSpPr txBox="1"/>
          <p:nvPr/>
        </p:nvSpPr>
        <p:spPr>
          <a:xfrm>
            <a:off x="5330952" y="2404872"/>
            <a:ext cx="1554480" cy="274320"/>
          </a:xfrm>
          <a:prstGeom prst="rect">
            <a:avLst/>
          </a:prstGeom>
          <a:noFill/>
          <a:ln/>
        </p:spPr>
        <p:txBody>
          <a:bodyPr wrap="square" lIns="0" tIns="0" rIns="0" bIns="0" rtlCol="0" anchor="ctr">
            <a:normAutofit/>
          </a:bodyPr>
          <a:lstStyle/>
          <a:p>
            <a:pPr algn="ctr" indent="0" marL="0">
              <a:buNone/>
            </a:pPr>
            <a:r>
              <a:rPr lang="en-US" sz="1250" b="1" dirty="0">
                <a:solidFill>
                  <a:srgbClr val="17352F"/>
                </a:solidFill>
                <a:latin typeface="Aptos" pitchFamily="34" charset="0"/>
                <a:ea typeface="Aptos" pitchFamily="34" charset="-122"/>
                <a:cs typeface="Aptos" pitchFamily="34" charset="-120"/>
              </a:rPr>
              <a:t>Can asker open file?</a:t>
            </a:r>
            <a:endParaRPr lang="en-US" sz="1250" dirty="0"/>
          </a:p>
        </p:txBody>
      </p:sp>
      <p:sp>
        <p:nvSpPr>
          <p:cNvPr id="13" name="Text 11"/>
          <p:cNvSpPr txBox="1"/>
          <p:nvPr/>
        </p:nvSpPr>
        <p:spPr>
          <a:xfrm>
            <a:off x="5312664" y="2788920"/>
            <a:ext cx="1581912" cy="530352"/>
          </a:xfrm>
          <a:prstGeom prst="rect">
            <a:avLst/>
          </a:prstGeom>
          <a:noFill/>
          <a:ln/>
        </p:spPr>
        <p:txBody>
          <a:bodyPr wrap="square" lIns="0" tIns="0" rIns="0" bIns="0" rtlCol="0" anchor="t">
            <a:normAutofit/>
          </a:bodyPr>
          <a:lstStyle/>
          <a:p>
            <a:pPr algn="ctr" indent="0" marL="0">
              <a:buNone/>
            </a:pPr>
            <a:r>
              <a:rPr lang="en-US" sz="950" dirty="0">
                <a:solidFill>
                  <a:srgbClr val="63756D"/>
                </a:solidFill>
                <a:latin typeface="Aptos" pitchFamily="34" charset="0"/>
                <a:ea typeface="Aptos" pitchFamily="34" charset="-122"/>
                <a:cs typeface="Aptos" pitchFamily="34" charset="-120"/>
              </a:rPr>
              <a:t>Project access</a:t>
            </a:r>
            <a:endParaRPr lang="en-US" sz="950" dirty="0"/>
          </a:p>
          <a:p>
            <a:pPr algn="ctr" indent="0" marL="0">
              <a:buNone/>
            </a:pPr>
            <a:r>
              <a:rPr lang="en-US" sz="950" dirty="0">
                <a:solidFill>
                  <a:srgbClr val="63756D"/>
                </a:solidFill>
                <a:latin typeface="Aptos" pitchFamily="34" charset="0"/>
                <a:ea typeface="Aptos" pitchFamily="34" charset="-122"/>
                <a:cs typeface="Aptos" pitchFamily="34" charset="-120"/>
              </a:rPr>
              <a:t>file permissions</a:t>
            </a:r>
            <a:endParaRPr lang="en-US" sz="950" dirty="0"/>
          </a:p>
        </p:txBody>
      </p:sp>
      <p:sp>
        <p:nvSpPr>
          <p:cNvPr id="14" name="Shape 12"/>
          <p:cNvSpPr/>
          <p:nvPr/>
        </p:nvSpPr>
        <p:spPr>
          <a:xfrm>
            <a:off x="7406640" y="2148840"/>
            <a:ext cx="1874520" cy="1417320"/>
          </a:xfrm>
          <a:prstGeom prst="roundRect">
            <a:avLst>
              <a:gd name="adj" fmla="val 7742"/>
            </a:avLst>
          </a:prstGeom>
          <a:solidFill>
            <a:srgbClr val="E8F1EC"/>
          </a:solidFill>
          <a:ln w="12700">
            <a:solidFill>
              <a:srgbClr val="D7E1DB"/>
            </a:solidFill>
            <a:prstDash val="solid"/>
          </a:ln>
        </p:spPr>
      </p:sp>
      <p:sp>
        <p:nvSpPr>
          <p:cNvPr id="15" name="Text 13"/>
          <p:cNvSpPr txBox="1"/>
          <p:nvPr/>
        </p:nvSpPr>
        <p:spPr>
          <a:xfrm>
            <a:off x="7571232" y="2404872"/>
            <a:ext cx="1554480" cy="274320"/>
          </a:xfrm>
          <a:prstGeom prst="rect">
            <a:avLst/>
          </a:prstGeom>
          <a:noFill/>
          <a:ln/>
        </p:spPr>
        <p:txBody>
          <a:bodyPr wrap="square" lIns="0" tIns="0" rIns="0" bIns="0" rtlCol="0" anchor="ctr">
            <a:normAutofit/>
          </a:bodyPr>
          <a:lstStyle/>
          <a:p>
            <a:pPr algn="ctr" indent="0" marL="0">
              <a:buNone/>
            </a:pPr>
            <a:r>
              <a:rPr lang="en-US" sz="1250" b="1" dirty="0">
                <a:solidFill>
                  <a:srgbClr val="17352F"/>
                </a:solidFill>
                <a:latin typeface="Aptos" pitchFamily="34" charset="0"/>
                <a:ea typeface="Aptos" pitchFamily="34" charset="-122"/>
                <a:cs typeface="Aptos" pitchFamily="34" charset="-120"/>
              </a:rPr>
              <a:t>Does source answer?</a:t>
            </a:r>
            <a:endParaRPr lang="en-US" sz="1250" dirty="0"/>
          </a:p>
        </p:txBody>
      </p:sp>
      <p:sp>
        <p:nvSpPr>
          <p:cNvPr id="16" name="Text 14"/>
          <p:cNvSpPr txBox="1"/>
          <p:nvPr/>
        </p:nvSpPr>
        <p:spPr>
          <a:xfrm>
            <a:off x="7552944" y="2788920"/>
            <a:ext cx="1581912" cy="530352"/>
          </a:xfrm>
          <a:prstGeom prst="rect">
            <a:avLst/>
          </a:prstGeom>
          <a:noFill/>
          <a:ln/>
        </p:spPr>
        <p:txBody>
          <a:bodyPr wrap="square" lIns="0" tIns="0" rIns="0" bIns="0" rtlCol="0" anchor="t">
            <a:normAutofit/>
          </a:bodyPr>
          <a:lstStyle/>
          <a:p>
            <a:pPr algn="ctr" indent="0" marL="0">
              <a:buNone/>
            </a:pPr>
            <a:r>
              <a:rPr lang="en-US" sz="950" dirty="0">
                <a:solidFill>
                  <a:srgbClr val="63756D"/>
                </a:solidFill>
                <a:latin typeface="Aptos" pitchFamily="34" charset="0"/>
                <a:ea typeface="Aptos" pitchFamily="34" charset="-122"/>
                <a:cs typeface="Aptos" pitchFamily="34" charset="-120"/>
              </a:rPr>
              <a:t>Approved file</a:t>
            </a:r>
            <a:endParaRPr lang="en-US" sz="950" dirty="0"/>
          </a:p>
          <a:p>
            <a:pPr algn="ctr" indent="0" marL="0">
              <a:buNone/>
            </a:pPr>
            <a:r>
              <a:rPr lang="en-US" sz="950" dirty="0">
                <a:solidFill>
                  <a:srgbClr val="63756D"/>
                </a:solidFill>
                <a:latin typeface="Aptos" pitchFamily="34" charset="0"/>
                <a:ea typeface="Aptos" pitchFamily="34" charset="-122"/>
                <a:cs typeface="Aptos" pitchFamily="34" charset="-120"/>
              </a:rPr>
              <a:t>missing · conflict</a:t>
            </a:r>
            <a:endParaRPr lang="en-US" sz="950" dirty="0"/>
          </a:p>
        </p:txBody>
      </p:sp>
      <p:sp>
        <p:nvSpPr>
          <p:cNvPr id="17" name="Shape 15"/>
          <p:cNvSpPr/>
          <p:nvPr/>
        </p:nvSpPr>
        <p:spPr>
          <a:xfrm>
            <a:off x="9646920" y="2148840"/>
            <a:ext cx="1874520" cy="1417320"/>
          </a:xfrm>
          <a:prstGeom prst="roundRect">
            <a:avLst>
              <a:gd name="adj" fmla="val 7742"/>
            </a:avLst>
          </a:prstGeom>
          <a:solidFill>
            <a:srgbClr val="FFFFFF"/>
          </a:solidFill>
          <a:ln w="12700">
            <a:solidFill>
              <a:srgbClr val="D7E1DB"/>
            </a:solidFill>
            <a:prstDash val="solid"/>
          </a:ln>
        </p:spPr>
      </p:sp>
      <p:sp>
        <p:nvSpPr>
          <p:cNvPr id="18" name="Text 16"/>
          <p:cNvSpPr txBox="1"/>
          <p:nvPr/>
        </p:nvSpPr>
        <p:spPr>
          <a:xfrm>
            <a:off x="9811512" y="2404872"/>
            <a:ext cx="1554480" cy="274320"/>
          </a:xfrm>
          <a:prstGeom prst="rect">
            <a:avLst/>
          </a:prstGeom>
          <a:noFill/>
          <a:ln/>
        </p:spPr>
        <p:txBody>
          <a:bodyPr wrap="square" lIns="0" tIns="0" rIns="0" bIns="0" rtlCol="0" anchor="ctr">
            <a:normAutofit/>
          </a:bodyPr>
          <a:lstStyle/>
          <a:p>
            <a:pPr algn="ctr" indent="0" marL="0">
              <a:buNone/>
            </a:pPr>
            <a:r>
              <a:rPr lang="en-US" sz="1250" b="1" dirty="0">
                <a:solidFill>
                  <a:srgbClr val="17352F"/>
                </a:solidFill>
                <a:latin typeface="Aptos" pitchFamily="34" charset="0"/>
                <a:ea typeface="Aptos" pitchFamily="34" charset="-122"/>
                <a:cs typeface="Aptos" pitchFamily="34" charset="-120"/>
              </a:rPr>
              <a:t>What happens next?</a:t>
            </a:r>
            <a:endParaRPr lang="en-US" sz="1250" dirty="0"/>
          </a:p>
        </p:txBody>
      </p:sp>
      <p:sp>
        <p:nvSpPr>
          <p:cNvPr id="19" name="Text 17"/>
          <p:cNvSpPr txBox="1"/>
          <p:nvPr/>
        </p:nvSpPr>
        <p:spPr>
          <a:xfrm>
            <a:off x="9793224" y="2788920"/>
            <a:ext cx="1581912" cy="530352"/>
          </a:xfrm>
          <a:prstGeom prst="rect">
            <a:avLst/>
          </a:prstGeom>
          <a:noFill/>
          <a:ln/>
        </p:spPr>
        <p:txBody>
          <a:bodyPr wrap="square" lIns="0" tIns="0" rIns="0" bIns="0" rtlCol="0" anchor="t">
            <a:normAutofit/>
          </a:bodyPr>
          <a:lstStyle/>
          <a:p>
            <a:pPr algn="ctr" indent="0" marL="0">
              <a:buNone/>
            </a:pPr>
            <a:r>
              <a:rPr lang="en-US" sz="950" dirty="0">
                <a:solidFill>
                  <a:srgbClr val="63756D"/>
                </a:solidFill>
                <a:latin typeface="Aptos" pitchFamily="34" charset="0"/>
                <a:ea typeface="Aptos" pitchFamily="34" charset="-122"/>
                <a:cs typeface="Aptos" pitchFamily="34" charset="-120"/>
              </a:rPr>
              <a:t>Show source</a:t>
            </a:r>
            <a:endParaRPr lang="en-US" sz="950" dirty="0"/>
          </a:p>
          <a:p>
            <a:pPr algn="ctr" indent="0" marL="0">
              <a:buNone/>
            </a:pPr>
            <a:r>
              <a:rPr lang="en-US" sz="950" dirty="0">
                <a:solidFill>
                  <a:srgbClr val="63756D"/>
                </a:solidFill>
                <a:latin typeface="Aptos" pitchFamily="34" charset="0"/>
                <a:ea typeface="Aptos" pitchFamily="34" charset="-122"/>
                <a:cs typeface="Aptos" pitchFamily="34" charset="-120"/>
              </a:rPr>
              <a:t>deny · ask human</a:t>
            </a:r>
            <a:endParaRPr lang="en-US" sz="950" dirty="0"/>
          </a:p>
        </p:txBody>
      </p:sp>
      <p:sp>
        <p:nvSpPr>
          <p:cNvPr id="20" name="Shape 18"/>
          <p:cNvSpPr/>
          <p:nvPr/>
        </p:nvSpPr>
        <p:spPr>
          <a:xfrm>
            <a:off x="2587752" y="2852928"/>
            <a:ext cx="283464" cy="0"/>
          </a:xfrm>
          <a:prstGeom prst="line">
            <a:avLst/>
          </a:prstGeom>
          <a:noFill/>
          <a:ln w="17780">
            <a:solidFill>
              <a:srgbClr val="2F8069"/>
            </a:solidFill>
            <a:prstDash val="solid"/>
            <a:tailEnd type="triangle"/>
          </a:ln>
        </p:spPr>
      </p:sp>
      <p:sp>
        <p:nvSpPr>
          <p:cNvPr id="21" name="Shape 19"/>
          <p:cNvSpPr/>
          <p:nvPr/>
        </p:nvSpPr>
        <p:spPr>
          <a:xfrm>
            <a:off x="4828032" y="2852928"/>
            <a:ext cx="283464" cy="0"/>
          </a:xfrm>
          <a:prstGeom prst="line">
            <a:avLst/>
          </a:prstGeom>
          <a:noFill/>
          <a:ln w="17780">
            <a:solidFill>
              <a:srgbClr val="2F8069"/>
            </a:solidFill>
            <a:prstDash val="solid"/>
            <a:tailEnd type="triangle"/>
          </a:ln>
        </p:spPr>
      </p:sp>
      <p:sp>
        <p:nvSpPr>
          <p:cNvPr id="22" name="Shape 20"/>
          <p:cNvSpPr/>
          <p:nvPr/>
        </p:nvSpPr>
        <p:spPr>
          <a:xfrm>
            <a:off x="7068312" y="2852928"/>
            <a:ext cx="283464" cy="0"/>
          </a:xfrm>
          <a:prstGeom prst="line">
            <a:avLst/>
          </a:prstGeom>
          <a:noFill/>
          <a:ln w="17780">
            <a:solidFill>
              <a:srgbClr val="2F8069"/>
            </a:solidFill>
            <a:prstDash val="solid"/>
            <a:tailEnd type="triangle"/>
          </a:ln>
        </p:spPr>
      </p:sp>
      <p:sp>
        <p:nvSpPr>
          <p:cNvPr id="23" name="Shape 21"/>
          <p:cNvSpPr/>
          <p:nvPr/>
        </p:nvSpPr>
        <p:spPr>
          <a:xfrm>
            <a:off x="9308592" y="2852928"/>
            <a:ext cx="283464" cy="0"/>
          </a:xfrm>
          <a:prstGeom prst="line">
            <a:avLst/>
          </a:prstGeom>
          <a:noFill/>
          <a:ln w="17780">
            <a:solidFill>
              <a:srgbClr val="2F8069"/>
            </a:solidFill>
            <a:prstDash val="solid"/>
            <a:tailEnd type="triangle"/>
          </a:ln>
        </p:spPr>
      </p:sp>
      <p:sp>
        <p:nvSpPr>
          <p:cNvPr id="24" name="Shape 22"/>
          <p:cNvSpPr/>
          <p:nvPr/>
        </p:nvSpPr>
        <p:spPr>
          <a:xfrm>
            <a:off x="685800" y="4160520"/>
            <a:ext cx="4937760" cy="1051560"/>
          </a:xfrm>
          <a:prstGeom prst="roundRect">
            <a:avLst>
              <a:gd name="adj" fmla="val 10435"/>
            </a:avLst>
          </a:prstGeom>
          <a:solidFill>
            <a:srgbClr val="FFF0E9"/>
          </a:solidFill>
          <a:ln w="12700">
            <a:solidFill>
              <a:srgbClr val="FFF0E9">
                <a:alpha val="0"/>
              </a:srgbClr>
            </a:solidFill>
            <a:prstDash val="solid"/>
          </a:ln>
        </p:spPr>
      </p:sp>
      <p:sp>
        <p:nvSpPr>
          <p:cNvPr id="25" name="Text 23"/>
          <p:cNvSpPr txBox="1"/>
          <p:nvPr/>
        </p:nvSpPr>
        <p:spPr>
          <a:xfrm>
            <a:off x="941832" y="4389120"/>
            <a:ext cx="1463040" cy="256032"/>
          </a:xfrm>
          <a:prstGeom prst="rect">
            <a:avLst/>
          </a:prstGeom>
          <a:noFill/>
          <a:ln/>
        </p:spPr>
        <p:txBody>
          <a:bodyPr wrap="square" lIns="0" tIns="0" rIns="0" bIns="0" rtlCol="0" anchor="ctr">
            <a:normAutofit/>
          </a:bodyPr>
          <a:lstStyle/>
          <a:p>
            <a:pPr algn="l" indent="0" marL="0">
              <a:buNone/>
            </a:pPr>
            <a:r>
              <a:rPr lang="en-US" sz="1300" b="1" dirty="0">
                <a:solidFill>
                  <a:srgbClr val="E87C65"/>
                </a:solidFill>
                <a:latin typeface="Aptos" pitchFamily="34" charset="0"/>
                <a:ea typeface="Aptos" pitchFamily="34" charset="-122"/>
                <a:cs typeface="Aptos" pitchFamily="34" charset="-120"/>
              </a:rPr>
              <a:t>If access is denied</a:t>
            </a:r>
            <a:endParaRPr lang="en-US" sz="1300" dirty="0"/>
          </a:p>
        </p:txBody>
      </p:sp>
      <p:sp>
        <p:nvSpPr>
          <p:cNvPr id="26" name="Text 24"/>
          <p:cNvSpPr txBox="1"/>
          <p:nvPr/>
        </p:nvSpPr>
        <p:spPr>
          <a:xfrm>
            <a:off x="2423160" y="4352544"/>
            <a:ext cx="2880360" cy="384048"/>
          </a:xfrm>
          <a:prstGeom prst="rect">
            <a:avLst/>
          </a:prstGeom>
          <a:noFill/>
          <a:ln/>
        </p:spPr>
        <p:txBody>
          <a:bodyPr wrap="square" lIns="0" tIns="0" rIns="0" bIns="0" rtlCol="0" anchor="ctr">
            <a:normAutofit/>
          </a:bodyPr>
          <a:lstStyle/>
          <a:p>
            <a:pPr algn="l" indent="0" marL="0">
              <a:buNone/>
            </a:pPr>
            <a:r>
              <a:rPr lang="en-US" sz="1050" dirty="0">
                <a:solidFill>
                  <a:srgbClr val="24342F"/>
                </a:solidFill>
                <a:latin typeface="Aptos" pitchFamily="34" charset="0"/>
                <a:ea typeface="Aptos" pitchFamily="34" charset="-122"/>
                <a:cs typeface="Aptos" pitchFamily="34" charset="-120"/>
              </a:rPr>
              <a:t>Give no file name, content or clue that it exists.</a:t>
            </a:r>
            <a:endParaRPr lang="en-US" sz="1050" dirty="0"/>
          </a:p>
        </p:txBody>
      </p:sp>
      <p:sp>
        <p:nvSpPr>
          <p:cNvPr id="27" name="Shape 25"/>
          <p:cNvSpPr/>
          <p:nvPr/>
        </p:nvSpPr>
        <p:spPr>
          <a:xfrm>
            <a:off x="5925312" y="4160520"/>
            <a:ext cx="5596128" cy="1051560"/>
          </a:xfrm>
          <a:prstGeom prst="roundRect">
            <a:avLst>
              <a:gd name="adj" fmla="val 10435"/>
            </a:avLst>
          </a:prstGeom>
          <a:solidFill>
            <a:srgbClr val="17352F"/>
          </a:solidFill>
          <a:ln w="12700">
            <a:solidFill>
              <a:srgbClr val="17352F">
                <a:alpha val="0"/>
              </a:srgbClr>
            </a:solidFill>
            <a:prstDash val="solid"/>
          </a:ln>
        </p:spPr>
      </p:sp>
      <p:sp>
        <p:nvSpPr>
          <p:cNvPr id="28" name="Text 26"/>
          <p:cNvSpPr txBox="1"/>
          <p:nvPr/>
        </p:nvSpPr>
        <p:spPr>
          <a:xfrm>
            <a:off x="6199632" y="4389120"/>
            <a:ext cx="1280160" cy="256032"/>
          </a:xfrm>
          <a:prstGeom prst="rect">
            <a:avLst/>
          </a:prstGeom>
          <a:noFill/>
          <a:ln/>
        </p:spPr>
        <p:txBody>
          <a:bodyPr wrap="square" lIns="0" tIns="0" rIns="0" bIns="0" rtlCol="0" anchor="ctr">
            <a:normAutofit/>
          </a:bodyPr>
          <a:lstStyle/>
          <a:p>
            <a:pPr algn="l" indent="0" marL="0">
              <a:buNone/>
            </a:pPr>
            <a:r>
              <a:rPr lang="en-US" sz="1300" b="1" dirty="0">
                <a:solidFill>
                  <a:srgbClr val="BFE7D6"/>
                </a:solidFill>
                <a:latin typeface="Aptos" pitchFamily="34" charset="0"/>
                <a:ea typeface="Aptos" pitchFamily="34" charset="-122"/>
                <a:cs typeface="Aptos" pitchFamily="34" charset="-120"/>
              </a:rPr>
              <a:t>Audit trail</a:t>
            </a:r>
            <a:endParaRPr lang="en-US" sz="1300" dirty="0"/>
          </a:p>
        </p:txBody>
      </p:sp>
      <p:sp>
        <p:nvSpPr>
          <p:cNvPr id="29" name="Text 27"/>
          <p:cNvSpPr txBox="1"/>
          <p:nvPr/>
        </p:nvSpPr>
        <p:spPr>
          <a:xfrm>
            <a:off x="7635240" y="4352544"/>
            <a:ext cx="3520440" cy="384048"/>
          </a:xfrm>
          <a:prstGeom prst="rect">
            <a:avLst/>
          </a:prstGeom>
          <a:noFill/>
          <a:ln/>
        </p:spPr>
        <p:txBody>
          <a:bodyPr wrap="square" lIns="0" tIns="0" rIns="0" bIns="0" rtlCol="0" anchor="ctr">
            <a:normAutofit/>
          </a:bodyPr>
          <a:lstStyle/>
          <a:p>
            <a:pPr algn="l" indent="0" marL="0">
              <a:buNone/>
            </a:pPr>
            <a:r>
              <a:rPr lang="en-US" sz="1050" dirty="0">
                <a:solidFill>
                  <a:srgbClr val="FFFFFF"/>
                </a:solidFill>
                <a:latin typeface="Aptos" pitchFamily="34" charset="0"/>
                <a:ea typeface="Aptos" pitchFamily="34" charset="-122"/>
                <a:cs typeface="Aptos" pitchFamily="34" charset="-120"/>
              </a:rPr>
              <a:t>Record the owner's choice, file check, source and result.</a:t>
            </a:r>
            <a:endParaRPr lang="en-US" sz="1050" dirty="0"/>
          </a:p>
        </p:txBody>
      </p:sp>
      <p:sp>
        <p:nvSpPr>
          <p:cNvPr id="30" name="Text 28"/>
          <p:cNvSpPr txBox="1"/>
          <p:nvPr/>
        </p:nvSpPr>
        <p:spPr>
          <a:xfrm>
            <a:off x="749808" y="5596128"/>
            <a:ext cx="10744200" cy="347472"/>
          </a:xfrm>
          <a:prstGeom prst="rect">
            <a:avLst/>
          </a:prstGeom>
          <a:noFill/>
          <a:ln/>
        </p:spPr>
        <p:txBody>
          <a:bodyPr wrap="square" lIns="0" tIns="0" rIns="0" bIns="0" rtlCol="0" anchor="ctr">
            <a:normAutofit/>
          </a:bodyPr>
          <a:lstStyle/>
          <a:p>
            <a:pPr algn="ctr" indent="0" marL="0">
              <a:buNone/>
            </a:pPr>
            <a:r>
              <a:rPr lang="en-US" sz="1000" b="1" dirty="0">
                <a:solidFill>
                  <a:srgbClr val="63756D"/>
                </a:solidFill>
                <a:latin typeface="Aptos" pitchFamily="34" charset="0"/>
                <a:ea typeface="Aptos" pitchFamily="34" charset="-122"/>
                <a:cs typeface="Aptos" pitchFamily="34" charset="-120"/>
              </a:rPr>
              <a:t>Not built for production yet: encrypted storage, deletion controls, real file labels, multi-server safety or independent security review.</a:t>
            </a:r>
            <a:endParaRPr lang="en-US" sz="1000" dirty="0"/>
          </a:p>
        </p:txBody>
      </p:sp>
      <p:sp>
        <p:nvSpPr>
          <p:cNvPr id="31" name="Text 29"/>
          <p:cNvSpPr txBox="1"/>
          <p:nvPr/>
        </p:nvSpPr>
        <p:spPr>
          <a:xfrm>
            <a:off x="548640" y="6318504"/>
            <a:ext cx="10881360" cy="146304"/>
          </a:xfrm>
          <a:prstGeom prst="rect">
            <a:avLst/>
          </a:prstGeom>
          <a:noFill/>
          <a:ln/>
        </p:spPr>
        <p:txBody>
          <a:bodyPr wrap="square" lIns="0" tIns="0" rIns="0" bIns="0" rtlCol="0" anchor="ctr">
            <a:normAutofit/>
          </a:bodyPr>
          <a:lstStyle/>
          <a:p>
            <a:pPr algn="l" indent="0" marL="0">
              <a:buNone/>
            </a:pPr>
            <a:r>
              <a:rPr lang="en-US" sz="730" dirty="0">
                <a:solidFill>
                  <a:srgbClr val="63756D"/>
                </a:solidFill>
                <a:latin typeface="Aptos" pitchFamily="34" charset="0"/>
                <a:ea typeface="Aptos" pitchFamily="34" charset="-122"/>
                <a:cs typeface="Aptos" pitchFamily="34" charset="-120"/>
              </a:rPr>
              <a:t>Background and research sources are in the speaker notes.</a:t>
            </a:r>
            <a:endParaRPr lang="en-US" sz="730" dirty="0"/>
          </a:p>
        </p:txBody>
      </p:sp>
      <p:sp>
        <p:nvSpPr>
          <p:cNvPr id="25" name="Slide Number Placeholder 0"/>
          <p:cNvSpPr>
            <a:spLocks noGrp="1"/>
          </p:cNvSpPr>
          <p:nvPr>
            <p:ph type="sldNum" sz="quarter" idx="4294967295"/>
          </p:nvPr>
        </p:nvSpPr>
        <p:spPr>
          <a:xfrm>
            <a:off x="11686032"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47C"/>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30352" y="347472"/>
            <a:ext cx="1088136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2F8069"/>
                </a:solidFill>
                <a:latin typeface="Aptos" pitchFamily="34" charset="0"/>
                <a:ea typeface="Aptos" pitchFamily="34" charset="-122"/>
                <a:cs typeface="Aptos" pitchFamily="34" charset="-120"/>
              </a:rPr>
              <a:t>09 / WORKING DEMO</a:t>
            </a:r>
            <a:endParaRPr lang="en-US" sz="900" dirty="0"/>
          </a:p>
        </p:txBody>
      </p:sp>
      <p:sp>
        <p:nvSpPr>
          <p:cNvPr id="3" name="Text 1"/>
          <p:cNvSpPr txBox="1"/>
          <p:nvPr/>
        </p:nvSpPr>
        <p:spPr>
          <a:xfrm>
            <a:off x="530352" y="69494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7352F"/>
                </a:solidFill>
                <a:latin typeface="Aptos Display" pitchFamily="34" charset="0"/>
                <a:ea typeface="Aptos Display" pitchFamily="34" charset="-122"/>
                <a:cs typeface="Aptos Display" pitchFamily="34" charset="-120"/>
              </a:rPr>
              <a:t>A real local app with fictional data</a:t>
            </a:r>
            <a:endParaRPr lang="en-US" sz="2700" dirty="0"/>
          </a:p>
        </p:txBody>
      </p:sp>
      <p:sp>
        <p:nvSpPr>
          <p:cNvPr id="4" name="Text 2"/>
          <p:cNvSpPr txBox="1"/>
          <p:nvPr/>
        </p:nvSpPr>
        <p:spPr>
          <a:xfrm>
            <a:off x="548640" y="1243584"/>
            <a:ext cx="10972800" cy="347472"/>
          </a:xfrm>
          <a:prstGeom prst="rect">
            <a:avLst/>
          </a:prstGeom>
          <a:noFill/>
          <a:ln/>
        </p:spPr>
        <p:txBody>
          <a:bodyPr wrap="square" lIns="0" tIns="0" rIns="0" bIns="0" rtlCol="0" anchor="ctr">
            <a:normAutofit/>
          </a:bodyPr>
          <a:lstStyle/>
          <a:p>
            <a:pPr algn="l" indent="0" marL="0">
              <a:buNone/>
            </a:pPr>
            <a:r>
              <a:rPr lang="en-US" sz="1250" dirty="0">
                <a:solidFill>
                  <a:srgbClr val="63756D"/>
                </a:solidFill>
                <a:latin typeface="Aptos" pitchFamily="34" charset="0"/>
                <a:ea typeface="Aptos" pitchFamily="34" charset="-122"/>
                <a:cs typeface="Aptos" pitchFamily="34" charset="-120"/>
              </a:rPr>
              <a:t>Question records and approval steps work; all people and files are examples.</a:t>
            </a:r>
            <a:endParaRPr lang="en-US" sz="1250" dirty="0"/>
          </a:p>
        </p:txBody>
      </p:sp>
      <p:pic>
        <p:nvPicPr>
          <p:cNvPr id="5" name="Image 0" descr="/Users/deepesh.agrawal/Documents/exp/Presight_Eureka_3/Human API/deliverables/HumanAPI_App_Screenshot.png">    </p:cNvPr>
          <p:cNvPicPr>
            <a:picLocks noChangeAspect="1"/>
          </p:cNvPicPr>
          <p:nvPr/>
        </p:nvPicPr>
        <p:blipFill>
          <a:blip r:embed="rId1"/>
          <a:stretch>
            <a:fillRect/>
          </a:stretch>
        </p:blipFill>
        <p:spPr>
          <a:xfrm>
            <a:off x="658368" y="1737360"/>
            <a:ext cx="6629400" cy="4599432"/>
          </a:xfrm>
          <a:prstGeom prst="rect">
            <a:avLst/>
          </a:prstGeom>
        </p:spPr>
      </p:pic>
      <p:sp>
        <p:nvSpPr>
          <p:cNvPr id="6" name="Shape 3"/>
          <p:cNvSpPr/>
          <p:nvPr/>
        </p:nvSpPr>
        <p:spPr>
          <a:xfrm>
            <a:off x="7635240" y="1874520"/>
            <a:ext cx="3794760" cy="960120"/>
          </a:xfrm>
          <a:prstGeom prst="roundRect">
            <a:avLst>
              <a:gd name="adj" fmla="val 11429"/>
            </a:avLst>
          </a:prstGeom>
          <a:solidFill>
            <a:srgbClr val="FFFFFF"/>
          </a:solidFill>
          <a:ln w="12700">
            <a:solidFill>
              <a:srgbClr val="D7E1DB"/>
            </a:solidFill>
            <a:prstDash val="solid"/>
          </a:ln>
        </p:spPr>
      </p:sp>
      <p:sp>
        <p:nvSpPr>
          <p:cNvPr id="7" name="Shape 4"/>
          <p:cNvSpPr/>
          <p:nvPr/>
        </p:nvSpPr>
        <p:spPr>
          <a:xfrm>
            <a:off x="7635240" y="1874520"/>
            <a:ext cx="54864" cy="960120"/>
          </a:xfrm>
          <a:prstGeom prst="rect">
            <a:avLst>
              <a:gd name="adj" fmla="val 200000"/>
            </a:avLst>
          </a:prstGeom>
          <a:solidFill>
            <a:srgbClr val="2F8069"/>
          </a:solidFill>
          <a:ln w="12700">
            <a:solidFill>
              <a:srgbClr val="2F8069">
                <a:alpha val="0"/>
              </a:srgbClr>
            </a:solidFill>
            <a:prstDash val="solid"/>
          </a:ln>
        </p:spPr>
      </p:sp>
      <p:sp>
        <p:nvSpPr>
          <p:cNvPr id="8" name="Text 5"/>
          <p:cNvSpPr txBox="1"/>
          <p:nvPr/>
        </p:nvSpPr>
        <p:spPr>
          <a:xfrm>
            <a:off x="7836408" y="2039112"/>
            <a:ext cx="3410712" cy="292608"/>
          </a:xfrm>
          <a:prstGeom prst="rect">
            <a:avLst/>
          </a:prstGeom>
          <a:noFill/>
          <a:ln/>
        </p:spPr>
        <p:txBody>
          <a:bodyPr wrap="square" lIns="0" tIns="0" rIns="0" bIns="0" rtlCol="0" anchor="ctr">
            <a:normAutofit/>
          </a:bodyPr>
          <a:lstStyle/>
          <a:p>
            <a:pPr algn="l" indent="0" marL="0">
              <a:buNone/>
            </a:pPr>
            <a:r>
              <a:rPr lang="en-US" sz="1400" b="1" dirty="0">
                <a:solidFill>
                  <a:srgbClr val="17352F"/>
                </a:solidFill>
                <a:latin typeface="Aptos" pitchFamily="34" charset="0"/>
                <a:ea typeface="Aptos" pitchFamily="34" charset="-122"/>
                <a:cs typeface="Aptos" pitchFamily="34" charset="-120"/>
              </a:rPr>
              <a:t>The question is saved</a:t>
            </a:r>
            <a:endParaRPr lang="en-US" sz="1400" dirty="0"/>
          </a:p>
        </p:txBody>
      </p:sp>
      <p:sp>
        <p:nvSpPr>
          <p:cNvPr id="9" name="Text 6"/>
          <p:cNvSpPr txBox="1"/>
          <p:nvPr/>
        </p:nvSpPr>
        <p:spPr>
          <a:xfrm>
            <a:off x="7836408" y="2414016"/>
            <a:ext cx="3392424" cy="301752"/>
          </a:xfrm>
          <a:prstGeom prst="rect">
            <a:avLst/>
          </a:prstGeom>
          <a:noFill/>
          <a:ln/>
        </p:spPr>
        <p:txBody>
          <a:bodyPr wrap="square" lIns="0" tIns="0" rIns="0" bIns="0" rtlCol="0" anchor="t">
            <a:normAutofit/>
          </a:bodyPr>
          <a:lstStyle/>
          <a:p>
            <a:pPr algn="l" indent="0" marL="0">
              <a:buNone/>
            </a:pPr>
            <a:r>
              <a:rPr lang="en-US" sz="1050" dirty="0">
                <a:solidFill>
                  <a:srgbClr val="63756D"/>
                </a:solidFill>
                <a:latin typeface="Aptos" pitchFamily="34" charset="0"/>
                <a:ea typeface="Aptos" pitchFamily="34" charset="-122"/>
                <a:cs typeface="Aptos" pitchFamily="34" charset="-120"/>
              </a:rPr>
              <a:t>See its status, response deadline and history.</a:t>
            </a:r>
            <a:endParaRPr lang="en-US" sz="1050" dirty="0"/>
          </a:p>
        </p:txBody>
      </p:sp>
      <p:sp>
        <p:nvSpPr>
          <p:cNvPr id="10" name="Shape 7"/>
          <p:cNvSpPr/>
          <p:nvPr/>
        </p:nvSpPr>
        <p:spPr>
          <a:xfrm>
            <a:off x="7635240" y="3054096"/>
            <a:ext cx="3794760" cy="960120"/>
          </a:xfrm>
          <a:prstGeom prst="roundRect">
            <a:avLst>
              <a:gd name="adj" fmla="val 11429"/>
            </a:avLst>
          </a:prstGeom>
          <a:solidFill>
            <a:srgbClr val="FFFFFF"/>
          </a:solidFill>
          <a:ln w="12700">
            <a:solidFill>
              <a:srgbClr val="D7E1DB"/>
            </a:solidFill>
            <a:prstDash val="solid"/>
          </a:ln>
        </p:spPr>
      </p:sp>
      <p:sp>
        <p:nvSpPr>
          <p:cNvPr id="11" name="Shape 8"/>
          <p:cNvSpPr/>
          <p:nvPr/>
        </p:nvSpPr>
        <p:spPr>
          <a:xfrm>
            <a:off x="7635240" y="3054096"/>
            <a:ext cx="54864" cy="960120"/>
          </a:xfrm>
          <a:prstGeom prst="rect">
            <a:avLst>
              <a:gd name="adj" fmla="val 200000"/>
            </a:avLst>
          </a:prstGeom>
          <a:solidFill>
            <a:srgbClr val="5278B8"/>
          </a:solidFill>
          <a:ln w="12700">
            <a:solidFill>
              <a:srgbClr val="5278B8">
                <a:alpha val="0"/>
              </a:srgbClr>
            </a:solidFill>
            <a:prstDash val="solid"/>
          </a:ln>
        </p:spPr>
      </p:sp>
      <p:sp>
        <p:nvSpPr>
          <p:cNvPr id="12" name="Text 9"/>
          <p:cNvSpPr txBox="1"/>
          <p:nvPr/>
        </p:nvSpPr>
        <p:spPr>
          <a:xfrm>
            <a:off x="7836408" y="3218688"/>
            <a:ext cx="3410712" cy="292608"/>
          </a:xfrm>
          <a:prstGeom prst="rect">
            <a:avLst/>
          </a:prstGeom>
          <a:noFill/>
          <a:ln/>
        </p:spPr>
        <p:txBody>
          <a:bodyPr wrap="square" lIns="0" tIns="0" rIns="0" bIns="0" rtlCol="0" anchor="ctr">
            <a:normAutofit/>
          </a:bodyPr>
          <a:lstStyle/>
          <a:p>
            <a:pPr algn="l" indent="0" marL="0">
              <a:buNone/>
            </a:pPr>
            <a:r>
              <a:rPr lang="en-US" sz="1400" b="1" dirty="0">
                <a:solidFill>
                  <a:srgbClr val="17352F"/>
                </a:solidFill>
                <a:latin typeface="Aptos" pitchFamily="34" charset="0"/>
                <a:ea typeface="Aptos" pitchFamily="34" charset="-122"/>
                <a:cs typeface="Aptos" pitchFamily="34" charset="-120"/>
              </a:rPr>
              <a:t>The answer shows its source</a:t>
            </a:r>
            <a:endParaRPr lang="en-US" sz="1400" dirty="0"/>
          </a:p>
        </p:txBody>
      </p:sp>
      <p:sp>
        <p:nvSpPr>
          <p:cNvPr id="13" name="Text 10"/>
          <p:cNvSpPr txBox="1"/>
          <p:nvPr/>
        </p:nvSpPr>
        <p:spPr>
          <a:xfrm>
            <a:off x="7836408" y="3593592"/>
            <a:ext cx="3392424" cy="301752"/>
          </a:xfrm>
          <a:prstGeom prst="rect">
            <a:avLst/>
          </a:prstGeom>
          <a:noFill/>
          <a:ln/>
        </p:spPr>
        <p:txBody>
          <a:bodyPr wrap="square" lIns="0" tIns="0" rIns="0" bIns="0" rtlCol="0" anchor="t">
            <a:normAutofit/>
          </a:bodyPr>
          <a:lstStyle/>
          <a:p>
            <a:pPr algn="l" indent="0" marL="0">
              <a:buNone/>
            </a:pPr>
            <a:r>
              <a:rPr lang="en-US" sz="1050" dirty="0">
                <a:solidFill>
                  <a:srgbClr val="63756D"/>
                </a:solidFill>
                <a:latin typeface="Aptos" pitchFamily="34" charset="0"/>
                <a:ea typeface="Aptos" pitchFamily="34" charset="-122"/>
                <a:cs typeface="Aptos" pitchFamily="34" charset="-120"/>
              </a:rPr>
              <a:t>The decision note explains the change, not whether it is still needed.</a:t>
            </a:r>
            <a:endParaRPr lang="en-US" sz="1050" dirty="0"/>
          </a:p>
        </p:txBody>
      </p:sp>
      <p:sp>
        <p:nvSpPr>
          <p:cNvPr id="14" name="Shape 11"/>
          <p:cNvSpPr/>
          <p:nvPr/>
        </p:nvSpPr>
        <p:spPr>
          <a:xfrm>
            <a:off x="7635240" y="4233672"/>
            <a:ext cx="3794760" cy="960120"/>
          </a:xfrm>
          <a:prstGeom prst="roundRect">
            <a:avLst>
              <a:gd name="adj" fmla="val 11429"/>
            </a:avLst>
          </a:prstGeom>
          <a:solidFill>
            <a:srgbClr val="FFFFFF"/>
          </a:solidFill>
          <a:ln w="12700">
            <a:solidFill>
              <a:srgbClr val="D7E1DB"/>
            </a:solidFill>
            <a:prstDash val="solid"/>
          </a:ln>
        </p:spPr>
      </p:sp>
      <p:sp>
        <p:nvSpPr>
          <p:cNvPr id="15" name="Shape 12"/>
          <p:cNvSpPr/>
          <p:nvPr/>
        </p:nvSpPr>
        <p:spPr>
          <a:xfrm>
            <a:off x="7635240" y="4233672"/>
            <a:ext cx="54864" cy="960120"/>
          </a:xfrm>
          <a:prstGeom prst="rect">
            <a:avLst>
              <a:gd name="adj" fmla="val 200000"/>
            </a:avLst>
          </a:prstGeom>
          <a:solidFill>
            <a:srgbClr val="E87C65"/>
          </a:solidFill>
          <a:ln w="12700">
            <a:solidFill>
              <a:srgbClr val="E87C65">
                <a:alpha val="0"/>
              </a:srgbClr>
            </a:solidFill>
            <a:prstDash val="solid"/>
          </a:ln>
        </p:spPr>
      </p:sp>
      <p:sp>
        <p:nvSpPr>
          <p:cNvPr id="16" name="Text 13"/>
          <p:cNvSpPr txBox="1"/>
          <p:nvPr/>
        </p:nvSpPr>
        <p:spPr>
          <a:xfrm>
            <a:off x="7836408" y="4398264"/>
            <a:ext cx="3410712" cy="292608"/>
          </a:xfrm>
          <a:prstGeom prst="rect">
            <a:avLst/>
          </a:prstGeom>
          <a:noFill/>
          <a:ln/>
        </p:spPr>
        <p:txBody>
          <a:bodyPr wrap="square" lIns="0" tIns="0" rIns="0" bIns="0" rtlCol="0" anchor="ctr">
            <a:normAutofit/>
          </a:bodyPr>
          <a:lstStyle/>
          <a:p>
            <a:pPr algn="l" indent="0" marL="0">
              <a:buNone/>
            </a:pPr>
            <a:r>
              <a:rPr lang="en-US" sz="1400" b="1" dirty="0">
                <a:solidFill>
                  <a:srgbClr val="17352F"/>
                </a:solidFill>
                <a:latin typeface="Aptos" pitchFamily="34" charset="0"/>
                <a:ea typeface="Aptos" pitchFamily="34" charset="-122"/>
                <a:cs typeface="Aptos" pitchFamily="34" charset="-120"/>
              </a:rPr>
              <a:t>A person handles gaps</a:t>
            </a:r>
            <a:endParaRPr lang="en-US" sz="1400" dirty="0"/>
          </a:p>
        </p:txBody>
      </p:sp>
      <p:sp>
        <p:nvSpPr>
          <p:cNvPr id="17" name="Text 14"/>
          <p:cNvSpPr txBox="1"/>
          <p:nvPr/>
        </p:nvSpPr>
        <p:spPr>
          <a:xfrm>
            <a:off x="7836408" y="4773168"/>
            <a:ext cx="3392424" cy="301752"/>
          </a:xfrm>
          <a:prstGeom prst="rect">
            <a:avLst/>
          </a:prstGeom>
          <a:noFill/>
          <a:ln/>
        </p:spPr>
        <p:txBody>
          <a:bodyPr wrap="square" lIns="0" tIns="0" rIns="0" bIns="0" rtlCol="0" anchor="t">
            <a:normAutofit/>
          </a:bodyPr>
          <a:lstStyle/>
          <a:p>
            <a:pPr algn="l" indent="0" marL="0">
              <a:buNone/>
            </a:pPr>
            <a:r>
              <a:rPr lang="en-US" sz="1050" dirty="0">
                <a:solidFill>
                  <a:srgbClr val="63756D"/>
                </a:solidFill>
                <a:latin typeface="Aptos" pitchFamily="34" charset="0"/>
                <a:ea typeface="Aptos" pitchFamily="34" charset="-122"/>
                <a:cs typeface="Aptos" pitchFamily="34" charset="-120"/>
              </a:rPr>
              <a:t>Unclear answers go to a human; reuse needs approval.</a:t>
            </a:r>
            <a:endParaRPr lang="en-US" sz="1050" dirty="0"/>
          </a:p>
        </p:txBody>
      </p:sp>
      <p:sp>
        <p:nvSpPr>
          <p:cNvPr id="18" name="Shape 15"/>
          <p:cNvSpPr/>
          <p:nvPr/>
        </p:nvSpPr>
        <p:spPr>
          <a:xfrm>
            <a:off x="7635240" y="5513832"/>
            <a:ext cx="3886200" cy="292608"/>
          </a:xfrm>
          <a:prstGeom prst="roundRect">
            <a:avLst>
              <a:gd name="adj" fmla="val 37500"/>
            </a:avLst>
          </a:prstGeom>
          <a:solidFill>
            <a:srgbClr val="E8F1EC"/>
          </a:solidFill>
          <a:ln w="12700">
            <a:solidFill>
              <a:srgbClr val="E8F1EC">
                <a:alpha val="0"/>
              </a:srgbClr>
            </a:solidFill>
            <a:prstDash val="solid"/>
          </a:ln>
        </p:spPr>
      </p:sp>
      <p:sp>
        <p:nvSpPr>
          <p:cNvPr id="19" name="Text 16"/>
          <p:cNvSpPr txBox="1"/>
          <p:nvPr/>
        </p:nvSpPr>
        <p:spPr>
          <a:xfrm>
            <a:off x="7726680" y="5550408"/>
            <a:ext cx="3703320" cy="201168"/>
          </a:xfrm>
          <a:prstGeom prst="rect">
            <a:avLst/>
          </a:prstGeom>
          <a:noFill/>
          <a:ln/>
        </p:spPr>
        <p:txBody>
          <a:bodyPr wrap="square" lIns="0" tIns="0" rIns="0" bIns="0" rtlCol="0" anchor="ctr">
            <a:normAutofit/>
          </a:bodyPr>
          <a:lstStyle/>
          <a:p>
            <a:pPr algn="ctr" indent="0" marL="0">
              <a:buNone/>
            </a:pPr>
            <a:r>
              <a:rPr lang="en-US" sz="850" b="1" spc="30" kern="0" dirty="0">
                <a:solidFill>
                  <a:srgbClr val="2F8069"/>
                </a:solidFill>
                <a:latin typeface="Aptos" pitchFamily="34" charset="0"/>
                <a:ea typeface="Aptos" pitchFamily="34" charset="-122"/>
                <a:cs typeface="Aptos" pitchFamily="34" charset="-120"/>
              </a:rPr>
              <a:t>FICTIONAL DATA · NO LIVE MICROSOFT OR AI MODEL</a:t>
            </a:r>
            <a:endParaRPr lang="en-US" sz="850" dirty="0"/>
          </a:p>
        </p:txBody>
      </p:sp>
      <p:sp>
        <p:nvSpPr>
          <p:cNvPr id="20" name="Text 17"/>
          <p:cNvSpPr txBox="1"/>
          <p:nvPr/>
        </p:nvSpPr>
        <p:spPr>
          <a:xfrm>
            <a:off x="548640" y="6318504"/>
            <a:ext cx="10881360" cy="146304"/>
          </a:xfrm>
          <a:prstGeom prst="rect">
            <a:avLst/>
          </a:prstGeom>
          <a:noFill/>
          <a:ln/>
        </p:spPr>
        <p:txBody>
          <a:bodyPr wrap="square" lIns="0" tIns="0" rIns="0" bIns="0" rtlCol="0" anchor="ctr">
            <a:normAutofit/>
          </a:bodyPr>
          <a:lstStyle/>
          <a:p>
            <a:pPr algn="l" indent="0" marL="0">
              <a:buNone/>
            </a:pPr>
            <a:r>
              <a:rPr lang="en-US" sz="730" dirty="0">
                <a:solidFill>
                  <a:srgbClr val="63756D"/>
                </a:solidFill>
                <a:latin typeface="Aptos" pitchFamily="34" charset="0"/>
                <a:ea typeface="Aptos" pitchFamily="34" charset="-122"/>
                <a:cs typeface="Aptos" pitchFamily="34" charset="-120"/>
              </a:rPr>
              <a:t>Background and research sources are in the speaker notes.</a:t>
            </a:r>
            <a:endParaRPr lang="en-US" sz="730" dirty="0"/>
          </a:p>
        </p:txBody>
      </p:sp>
      <p:sp>
        <p:nvSpPr>
          <p:cNvPr id="25" name="Slide Number Placeholder 0"/>
          <p:cNvSpPr>
            <a:spLocks noGrp="1"/>
          </p:cNvSpPr>
          <p:nvPr>
            <p:ph type="sldNum" sz="quarter" idx="4294967295"/>
          </p:nvPr>
        </p:nvSpPr>
        <p:spPr>
          <a:xfrm>
            <a:off x="11686032"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47C"/>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30352" y="347472"/>
            <a:ext cx="1088136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2F8069"/>
                </a:solidFill>
                <a:latin typeface="Aptos" pitchFamily="34" charset="0"/>
                <a:ea typeface="Aptos" pitchFamily="34" charset="-122"/>
                <a:cs typeface="Aptos" pitchFamily="34" charset="-120"/>
              </a:rPr>
              <a:t>10 / AI AND HUMAN ROLES</a:t>
            </a:r>
            <a:endParaRPr lang="en-US" sz="900" dirty="0"/>
          </a:p>
        </p:txBody>
      </p:sp>
      <p:sp>
        <p:nvSpPr>
          <p:cNvPr id="3" name="Text 1"/>
          <p:cNvSpPr txBox="1"/>
          <p:nvPr/>
        </p:nvSpPr>
        <p:spPr>
          <a:xfrm>
            <a:off x="530352" y="69494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7352F"/>
                </a:solidFill>
                <a:latin typeface="Aptos Display" pitchFamily="34" charset="0"/>
                <a:ea typeface="Aptos Display" pitchFamily="34" charset="-122"/>
                <a:cs typeface="Aptos Display" pitchFamily="34" charset="-120"/>
              </a:rPr>
              <a:t>AI may explain evidence; people and rules keep control</a:t>
            </a:r>
            <a:endParaRPr lang="en-US" sz="2700" dirty="0"/>
          </a:p>
        </p:txBody>
      </p:sp>
      <p:sp>
        <p:nvSpPr>
          <p:cNvPr id="4" name="Text 2"/>
          <p:cNvSpPr txBox="1"/>
          <p:nvPr/>
        </p:nvSpPr>
        <p:spPr>
          <a:xfrm>
            <a:off x="548640" y="1243584"/>
            <a:ext cx="10972800" cy="347472"/>
          </a:xfrm>
          <a:prstGeom prst="rect">
            <a:avLst/>
          </a:prstGeom>
          <a:noFill/>
          <a:ln/>
        </p:spPr>
        <p:txBody>
          <a:bodyPr wrap="square" lIns="0" tIns="0" rIns="0" bIns="0" rtlCol="0" anchor="ctr">
            <a:normAutofit/>
          </a:bodyPr>
          <a:lstStyle/>
          <a:p>
            <a:pPr algn="l" indent="0" marL="0">
              <a:buNone/>
            </a:pPr>
            <a:r>
              <a:rPr lang="en-US" sz="1250" dirty="0">
                <a:solidFill>
                  <a:srgbClr val="63756D"/>
                </a:solidFill>
                <a:latin typeface="Aptos" pitchFamily="34" charset="0"/>
                <a:ea typeface="Aptos" pitchFamily="34" charset="-122"/>
                <a:cs typeface="Aptos" pitchFamily="34" charset="-120"/>
              </a:rPr>
              <a:t>The demo uses no language model. A future AI must never decide who may see a file.</a:t>
            </a:r>
            <a:endParaRPr lang="en-US" sz="1250" dirty="0"/>
          </a:p>
        </p:txBody>
      </p:sp>
      <p:sp>
        <p:nvSpPr>
          <p:cNvPr id="5" name="Shape 3"/>
          <p:cNvSpPr/>
          <p:nvPr/>
        </p:nvSpPr>
        <p:spPr>
          <a:xfrm>
            <a:off x="749808" y="2029968"/>
            <a:ext cx="3337560" cy="2944368"/>
          </a:xfrm>
          <a:prstGeom prst="roundRect">
            <a:avLst>
              <a:gd name="adj" fmla="val 3727"/>
            </a:avLst>
          </a:prstGeom>
          <a:solidFill>
            <a:srgbClr val="E8F1EC"/>
          </a:solidFill>
          <a:ln w="12700">
            <a:solidFill>
              <a:srgbClr val="D7E1DB"/>
            </a:solidFill>
            <a:prstDash val="solid"/>
          </a:ln>
        </p:spPr>
      </p:sp>
      <p:sp>
        <p:nvSpPr>
          <p:cNvPr id="6" name="Text 4"/>
          <p:cNvSpPr txBox="1"/>
          <p:nvPr/>
        </p:nvSpPr>
        <p:spPr>
          <a:xfrm>
            <a:off x="978408" y="2286000"/>
            <a:ext cx="2834640" cy="219456"/>
          </a:xfrm>
          <a:prstGeom prst="rect">
            <a:avLst/>
          </a:prstGeom>
          <a:noFill/>
          <a:ln/>
        </p:spPr>
        <p:txBody>
          <a:bodyPr wrap="square" lIns="0" tIns="0" rIns="0" bIns="0" rtlCol="0" anchor="ctr">
            <a:normAutofit/>
          </a:bodyPr>
          <a:lstStyle/>
          <a:p>
            <a:pPr algn="l" indent="0" marL="0">
              <a:buNone/>
            </a:pPr>
            <a:r>
              <a:rPr lang="en-US" sz="900" b="1" spc="120" kern="0" dirty="0">
                <a:solidFill>
                  <a:srgbClr val="2F8069"/>
                </a:solidFill>
                <a:latin typeface="Aptos" pitchFamily="34" charset="0"/>
                <a:ea typeface="Aptos" pitchFamily="34" charset="-122"/>
                <a:cs typeface="Aptos" pitchFamily="34" charset="-120"/>
              </a:rPr>
              <a:t>SOFTWARE RULES</a:t>
            </a:r>
            <a:endParaRPr lang="en-US" sz="900" dirty="0"/>
          </a:p>
        </p:txBody>
      </p:sp>
      <p:sp>
        <p:nvSpPr>
          <p:cNvPr id="7" name="Text 5"/>
          <p:cNvSpPr txBox="1"/>
          <p:nvPr/>
        </p:nvSpPr>
        <p:spPr>
          <a:xfrm>
            <a:off x="978408" y="2724912"/>
            <a:ext cx="2834640" cy="1691640"/>
          </a:xfrm>
          <a:prstGeom prst="rect">
            <a:avLst/>
          </a:prstGeom>
          <a:noFill/>
          <a:ln/>
        </p:spPr>
        <p:txBody>
          <a:bodyPr wrap="square" lIns="0" tIns="0" rIns="0" bIns="0" rtlCol="0" anchor="t">
            <a:normAutofit/>
          </a:bodyPr>
          <a:lstStyle/>
          <a:p>
            <a:pPr algn="l" indent="0" marL="0">
              <a:lnSpc>
                <a:spcPct val="120000"/>
              </a:lnSpc>
              <a:buNone/>
            </a:pPr>
            <a:r>
              <a:rPr lang="en-US" sz="1500" b="1" dirty="0">
                <a:solidFill>
                  <a:srgbClr val="17352F"/>
                </a:solidFill>
                <a:latin typeface="Aptos" pitchFamily="34" charset="0"/>
                <a:ea typeface="Aptos" pitchFamily="34" charset="-122"/>
                <a:cs typeface="Aptos" pitchFamily="34" charset="-120"/>
              </a:rPr>
              <a:t>Verify identity</a:t>
            </a:r>
            <a:endParaRPr lang="en-US" sz="1500" dirty="0"/>
          </a:p>
          <a:p>
            <a:pPr algn="l" indent="0" marL="0">
              <a:lnSpc>
                <a:spcPct val="120000"/>
              </a:lnSpc>
              <a:buNone/>
            </a:pPr>
            <a:r>
              <a:rPr lang="en-US" sz="1500" b="1" dirty="0">
                <a:solidFill>
                  <a:srgbClr val="17352F"/>
                </a:solidFill>
                <a:latin typeface="Aptos" pitchFamily="34" charset="0"/>
                <a:ea typeface="Aptos" pitchFamily="34" charset="-122"/>
                <a:cs typeface="Aptos" pitchFamily="34" charset="-120"/>
              </a:rPr>
              <a:t>Check owner approval</a:t>
            </a:r>
            <a:endParaRPr lang="en-US" sz="1500" dirty="0"/>
          </a:p>
          <a:p>
            <a:pPr algn="l" indent="0" marL="0">
              <a:lnSpc>
                <a:spcPct val="120000"/>
              </a:lnSpc>
              <a:buNone/>
            </a:pPr>
            <a:r>
              <a:rPr lang="en-US" sz="1500" b="1" dirty="0">
                <a:solidFill>
                  <a:srgbClr val="17352F"/>
                </a:solidFill>
                <a:latin typeface="Aptos" pitchFamily="34" charset="0"/>
                <a:ea typeface="Aptos" pitchFamily="34" charset="-122"/>
                <a:cs typeface="Aptos" pitchFamily="34" charset="-120"/>
              </a:rPr>
              <a:t>Check file access</a:t>
            </a:r>
            <a:endParaRPr lang="en-US" sz="1500" dirty="0"/>
          </a:p>
          <a:p>
            <a:pPr algn="l" indent="0" marL="0">
              <a:lnSpc>
                <a:spcPct val="120000"/>
              </a:lnSpc>
              <a:buNone/>
            </a:pPr>
            <a:r>
              <a:rPr lang="en-US" sz="1500" b="1" dirty="0">
                <a:solidFill>
                  <a:srgbClr val="17352F"/>
                </a:solidFill>
                <a:latin typeface="Aptos" pitchFamily="34" charset="0"/>
                <a:ea typeface="Aptos" pitchFamily="34" charset="-122"/>
                <a:cs typeface="Aptos" pitchFamily="34" charset="-120"/>
              </a:rPr>
              <a:t>Honor revocation</a:t>
            </a:r>
            <a:endParaRPr lang="en-US" sz="1500" dirty="0"/>
          </a:p>
        </p:txBody>
      </p:sp>
      <p:sp>
        <p:nvSpPr>
          <p:cNvPr id="8" name="Shape 6"/>
          <p:cNvSpPr/>
          <p:nvPr/>
        </p:nvSpPr>
        <p:spPr>
          <a:xfrm>
            <a:off x="4572000" y="2029968"/>
            <a:ext cx="3337560" cy="2944368"/>
          </a:xfrm>
          <a:prstGeom prst="roundRect">
            <a:avLst>
              <a:gd name="adj" fmla="val 3727"/>
            </a:avLst>
          </a:prstGeom>
          <a:solidFill>
            <a:srgbClr val="FFFFFF"/>
          </a:solidFill>
          <a:ln w="12700">
            <a:solidFill>
              <a:srgbClr val="D7E1DB"/>
            </a:solidFill>
            <a:prstDash val="solid"/>
          </a:ln>
        </p:spPr>
      </p:sp>
      <p:sp>
        <p:nvSpPr>
          <p:cNvPr id="9" name="Text 7"/>
          <p:cNvSpPr txBox="1"/>
          <p:nvPr/>
        </p:nvSpPr>
        <p:spPr>
          <a:xfrm>
            <a:off x="4800600" y="2286000"/>
            <a:ext cx="2834640" cy="219456"/>
          </a:xfrm>
          <a:prstGeom prst="rect">
            <a:avLst/>
          </a:prstGeom>
          <a:noFill/>
          <a:ln/>
        </p:spPr>
        <p:txBody>
          <a:bodyPr wrap="square" lIns="0" tIns="0" rIns="0" bIns="0" rtlCol="0" anchor="ctr">
            <a:normAutofit/>
          </a:bodyPr>
          <a:lstStyle/>
          <a:p>
            <a:pPr algn="l" indent="0" marL="0">
              <a:buNone/>
            </a:pPr>
            <a:r>
              <a:rPr lang="en-US" sz="900" b="1" spc="120" kern="0" dirty="0">
                <a:solidFill>
                  <a:srgbClr val="5278B8"/>
                </a:solidFill>
                <a:latin typeface="Aptos" pitchFamily="34" charset="0"/>
                <a:ea typeface="Aptos" pitchFamily="34" charset="-122"/>
                <a:cs typeface="Aptos" pitchFamily="34" charset="-120"/>
              </a:rPr>
              <a:t>POSSIBLE FUTURE AI</a:t>
            </a:r>
            <a:endParaRPr lang="en-US" sz="900" dirty="0"/>
          </a:p>
        </p:txBody>
      </p:sp>
      <p:sp>
        <p:nvSpPr>
          <p:cNvPr id="10" name="Text 8"/>
          <p:cNvSpPr txBox="1"/>
          <p:nvPr/>
        </p:nvSpPr>
        <p:spPr>
          <a:xfrm>
            <a:off x="4800600" y="2724912"/>
            <a:ext cx="2834640" cy="1691640"/>
          </a:xfrm>
          <a:prstGeom prst="rect">
            <a:avLst/>
          </a:prstGeom>
          <a:noFill/>
          <a:ln/>
        </p:spPr>
        <p:txBody>
          <a:bodyPr wrap="square" lIns="0" tIns="0" rIns="0" bIns="0" rtlCol="0" anchor="t">
            <a:normAutofit/>
          </a:bodyPr>
          <a:lstStyle/>
          <a:p>
            <a:pPr algn="l" indent="0" marL="0">
              <a:lnSpc>
                <a:spcPct val="120000"/>
              </a:lnSpc>
              <a:buNone/>
            </a:pPr>
            <a:r>
              <a:rPr lang="en-US" sz="1500" b="1" dirty="0">
                <a:solidFill>
                  <a:srgbClr val="17352F"/>
                </a:solidFill>
                <a:latin typeface="Aptos" pitchFamily="34" charset="0"/>
                <a:ea typeface="Aptos" pitchFamily="34" charset="-122"/>
                <a:cs typeface="Aptos" pitchFamily="34" charset="-120"/>
              </a:rPr>
              <a:t>Summarize allowed files</a:t>
            </a:r>
            <a:endParaRPr lang="en-US" sz="1500" dirty="0"/>
          </a:p>
          <a:p>
            <a:pPr algn="l" indent="0" marL="0">
              <a:lnSpc>
                <a:spcPct val="120000"/>
              </a:lnSpc>
              <a:buNone/>
            </a:pPr>
            <a:r>
              <a:rPr lang="en-US" sz="1500" b="1" dirty="0">
                <a:solidFill>
                  <a:srgbClr val="17352F"/>
                </a:solidFill>
                <a:latin typeface="Aptos" pitchFamily="34" charset="0"/>
                <a:ea typeface="Aptos" pitchFamily="34" charset="-122"/>
                <a:cs typeface="Aptos" pitchFamily="34" charset="-120"/>
              </a:rPr>
              <a:t>Draft a cited answer</a:t>
            </a:r>
            <a:endParaRPr lang="en-US" sz="1500" dirty="0"/>
          </a:p>
          <a:p>
            <a:pPr algn="l" indent="0" marL="0">
              <a:lnSpc>
                <a:spcPct val="120000"/>
              </a:lnSpc>
              <a:buNone/>
            </a:pPr>
            <a:r>
              <a:rPr lang="en-US" sz="1500" b="1" dirty="0">
                <a:solidFill>
                  <a:srgbClr val="17352F"/>
                </a:solidFill>
                <a:latin typeface="Aptos" pitchFamily="34" charset="0"/>
                <a:ea typeface="Aptos" pitchFamily="34" charset="-122"/>
                <a:cs typeface="Aptos" pitchFamily="34" charset="-120"/>
              </a:rPr>
              <a:t>Say what is unknown</a:t>
            </a:r>
            <a:endParaRPr lang="en-US" sz="1500" dirty="0"/>
          </a:p>
        </p:txBody>
      </p:sp>
      <p:sp>
        <p:nvSpPr>
          <p:cNvPr id="11" name="Shape 9"/>
          <p:cNvSpPr/>
          <p:nvPr/>
        </p:nvSpPr>
        <p:spPr>
          <a:xfrm>
            <a:off x="8394192" y="2029968"/>
            <a:ext cx="3337560" cy="2944368"/>
          </a:xfrm>
          <a:prstGeom prst="roundRect">
            <a:avLst>
              <a:gd name="adj" fmla="val 3727"/>
            </a:avLst>
          </a:prstGeom>
          <a:solidFill>
            <a:srgbClr val="FFF0E9"/>
          </a:solidFill>
          <a:ln w="12700">
            <a:solidFill>
              <a:srgbClr val="D7E1DB"/>
            </a:solidFill>
            <a:prstDash val="solid"/>
          </a:ln>
        </p:spPr>
      </p:sp>
      <p:sp>
        <p:nvSpPr>
          <p:cNvPr id="12" name="Text 10"/>
          <p:cNvSpPr txBox="1"/>
          <p:nvPr/>
        </p:nvSpPr>
        <p:spPr>
          <a:xfrm>
            <a:off x="8622792" y="2286000"/>
            <a:ext cx="2834640" cy="219456"/>
          </a:xfrm>
          <a:prstGeom prst="rect">
            <a:avLst/>
          </a:prstGeom>
          <a:noFill/>
          <a:ln/>
        </p:spPr>
        <p:txBody>
          <a:bodyPr wrap="square" lIns="0" tIns="0" rIns="0" bIns="0" rtlCol="0" anchor="ctr">
            <a:normAutofit/>
          </a:bodyPr>
          <a:lstStyle/>
          <a:p>
            <a:pPr algn="l" indent="0" marL="0">
              <a:buNone/>
            </a:pPr>
            <a:r>
              <a:rPr lang="en-US" sz="900" b="1" spc="120" kern="0" dirty="0">
                <a:solidFill>
                  <a:srgbClr val="E87C65"/>
                </a:solidFill>
                <a:latin typeface="Aptos" pitchFamily="34" charset="0"/>
                <a:ea typeface="Aptos" pitchFamily="34" charset="-122"/>
                <a:cs typeface="Aptos" pitchFamily="34" charset="-120"/>
              </a:rPr>
              <a:t>PEOPLE DECIDE</a:t>
            </a:r>
            <a:endParaRPr lang="en-US" sz="900" dirty="0"/>
          </a:p>
        </p:txBody>
      </p:sp>
      <p:sp>
        <p:nvSpPr>
          <p:cNvPr id="13" name="Text 11"/>
          <p:cNvSpPr txBox="1"/>
          <p:nvPr/>
        </p:nvSpPr>
        <p:spPr>
          <a:xfrm>
            <a:off x="8622792" y="2724912"/>
            <a:ext cx="2834640" cy="1691640"/>
          </a:xfrm>
          <a:prstGeom prst="rect">
            <a:avLst/>
          </a:prstGeom>
          <a:noFill/>
          <a:ln/>
        </p:spPr>
        <p:txBody>
          <a:bodyPr wrap="square" lIns="0" tIns="0" rIns="0" bIns="0" rtlCol="0" anchor="t">
            <a:normAutofit/>
          </a:bodyPr>
          <a:lstStyle/>
          <a:p>
            <a:pPr algn="l" indent="0" marL="0">
              <a:lnSpc>
                <a:spcPct val="120000"/>
              </a:lnSpc>
              <a:buNone/>
            </a:pPr>
            <a:r>
              <a:rPr lang="en-US" sz="1500" b="1" dirty="0">
                <a:solidFill>
                  <a:srgbClr val="17352F"/>
                </a:solidFill>
                <a:latin typeface="Aptos" pitchFamily="34" charset="0"/>
                <a:ea typeface="Aptos" pitchFamily="34" charset="-122"/>
                <a:cs typeface="Aptos" pitchFamily="34" charset="-120"/>
              </a:rPr>
              <a:t>Resolve uncertainty</a:t>
            </a:r>
            <a:endParaRPr lang="en-US" sz="1500" dirty="0"/>
          </a:p>
          <a:p>
            <a:pPr algn="l" indent="0" marL="0">
              <a:lnSpc>
                <a:spcPct val="120000"/>
              </a:lnSpc>
              <a:buNone/>
            </a:pPr>
            <a:r>
              <a:rPr lang="en-US" sz="1500" b="1" dirty="0">
                <a:solidFill>
                  <a:srgbClr val="17352F"/>
                </a:solidFill>
                <a:latin typeface="Aptos" pitchFamily="34" charset="0"/>
                <a:ea typeface="Aptos" pitchFamily="34" charset="-122"/>
                <a:cs typeface="Aptos" pitchFamily="34" charset="-120"/>
              </a:rPr>
              <a:t>Approve corrections</a:t>
            </a:r>
            <a:endParaRPr lang="en-US" sz="1500" dirty="0"/>
          </a:p>
          <a:p>
            <a:pPr algn="l" indent="0" marL="0">
              <a:lnSpc>
                <a:spcPct val="120000"/>
              </a:lnSpc>
              <a:buNone/>
            </a:pPr>
            <a:r>
              <a:rPr lang="en-US" sz="1500" b="1" dirty="0">
                <a:solidFill>
                  <a:srgbClr val="17352F"/>
                </a:solidFill>
                <a:latin typeface="Aptos" pitchFamily="34" charset="0"/>
                <a:ea typeface="Aptos" pitchFamily="34" charset="-122"/>
                <a:cs typeface="Aptos" pitchFamily="34" charset="-120"/>
              </a:rPr>
              <a:t>Change or stop policy</a:t>
            </a:r>
            <a:endParaRPr lang="en-US" sz="1500" dirty="0"/>
          </a:p>
        </p:txBody>
      </p:sp>
      <p:sp>
        <p:nvSpPr>
          <p:cNvPr id="14" name="Shape 12"/>
          <p:cNvSpPr/>
          <p:nvPr/>
        </p:nvSpPr>
        <p:spPr>
          <a:xfrm>
            <a:off x="4142232" y="3538728"/>
            <a:ext cx="283464" cy="0"/>
          </a:xfrm>
          <a:prstGeom prst="line">
            <a:avLst/>
          </a:prstGeom>
          <a:noFill/>
          <a:ln w="20320">
            <a:solidFill>
              <a:srgbClr val="2F8069"/>
            </a:solidFill>
            <a:prstDash val="solid"/>
            <a:tailEnd type="triangle"/>
          </a:ln>
        </p:spPr>
      </p:sp>
      <p:sp>
        <p:nvSpPr>
          <p:cNvPr id="15" name="Shape 13"/>
          <p:cNvSpPr/>
          <p:nvPr/>
        </p:nvSpPr>
        <p:spPr>
          <a:xfrm>
            <a:off x="7955280" y="3538728"/>
            <a:ext cx="274320" cy="0"/>
          </a:xfrm>
          <a:prstGeom prst="line">
            <a:avLst/>
          </a:prstGeom>
          <a:noFill/>
          <a:ln w="20320">
            <a:solidFill>
              <a:srgbClr val="2F8069"/>
            </a:solidFill>
            <a:prstDash val="solid"/>
            <a:tailEnd type="triangle"/>
          </a:ln>
        </p:spPr>
      </p:sp>
      <p:sp>
        <p:nvSpPr>
          <p:cNvPr id="16" name="Text 14"/>
          <p:cNvSpPr txBox="1"/>
          <p:nvPr/>
        </p:nvSpPr>
        <p:spPr>
          <a:xfrm>
            <a:off x="841248" y="5376672"/>
            <a:ext cx="10561320" cy="493776"/>
          </a:xfrm>
          <a:prstGeom prst="rect">
            <a:avLst/>
          </a:prstGeom>
          <a:noFill/>
          <a:ln/>
        </p:spPr>
        <p:txBody>
          <a:bodyPr wrap="square" lIns="0" tIns="0" rIns="0" bIns="0" rtlCol="0" anchor="ctr">
            <a:normAutofit/>
          </a:bodyPr>
          <a:lstStyle/>
          <a:p>
            <a:pPr algn="ctr" indent="0" marL="0">
              <a:buNone/>
            </a:pPr>
            <a:r>
              <a:rPr lang="en-US" sz="1200" dirty="0">
                <a:solidFill>
                  <a:srgbClr val="63756D"/>
                </a:solidFill>
                <a:latin typeface="Aptos" pitchFamily="34" charset="0"/>
                <a:ea typeface="Aptos" pitchFamily="34" charset="-122"/>
                <a:cs typeface="Aptos" pitchFamily="34" charset="-120"/>
              </a:rPr>
              <a:t>The current demo follows a small set of steps. Add more AI only if a pilot shows it helps.</a:t>
            </a:r>
            <a:endParaRPr lang="en-US" sz="1200" dirty="0"/>
          </a:p>
        </p:txBody>
      </p:sp>
      <p:sp>
        <p:nvSpPr>
          <p:cNvPr id="17" name="Text 15"/>
          <p:cNvSpPr txBox="1"/>
          <p:nvPr/>
        </p:nvSpPr>
        <p:spPr>
          <a:xfrm>
            <a:off x="548640" y="6318504"/>
            <a:ext cx="10881360" cy="146304"/>
          </a:xfrm>
          <a:prstGeom prst="rect">
            <a:avLst/>
          </a:prstGeom>
          <a:noFill/>
          <a:ln/>
        </p:spPr>
        <p:txBody>
          <a:bodyPr wrap="square" lIns="0" tIns="0" rIns="0" bIns="0" rtlCol="0" anchor="ctr">
            <a:normAutofit/>
          </a:bodyPr>
          <a:lstStyle/>
          <a:p>
            <a:pPr algn="l" indent="0" marL="0">
              <a:buNone/>
            </a:pPr>
            <a:r>
              <a:rPr lang="en-US" sz="730" dirty="0">
                <a:solidFill>
                  <a:srgbClr val="63756D"/>
                </a:solidFill>
                <a:latin typeface="Aptos" pitchFamily="34" charset="0"/>
                <a:ea typeface="Aptos" pitchFamily="34" charset="-122"/>
                <a:cs typeface="Aptos" pitchFamily="34" charset="-120"/>
              </a:rPr>
              <a:t>Background and research sources are in the speaker notes.</a:t>
            </a:r>
            <a:endParaRPr lang="en-US" sz="730" dirty="0"/>
          </a:p>
        </p:txBody>
      </p:sp>
      <p:sp>
        <p:nvSpPr>
          <p:cNvPr id="25" name="Slide Number Placeholder 0"/>
          <p:cNvSpPr>
            <a:spLocks noGrp="1"/>
          </p:cNvSpPr>
          <p:nvPr>
            <p:ph type="sldNum" sz="quarter" idx="4294967295"/>
          </p:nvPr>
        </p:nvSpPr>
        <p:spPr>
          <a:xfrm>
            <a:off x="11686032"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47C"/>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30352" y="347472"/>
            <a:ext cx="1088136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2F8069"/>
                </a:solidFill>
                <a:latin typeface="Aptos" pitchFamily="34" charset="0"/>
                <a:ea typeface="Aptos" pitchFamily="34" charset="-122"/>
                <a:cs typeface="Aptos" pitchFamily="34" charset="-120"/>
              </a:rPr>
              <a:t>11 / WHAT ALREADY EXISTS</a:t>
            </a:r>
            <a:endParaRPr lang="en-US" sz="900" dirty="0"/>
          </a:p>
        </p:txBody>
      </p:sp>
      <p:sp>
        <p:nvSpPr>
          <p:cNvPr id="3" name="Text 1"/>
          <p:cNvSpPr txBox="1"/>
          <p:nvPr/>
        </p:nvSpPr>
        <p:spPr>
          <a:xfrm>
            <a:off x="530352" y="69494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7352F"/>
                </a:solidFill>
                <a:latin typeface="Aptos Display" pitchFamily="34" charset="0"/>
                <a:ea typeface="Aptos Display" pitchFamily="34" charset="-122"/>
                <a:cs typeface="Aptos Display" pitchFamily="34" charset="-120"/>
              </a:rPr>
              <a:t>Search is common. The workflow is the question.</a:t>
            </a:r>
            <a:endParaRPr lang="en-US" sz="2700" dirty="0"/>
          </a:p>
        </p:txBody>
      </p:sp>
      <p:sp>
        <p:nvSpPr>
          <p:cNvPr id="4" name="Text 2"/>
          <p:cNvSpPr txBox="1"/>
          <p:nvPr/>
        </p:nvSpPr>
        <p:spPr>
          <a:xfrm>
            <a:off x="548640" y="1243584"/>
            <a:ext cx="10972800" cy="347472"/>
          </a:xfrm>
          <a:prstGeom prst="rect">
            <a:avLst/>
          </a:prstGeom>
          <a:noFill/>
          <a:ln/>
        </p:spPr>
        <p:txBody>
          <a:bodyPr wrap="square" lIns="0" tIns="0" rIns="0" bIns="0" rtlCol="0" anchor="ctr">
            <a:normAutofit/>
          </a:bodyPr>
          <a:lstStyle/>
          <a:p>
            <a:pPr algn="l" indent="0" marL="0">
              <a:buNone/>
            </a:pPr>
            <a:r>
              <a:rPr lang="en-US" sz="1250" dirty="0">
                <a:solidFill>
                  <a:srgbClr val="63756D"/>
                </a:solidFill>
                <a:latin typeface="Aptos" pitchFamily="34" charset="0"/>
                <a:ea typeface="Aptos" pitchFamily="34" charset="-122"/>
                <a:cs typeface="Aptos" pitchFamily="34" charset="-120"/>
              </a:rPr>
              <a:t>Microsoft and other tools already find files, show sources and respect file permissions.</a:t>
            </a:r>
            <a:endParaRPr lang="en-US" sz="1250" dirty="0"/>
          </a:p>
        </p:txBody>
      </p:sp>
      <p:sp>
        <p:nvSpPr>
          <p:cNvPr id="5" name="Shape 3"/>
          <p:cNvSpPr/>
          <p:nvPr/>
        </p:nvSpPr>
        <p:spPr>
          <a:xfrm>
            <a:off x="658368" y="1993392"/>
            <a:ext cx="3474720" cy="2148840"/>
          </a:xfrm>
          <a:prstGeom prst="roundRect">
            <a:avLst>
              <a:gd name="adj" fmla="val 5106"/>
            </a:avLst>
          </a:prstGeom>
          <a:solidFill>
            <a:srgbClr val="FFFFFF"/>
          </a:solidFill>
          <a:ln w="12700">
            <a:solidFill>
              <a:srgbClr val="D7E1DB"/>
            </a:solidFill>
            <a:prstDash val="solid"/>
          </a:ln>
        </p:spPr>
      </p:sp>
      <p:sp>
        <p:nvSpPr>
          <p:cNvPr id="6" name="Shape 4"/>
          <p:cNvSpPr/>
          <p:nvPr/>
        </p:nvSpPr>
        <p:spPr>
          <a:xfrm>
            <a:off x="658368" y="1993392"/>
            <a:ext cx="54864" cy="2148840"/>
          </a:xfrm>
          <a:prstGeom prst="rect">
            <a:avLst>
              <a:gd name="adj" fmla="val 200000"/>
            </a:avLst>
          </a:prstGeom>
          <a:solidFill>
            <a:srgbClr val="5278B8"/>
          </a:solidFill>
          <a:ln w="12700">
            <a:solidFill>
              <a:srgbClr val="5278B8">
                <a:alpha val="0"/>
              </a:srgbClr>
            </a:solidFill>
            <a:prstDash val="solid"/>
          </a:ln>
        </p:spPr>
      </p:sp>
      <p:sp>
        <p:nvSpPr>
          <p:cNvPr id="7" name="Text 5"/>
          <p:cNvSpPr txBox="1"/>
          <p:nvPr/>
        </p:nvSpPr>
        <p:spPr>
          <a:xfrm>
            <a:off x="859536" y="2157984"/>
            <a:ext cx="3090672" cy="292608"/>
          </a:xfrm>
          <a:prstGeom prst="rect">
            <a:avLst/>
          </a:prstGeom>
          <a:noFill/>
          <a:ln/>
        </p:spPr>
        <p:txBody>
          <a:bodyPr wrap="square" lIns="0" tIns="0" rIns="0" bIns="0" rtlCol="0" anchor="ctr">
            <a:normAutofit/>
          </a:bodyPr>
          <a:lstStyle/>
          <a:p>
            <a:pPr algn="l" indent="0" marL="0">
              <a:buNone/>
            </a:pPr>
            <a:r>
              <a:rPr lang="en-US" sz="1400" b="1" dirty="0">
                <a:solidFill>
                  <a:srgbClr val="17352F"/>
                </a:solidFill>
                <a:latin typeface="Aptos" pitchFamily="34" charset="0"/>
                <a:ea typeface="Aptos" pitchFamily="34" charset="-122"/>
                <a:cs typeface="Aptos" pitchFamily="34" charset="-120"/>
              </a:rPr>
              <a:t>Tools already do</a:t>
            </a:r>
            <a:endParaRPr lang="en-US" sz="1400" dirty="0"/>
          </a:p>
        </p:txBody>
      </p:sp>
      <p:sp>
        <p:nvSpPr>
          <p:cNvPr id="8" name="Text 6"/>
          <p:cNvSpPr txBox="1"/>
          <p:nvPr/>
        </p:nvSpPr>
        <p:spPr>
          <a:xfrm>
            <a:off x="859536" y="2532888"/>
            <a:ext cx="3072384" cy="1490472"/>
          </a:xfrm>
          <a:prstGeom prst="rect">
            <a:avLst/>
          </a:prstGeom>
          <a:noFill/>
          <a:ln/>
        </p:spPr>
        <p:txBody>
          <a:bodyPr wrap="square" lIns="0" tIns="0" rIns="0" bIns="0" rtlCol="0" anchor="t">
            <a:normAutofit/>
          </a:bodyPr>
          <a:lstStyle/>
          <a:p>
            <a:pPr algn="l" indent="0" marL="0">
              <a:buNone/>
            </a:pPr>
            <a:r>
              <a:rPr lang="en-US" sz="1050" dirty="0">
                <a:solidFill>
                  <a:srgbClr val="63756D"/>
                </a:solidFill>
                <a:latin typeface="Aptos" pitchFamily="34" charset="0"/>
                <a:ea typeface="Aptos" pitchFamily="34" charset="-122"/>
                <a:cs typeface="Aptos" pitchFamily="34" charset="-120"/>
              </a:rPr>
              <a:t>Search company files, summarize them, show sources and follow file permissions.</a:t>
            </a:r>
            <a:endParaRPr lang="en-US" sz="1050" dirty="0"/>
          </a:p>
        </p:txBody>
      </p:sp>
      <p:sp>
        <p:nvSpPr>
          <p:cNvPr id="9" name="Shape 7"/>
          <p:cNvSpPr/>
          <p:nvPr/>
        </p:nvSpPr>
        <p:spPr>
          <a:xfrm>
            <a:off x="4370832" y="1993392"/>
            <a:ext cx="3474720" cy="2148840"/>
          </a:xfrm>
          <a:prstGeom prst="roundRect">
            <a:avLst>
              <a:gd name="adj" fmla="val 5106"/>
            </a:avLst>
          </a:prstGeom>
          <a:solidFill>
            <a:srgbClr val="FFFFFF"/>
          </a:solidFill>
          <a:ln w="12700">
            <a:solidFill>
              <a:srgbClr val="D7E1DB"/>
            </a:solidFill>
            <a:prstDash val="solid"/>
          </a:ln>
        </p:spPr>
      </p:sp>
      <p:sp>
        <p:nvSpPr>
          <p:cNvPr id="10" name="Shape 8"/>
          <p:cNvSpPr/>
          <p:nvPr/>
        </p:nvSpPr>
        <p:spPr>
          <a:xfrm>
            <a:off x="4370832" y="1993392"/>
            <a:ext cx="54864" cy="2148840"/>
          </a:xfrm>
          <a:prstGeom prst="rect">
            <a:avLst>
              <a:gd name="adj" fmla="val 200000"/>
            </a:avLst>
          </a:prstGeom>
          <a:solidFill>
            <a:srgbClr val="2F8069"/>
          </a:solidFill>
          <a:ln w="12700">
            <a:solidFill>
              <a:srgbClr val="2F8069">
                <a:alpha val="0"/>
              </a:srgbClr>
            </a:solidFill>
            <a:prstDash val="solid"/>
          </a:ln>
        </p:spPr>
      </p:sp>
      <p:sp>
        <p:nvSpPr>
          <p:cNvPr id="11" name="Text 9"/>
          <p:cNvSpPr txBox="1"/>
          <p:nvPr/>
        </p:nvSpPr>
        <p:spPr>
          <a:xfrm>
            <a:off x="4572000" y="2157984"/>
            <a:ext cx="3090672" cy="292608"/>
          </a:xfrm>
          <a:prstGeom prst="rect">
            <a:avLst/>
          </a:prstGeom>
          <a:noFill/>
          <a:ln/>
        </p:spPr>
        <p:txBody>
          <a:bodyPr wrap="square" lIns="0" tIns="0" rIns="0" bIns="0" rtlCol="0" anchor="ctr">
            <a:normAutofit/>
          </a:bodyPr>
          <a:lstStyle/>
          <a:p>
            <a:pPr algn="l" indent="0" marL="0">
              <a:buNone/>
            </a:pPr>
            <a:r>
              <a:rPr lang="en-US" sz="1400" b="1" dirty="0">
                <a:solidFill>
                  <a:srgbClr val="17352F"/>
                </a:solidFill>
                <a:latin typeface="Aptos" pitchFamily="34" charset="0"/>
                <a:ea typeface="Aptos" pitchFamily="34" charset="-122"/>
                <a:cs typeface="Aptos" pitchFamily="34" charset="-120"/>
              </a:rPr>
              <a:t>Workflow to test</a:t>
            </a:r>
            <a:endParaRPr lang="en-US" sz="1400" dirty="0"/>
          </a:p>
        </p:txBody>
      </p:sp>
      <p:sp>
        <p:nvSpPr>
          <p:cNvPr id="12" name="Text 10"/>
          <p:cNvSpPr txBox="1"/>
          <p:nvPr/>
        </p:nvSpPr>
        <p:spPr>
          <a:xfrm>
            <a:off x="4572000" y="2532888"/>
            <a:ext cx="3072384" cy="1490472"/>
          </a:xfrm>
          <a:prstGeom prst="rect">
            <a:avLst/>
          </a:prstGeom>
          <a:noFill/>
          <a:ln/>
        </p:spPr>
        <p:txBody>
          <a:bodyPr wrap="square" lIns="0" tIns="0" rIns="0" bIns="0" rtlCol="0" anchor="t">
            <a:normAutofit/>
          </a:bodyPr>
          <a:lstStyle/>
          <a:p>
            <a:pPr algn="l" indent="0" marL="0">
              <a:buNone/>
            </a:pPr>
            <a:r>
              <a:rPr lang="en-US" sz="1050" dirty="0">
                <a:solidFill>
                  <a:srgbClr val="63756D"/>
                </a:solidFill>
                <a:latin typeface="Aptos" pitchFamily="34" charset="0"/>
                <a:ea typeface="Aptos" pitchFamily="34" charset="-122"/>
                <a:cs typeface="Aptos" pitchFamily="34" charset="-120"/>
              </a:rPr>
              <a:t>Owner opts in. A response time is set. The requester keeps existing file access. A person handles gaps.</a:t>
            </a:r>
            <a:endParaRPr lang="en-US" sz="1050" dirty="0"/>
          </a:p>
        </p:txBody>
      </p:sp>
      <p:sp>
        <p:nvSpPr>
          <p:cNvPr id="13" name="Shape 11"/>
          <p:cNvSpPr/>
          <p:nvPr/>
        </p:nvSpPr>
        <p:spPr>
          <a:xfrm>
            <a:off x="8083296" y="1993392"/>
            <a:ext cx="3474720" cy="2148840"/>
          </a:xfrm>
          <a:prstGeom prst="roundRect">
            <a:avLst>
              <a:gd name="adj" fmla="val 5106"/>
            </a:avLst>
          </a:prstGeom>
          <a:solidFill>
            <a:srgbClr val="FFF0E9"/>
          </a:solidFill>
          <a:ln w="12700">
            <a:solidFill>
              <a:srgbClr val="D7E1DB"/>
            </a:solidFill>
            <a:prstDash val="solid"/>
          </a:ln>
        </p:spPr>
      </p:sp>
      <p:sp>
        <p:nvSpPr>
          <p:cNvPr id="14" name="Shape 12"/>
          <p:cNvSpPr/>
          <p:nvPr/>
        </p:nvSpPr>
        <p:spPr>
          <a:xfrm>
            <a:off x="8083296" y="1993392"/>
            <a:ext cx="54864" cy="2148840"/>
          </a:xfrm>
          <a:prstGeom prst="rect">
            <a:avLst>
              <a:gd name="adj" fmla="val 200000"/>
            </a:avLst>
          </a:prstGeom>
          <a:solidFill>
            <a:srgbClr val="E87C65"/>
          </a:solidFill>
          <a:ln w="12700">
            <a:solidFill>
              <a:srgbClr val="E87C65">
                <a:alpha val="0"/>
              </a:srgbClr>
            </a:solidFill>
            <a:prstDash val="solid"/>
          </a:ln>
        </p:spPr>
      </p:sp>
      <p:sp>
        <p:nvSpPr>
          <p:cNvPr id="15" name="Text 13"/>
          <p:cNvSpPr txBox="1"/>
          <p:nvPr/>
        </p:nvSpPr>
        <p:spPr>
          <a:xfrm>
            <a:off x="8284464" y="2157984"/>
            <a:ext cx="3090672" cy="292608"/>
          </a:xfrm>
          <a:prstGeom prst="rect">
            <a:avLst/>
          </a:prstGeom>
          <a:noFill/>
          <a:ln/>
        </p:spPr>
        <p:txBody>
          <a:bodyPr wrap="square" lIns="0" tIns="0" rIns="0" bIns="0" rtlCol="0" anchor="ctr">
            <a:normAutofit/>
          </a:bodyPr>
          <a:lstStyle/>
          <a:p>
            <a:pPr algn="l" indent="0" marL="0">
              <a:buNone/>
            </a:pPr>
            <a:r>
              <a:rPr lang="en-US" sz="1400" b="1" dirty="0">
                <a:solidFill>
                  <a:srgbClr val="17352F"/>
                </a:solidFill>
                <a:latin typeface="Aptos" pitchFamily="34" charset="0"/>
                <a:ea typeface="Aptos" pitchFamily="34" charset="-122"/>
                <a:cs typeface="Aptos" pitchFamily="34" charset="-120"/>
              </a:rPr>
              <a:t>Open question</a:t>
            </a:r>
            <a:endParaRPr lang="en-US" sz="1400" dirty="0"/>
          </a:p>
        </p:txBody>
      </p:sp>
      <p:sp>
        <p:nvSpPr>
          <p:cNvPr id="16" name="Text 14"/>
          <p:cNvSpPr txBox="1"/>
          <p:nvPr/>
        </p:nvSpPr>
        <p:spPr>
          <a:xfrm>
            <a:off x="8284464" y="2532888"/>
            <a:ext cx="3072384" cy="1490472"/>
          </a:xfrm>
          <a:prstGeom prst="rect">
            <a:avLst/>
          </a:prstGeom>
          <a:noFill/>
          <a:ln/>
        </p:spPr>
        <p:txBody>
          <a:bodyPr wrap="square" lIns="0" tIns="0" rIns="0" bIns="0" rtlCol="0" anchor="t">
            <a:normAutofit/>
          </a:bodyPr>
          <a:lstStyle/>
          <a:p>
            <a:pPr algn="l" indent="0" marL="0">
              <a:buNone/>
            </a:pPr>
            <a:r>
              <a:rPr lang="en-US" sz="1050" dirty="0">
                <a:solidFill>
                  <a:srgbClr val="63756D"/>
                </a:solidFill>
                <a:latin typeface="Aptos" pitchFamily="34" charset="0"/>
                <a:ea typeface="Aptos" pitchFamily="34" charset="-122"/>
                <a:cs typeface="Aptos" pitchFamily="34" charset="-120"/>
              </a:rPr>
              <a:t>Do teams need this extra handoff, or can they configure Copilot or another tool?</a:t>
            </a:r>
            <a:endParaRPr lang="en-US" sz="1050" dirty="0"/>
          </a:p>
        </p:txBody>
      </p:sp>
      <p:sp>
        <p:nvSpPr>
          <p:cNvPr id="17" name="Text 15"/>
          <p:cNvSpPr txBox="1"/>
          <p:nvPr/>
        </p:nvSpPr>
        <p:spPr>
          <a:xfrm>
            <a:off x="749808" y="4791456"/>
            <a:ext cx="10652760" cy="347472"/>
          </a:xfrm>
          <a:prstGeom prst="rect">
            <a:avLst/>
          </a:prstGeom>
          <a:noFill/>
          <a:ln/>
        </p:spPr>
        <p:txBody>
          <a:bodyPr wrap="square" lIns="0" tIns="0" rIns="0" bIns="0" rtlCol="0" anchor="ctr">
            <a:normAutofit/>
          </a:bodyPr>
          <a:lstStyle/>
          <a:p>
            <a:pPr algn="ctr" indent="0" marL="0">
              <a:buNone/>
            </a:pPr>
            <a:r>
              <a:rPr lang="en-US" sz="1600" b="1" dirty="0">
                <a:solidFill>
                  <a:srgbClr val="17352F"/>
                </a:solidFill>
                <a:latin typeface="Aptos" pitchFamily="34" charset="0"/>
                <a:ea typeface="Aptos" pitchFamily="34" charset="-122"/>
                <a:cs typeface="Aptos" pitchFamily="34" charset="-120"/>
              </a:rPr>
              <a:t>No public review proves this exact workflow is unique.</a:t>
            </a:r>
            <a:endParaRPr lang="en-US" sz="1600" dirty="0"/>
          </a:p>
        </p:txBody>
      </p:sp>
      <p:sp>
        <p:nvSpPr>
          <p:cNvPr id="18" name="Text 16"/>
          <p:cNvSpPr txBox="1"/>
          <p:nvPr/>
        </p:nvSpPr>
        <p:spPr>
          <a:xfrm>
            <a:off x="548640" y="6318504"/>
            <a:ext cx="10881360" cy="146304"/>
          </a:xfrm>
          <a:prstGeom prst="rect">
            <a:avLst/>
          </a:prstGeom>
          <a:noFill/>
          <a:ln/>
        </p:spPr>
        <p:txBody>
          <a:bodyPr wrap="square" lIns="0" tIns="0" rIns="0" bIns="0" rtlCol="0" anchor="ctr">
            <a:normAutofit/>
          </a:bodyPr>
          <a:lstStyle/>
          <a:p>
            <a:pPr algn="l" indent="0" marL="0">
              <a:buNone/>
            </a:pPr>
            <a:r>
              <a:rPr lang="en-US" sz="730" dirty="0">
                <a:solidFill>
                  <a:srgbClr val="63756D"/>
                </a:solidFill>
                <a:latin typeface="Aptos" pitchFamily="34" charset="0"/>
                <a:ea typeface="Aptos" pitchFamily="34" charset="-122"/>
                <a:cs typeface="Aptos" pitchFamily="34" charset="-120"/>
              </a:rPr>
              <a:t>Sources: Microsoft Autopilot (25 Sep), SharePoint team knowledge base (14 Oct), Glean and Moveworks.</a:t>
            </a:r>
            <a:endParaRPr lang="en-US" sz="730" dirty="0"/>
          </a:p>
        </p:txBody>
      </p:sp>
      <p:sp>
        <p:nvSpPr>
          <p:cNvPr id="25" name="Slide Number Placeholder 0"/>
          <p:cNvSpPr>
            <a:spLocks noGrp="1"/>
          </p:cNvSpPr>
          <p:nvPr>
            <p:ph type="sldNum" sz="quarter" idx="4294967295"/>
          </p:nvPr>
        </p:nvSpPr>
        <p:spPr>
          <a:xfrm>
            <a:off x="11686032"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47C"/>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30352" y="347472"/>
            <a:ext cx="1088136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2F8069"/>
                </a:solidFill>
                <a:latin typeface="Aptos" pitchFamily="34" charset="0"/>
                <a:ea typeface="Aptos" pitchFamily="34" charset="-122"/>
                <a:cs typeface="Aptos" pitchFamily="34" charset="-120"/>
              </a:rPr>
              <a:t>12 / EXAMPLE ECONOMICS</a:t>
            </a:r>
            <a:endParaRPr lang="en-US" sz="900" dirty="0"/>
          </a:p>
        </p:txBody>
      </p:sp>
      <p:sp>
        <p:nvSpPr>
          <p:cNvPr id="3" name="Text 1"/>
          <p:cNvSpPr txBox="1"/>
          <p:nvPr/>
        </p:nvSpPr>
        <p:spPr>
          <a:xfrm>
            <a:off x="530352" y="69494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7352F"/>
                </a:solidFill>
                <a:latin typeface="Aptos Display" pitchFamily="34" charset="0"/>
                <a:ea typeface="Aptos Display" pitchFamily="34" charset="-122"/>
                <a:cs typeface="Aptos Display" pitchFamily="34" charset="-120"/>
              </a:rPr>
              <a:t>Time value is not the same as cash saved</a:t>
            </a:r>
            <a:endParaRPr lang="en-US" sz="2700" dirty="0"/>
          </a:p>
        </p:txBody>
      </p:sp>
      <p:sp>
        <p:nvSpPr>
          <p:cNvPr id="4" name="Text 2"/>
          <p:cNvSpPr txBox="1"/>
          <p:nvPr/>
        </p:nvSpPr>
        <p:spPr>
          <a:xfrm>
            <a:off x="548640" y="1243584"/>
            <a:ext cx="10972800" cy="347472"/>
          </a:xfrm>
          <a:prstGeom prst="rect">
            <a:avLst/>
          </a:prstGeom>
          <a:noFill/>
          <a:ln/>
        </p:spPr>
        <p:txBody>
          <a:bodyPr wrap="square" lIns="0" tIns="0" rIns="0" bIns="0" rtlCol="0" anchor="ctr">
            <a:normAutofit/>
          </a:bodyPr>
          <a:lstStyle/>
          <a:p>
            <a:pPr algn="l" indent="0" marL="0">
              <a:buNone/>
            </a:pPr>
            <a:r>
              <a:rPr lang="en-US" sz="1250" dirty="0">
                <a:solidFill>
                  <a:srgbClr val="63756D"/>
                </a:solidFill>
                <a:latin typeface="Aptos" pitchFamily="34" charset="0"/>
                <a:ea typeface="Aptos" pitchFamily="34" charset="-122"/>
                <a:cs typeface="Aptos" pitchFamily="34" charset="-120"/>
              </a:rPr>
              <a:t>Compare estimated recovered work time with costs in AED (UAE dirhams).</a:t>
            </a:r>
            <a:endParaRPr lang="en-US" sz="1250" dirty="0"/>
          </a:p>
        </p:txBody>
      </p:sp>
      <p:sp>
        <p:nvSpPr>
          <p:cNvPr id="5" name="Shape 3"/>
          <p:cNvSpPr/>
          <p:nvPr/>
        </p:nvSpPr>
        <p:spPr>
          <a:xfrm>
            <a:off x="960120" y="5074920"/>
            <a:ext cx="6812280" cy="0"/>
          </a:xfrm>
          <a:prstGeom prst="line">
            <a:avLst/>
          </a:prstGeom>
          <a:noFill/>
          <a:ln w="10160">
            <a:solidFill>
              <a:srgbClr val="63756D"/>
            </a:solidFill>
            <a:prstDash val="solid"/>
            <a:tailEnd type="none"/>
          </a:ln>
        </p:spPr>
      </p:sp>
      <p:sp>
        <p:nvSpPr>
          <p:cNvPr id="6" name="Shape 4"/>
          <p:cNvSpPr/>
          <p:nvPr/>
        </p:nvSpPr>
        <p:spPr>
          <a:xfrm>
            <a:off x="1417320" y="4855845"/>
            <a:ext cx="1051560" cy="219075"/>
          </a:xfrm>
          <a:prstGeom prst="roundRect">
            <a:avLst>
              <a:gd name="adj" fmla="val 50087"/>
            </a:avLst>
          </a:prstGeom>
          <a:solidFill>
            <a:srgbClr val="5278B8"/>
          </a:solidFill>
          <a:ln w="12700">
            <a:solidFill>
              <a:srgbClr val="5278B8">
                <a:alpha val="0"/>
              </a:srgbClr>
            </a:solidFill>
            <a:prstDash val="solid"/>
          </a:ln>
        </p:spPr>
      </p:sp>
      <p:sp>
        <p:nvSpPr>
          <p:cNvPr id="7" name="Text 5"/>
          <p:cNvSpPr txBox="1"/>
          <p:nvPr/>
        </p:nvSpPr>
        <p:spPr>
          <a:xfrm>
            <a:off x="1188720" y="4471797"/>
            <a:ext cx="1508760" cy="256032"/>
          </a:xfrm>
          <a:prstGeom prst="rect">
            <a:avLst/>
          </a:prstGeom>
          <a:noFill/>
          <a:ln/>
        </p:spPr>
        <p:txBody>
          <a:bodyPr wrap="square" lIns="0" tIns="0" rIns="0" bIns="0" rtlCol="0" anchor="ctr">
            <a:normAutofit/>
          </a:bodyPr>
          <a:lstStyle/>
          <a:p>
            <a:pPr algn="ctr" indent="0" marL="0">
              <a:buNone/>
            </a:pPr>
            <a:r>
              <a:rPr lang="en-US" sz="1150" b="1" dirty="0">
                <a:solidFill>
                  <a:srgbClr val="17352F"/>
                </a:solidFill>
                <a:latin typeface="Aptos" pitchFamily="34" charset="0"/>
                <a:ea typeface="Aptos" pitchFamily="34" charset="-122"/>
                <a:cs typeface="Aptos" pitchFamily="34" charset="-120"/>
              </a:rPr>
              <a:t>AED 125k</a:t>
            </a:r>
            <a:endParaRPr lang="en-US" sz="1150" dirty="0"/>
          </a:p>
        </p:txBody>
      </p:sp>
      <p:sp>
        <p:nvSpPr>
          <p:cNvPr id="8" name="Text 6"/>
          <p:cNvSpPr txBox="1"/>
          <p:nvPr/>
        </p:nvSpPr>
        <p:spPr>
          <a:xfrm>
            <a:off x="1371600" y="5239512"/>
            <a:ext cx="1143000" cy="210312"/>
          </a:xfrm>
          <a:prstGeom prst="rect">
            <a:avLst/>
          </a:prstGeom>
          <a:noFill/>
          <a:ln/>
        </p:spPr>
        <p:txBody>
          <a:bodyPr wrap="square" lIns="0" tIns="0" rIns="0" bIns="0" rtlCol="0" anchor="ctr">
            <a:normAutofit/>
          </a:bodyPr>
          <a:lstStyle/>
          <a:p>
            <a:pPr algn="ctr" indent="0" marL="0">
              <a:buNone/>
            </a:pPr>
            <a:r>
              <a:rPr lang="en-US" sz="900" b="1" spc="120" kern="0" dirty="0">
                <a:solidFill>
                  <a:srgbClr val="63756D"/>
                </a:solidFill>
                <a:latin typeface="Aptos" pitchFamily="34" charset="0"/>
                <a:ea typeface="Aptos" pitchFamily="34" charset="-122"/>
                <a:cs typeface="Aptos" pitchFamily="34" charset="-120"/>
              </a:rPr>
              <a:t>LOW</a:t>
            </a:r>
            <a:endParaRPr lang="en-US" sz="900" dirty="0"/>
          </a:p>
        </p:txBody>
      </p:sp>
      <p:sp>
        <p:nvSpPr>
          <p:cNvPr id="9" name="Shape 7"/>
          <p:cNvSpPr/>
          <p:nvPr/>
        </p:nvSpPr>
        <p:spPr>
          <a:xfrm>
            <a:off x="3447288" y="3848100"/>
            <a:ext cx="1051560" cy="1226820"/>
          </a:xfrm>
          <a:prstGeom prst="roundRect">
            <a:avLst>
              <a:gd name="adj" fmla="val 10435"/>
            </a:avLst>
          </a:prstGeom>
          <a:solidFill>
            <a:srgbClr val="2F8069"/>
          </a:solidFill>
          <a:ln w="12700">
            <a:solidFill>
              <a:srgbClr val="2F8069">
                <a:alpha val="0"/>
              </a:srgbClr>
            </a:solidFill>
            <a:prstDash val="solid"/>
          </a:ln>
        </p:spPr>
      </p:sp>
      <p:sp>
        <p:nvSpPr>
          <p:cNvPr id="10" name="Text 8"/>
          <p:cNvSpPr txBox="1"/>
          <p:nvPr/>
        </p:nvSpPr>
        <p:spPr>
          <a:xfrm>
            <a:off x="3218688" y="3464052"/>
            <a:ext cx="1508760" cy="256032"/>
          </a:xfrm>
          <a:prstGeom prst="rect">
            <a:avLst/>
          </a:prstGeom>
          <a:noFill/>
          <a:ln/>
        </p:spPr>
        <p:txBody>
          <a:bodyPr wrap="square" lIns="0" tIns="0" rIns="0" bIns="0" rtlCol="0" anchor="ctr">
            <a:normAutofit/>
          </a:bodyPr>
          <a:lstStyle/>
          <a:p>
            <a:pPr algn="ctr" indent="0" marL="0">
              <a:buNone/>
            </a:pPr>
            <a:r>
              <a:rPr lang="en-US" sz="1150" b="1" dirty="0">
                <a:solidFill>
                  <a:srgbClr val="17352F"/>
                </a:solidFill>
                <a:latin typeface="Aptos" pitchFamily="34" charset="0"/>
                <a:ea typeface="Aptos" pitchFamily="34" charset="-122"/>
                <a:cs typeface="Aptos" pitchFamily="34" charset="-120"/>
              </a:rPr>
              <a:t>AED 700k</a:t>
            </a:r>
            <a:endParaRPr lang="en-US" sz="1150" dirty="0"/>
          </a:p>
        </p:txBody>
      </p:sp>
      <p:sp>
        <p:nvSpPr>
          <p:cNvPr id="11" name="Text 9"/>
          <p:cNvSpPr txBox="1"/>
          <p:nvPr/>
        </p:nvSpPr>
        <p:spPr>
          <a:xfrm>
            <a:off x="3401568" y="5239512"/>
            <a:ext cx="1143000" cy="210312"/>
          </a:xfrm>
          <a:prstGeom prst="rect">
            <a:avLst/>
          </a:prstGeom>
          <a:noFill/>
          <a:ln/>
        </p:spPr>
        <p:txBody>
          <a:bodyPr wrap="square" lIns="0" tIns="0" rIns="0" bIns="0" rtlCol="0" anchor="ctr">
            <a:normAutofit/>
          </a:bodyPr>
          <a:lstStyle/>
          <a:p>
            <a:pPr algn="ctr" indent="0" marL="0">
              <a:buNone/>
            </a:pPr>
            <a:r>
              <a:rPr lang="en-US" sz="900" b="1" spc="120" kern="0" dirty="0">
                <a:solidFill>
                  <a:srgbClr val="63756D"/>
                </a:solidFill>
                <a:latin typeface="Aptos" pitchFamily="34" charset="0"/>
                <a:ea typeface="Aptos" pitchFamily="34" charset="-122"/>
                <a:cs typeface="Aptos" pitchFamily="34" charset="-120"/>
              </a:rPr>
              <a:t>BASE</a:t>
            </a:r>
            <a:endParaRPr lang="en-US" sz="900" dirty="0"/>
          </a:p>
        </p:txBody>
      </p:sp>
      <p:sp>
        <p:nvSpPr>
          <p:cNvPr id="12" name="Shape 10"/>
          <p:cNvSpPr/>
          <p:nvPr/>
        </p:nvSpPr>
        <p:spPr>
          <a:xfrm>
            <a:off x="5477256" y="2251481"/>
            <a:ext cx="1051560" cy="2823439"/>
          </a:xfrm>
          <a:prstGeom prst="roundRect">
            <a:avLst>
              <a:gd name="adj" fmla="val 10435"/>
            </a:avLst>
          </a:prstGeom>
          <a:solidFill>
            <a:srgbClr val="BFE7D6"/>
          </a:solidFill>
          <a:ln w="12700">
            <a:solidFill>
              <a:srgbClr val="BFE7D6">
                <a:alpha val="0"/>
              </a:srgbClr>
            </a:solidFill>
            <a:prstDash val="solid"/>
          </a:ln>
        </p:spPr>
      </p:sp>
      <p:sp>
        <p:nvSpPr>
          <p:cNvPr id="13" name="Text 11"/>
          <p:cNvSpPr txBox="1"/>
          <p:nvPr/>
        </p:nvSpPr>
        <p:spPr>
          <a:xfrm>
            <a:off x="5248656" y="1867433"/>
            <a:ext cx="1508760" cy="256032"/>
          </a:xfrm>
          <a:prstGeom prst="rect">
            <a:avLst/>
          </a:prstGeom>
          <a:noFill/>
          <a:ln/>
        </p:spPr>
        <p:txBody>
          <a:bodyPr wrap="square" lIns="0" tIns="0" rIns="0" bIns="0" rtlCol="0" anchor="ctr">
            <a:normAutofit/>
          </a:bodyPr>
          <a:lstStyle/>
          <a:p>
            <a:pPr algn="ctr" indent="0" marL="0">
              <a:buNone/>
            </a:pPr>
            <a:r>
              <a:rPr lang="en-US" sz="1150" b="1" dirty="0">
                <a:solidFill>
                  <a:srgbClr val="17352F"/>
                </a:solidFill>
                <a:latin typeface="Aptos" pitchFamily="34" charset="0"/>
                <a:ea typeface="Aptos" pitchFamily="34" charset="-122"/>
                <a:cs typeface="Aptos" pitchFamily="34" charset="-120"/>
              </a:rPr>
              <a:t>AED 1,611k</a:t>
            </a:r>
            <a:endParaRPr lang="en-US" sz="1150" dirty="0"/>
          </a:p>
        </p:txBody>
      </p:sp>
      <p:sp>
        <p:nvSpPr>
          <p:cNvPr id="14" name="Text 12"/>
          <p:cNvSpPr txBox="1"/>
          <p:nvPr/>
        </p:nvSpPr>
        <p:spPr>
          <a:xfrm>
            <a:off x="5431536" y="5239512"/>
            <a:ext cx="1143000" cy="210312"/>
          </a:xfrm>
          <a:prstGeom prst="rect">
            <a:avLst/>
          </a:prstGeom>
          <a:noFill/>
          <a:ln/>
        </p:spPr>
        <p:txBody>
          <a:bodyPr wrap="square" lIns="0" tIns="0" rIns="0" bIns="0" rtlCol="0" anchor="ctr">
            <a:normAutofit/>
          </a:bodyPr>
          <a:lstStyle/>
          <a:p>
            <a:pPr algn="ctr" indent="0" marL="0">
              <a:buNone/>
            </a:pPr>
            <a:r>
              <a:rPr lang="en-US" sz="900" b="1" spc="120" kern="0" dirty="0">
                <a:solidFill>
                  <a:srgbClr val="63756D"/>
                </a:solidFill>
                <a:latin typeface="Aptos" pitchFamily="34" charset="0"/>
                <a:ea typeface="Aptos" pitchFamily="34" charset="-122"/>
                <a:cs typeface="Aptos" pitchFamily="34" charset="-120"/>
              </a:rPr>
              <a:t>HIGH</a:t>
            </a:r>
            <a:endParaRPr lang="en-US" sz="900" dirty="0"/>
          </a:p>
        </p:txBody>
      </p:sp>
      <p:sp>
        <p:nvSpPr>
          <p:cNvPr id="15" name="Shape 13"/>
          <p:cNvSpPr/>
          <p:nvPr/>
        </p:nvSpPr>
        <p:spPr>
          <a:xfrm>
            <a:off x="914400" y="3777996"/>
            <a:ext cx="6812280" cy="0"/>
          </a:xfrm>
          <a:prstGeom prst="line">
            <a:avLst/>
          </a:prstGeom>
          <a:noFill/>
          <a:ln w="25400">
            <a:solidFill>
              <a:srgbClr val="E87C65"/>
            </a:solidFill>
            <a:prstDash val="dash"/>
            <a:tailEnd type="none"/>
          </a:ln>
        </p:spPr>
      </p:sp>
      <p:sp>
        <p:nvSpPr>
          <p:cNvPr id="16" name="Text 14"/>
          <p:cNvSpPr txBox="1"/>
          <p:nvPr/>
        </p:nvSpPr>
        <p:spPr>
          <a:xfrm>
            <a:off x="4937760" y="3476244"/>
            <a:ext cx="2788920" cy="201168"/>
          </a:xfrm>
          <a:prstGeom prst="rect">
            <a:avLst/>
          </a:prstGeom>
          <a:noFill/>
          <a:ln/>
        </p:spPr>
        <p:txBody>
          <a:bodyPr wrap="square" lIns="0" tIns="0" rIns="0" bIns="0" rtlCol="0" anchor="ctr">
            <a:normAutofit/>
          </a:bodyPr>
          <a:lstStyle/>
          <a:p>
            <a:pPr algn="r" indent="0" marL="0">
              <a:buNone/>
            </a:pPr>
            <a:r>
              <a:rPr lang="en-US" sz="870" b="1" dirty="0">
                <a:solidFill>
                  <a:srgbClr val="E87C65"/>
                </a:solidFill>
                <a:latin typeface="Aptos" pitchFamily="34" charset="0"/>
                <a:ea typeface="Aptos" pitchFamily="34" charset="-122"/>
                <a:cs typeface="Aptos" pitchFamily="34" charset="-120"/>
              </a:rPr>
              <a:t>Example annual operating cost: AED 740k</a:t>
            </a:r>
            <a:endParaRPr lang="en-US" sz="870" dirty="0"/>
          </a:p>
        </p:txBody>
      </p:sp>
      <p:sp>
        <p:nvSpPr>
          <p:cNvPr id="17" name="Shape 15"/>
          <p:cNvSpPr/>
          <p:nvPr/>
        </p:nvSpPr>
        <p:spPr>
          <a:xfrm>
            <a:off x="8302752" y="1993392"/>
            <a:ext cx="3136392" cy="3154680"/>
          </a:xfrm>
          <a:prstGeom prst="roundRect">
            <a:avLst>
              <a:gd name="adj" fmla="val 3499"/>
            </a:avLst>
          </a:prstGeom>
          <a:solidFill>
            <a:srgbClr val="FFFFFF"/>
          </a:solidFill>
          <a:ln w="12700">
            <a:solidFill>
              <a:srgbClr val="D7E1DB"/>
            </a:solidFill>
            <a:prstDash val="solid"/>
          </a:ln>
        </p:spPr>
      </p:sp>
      <p:sp>
        <p:nvSpPr>
          <p:cNvPr id="18" name="Text 16"/>
          <p:cNvSpPr txBox="1"/>
          <p:nvPr/>
        </p:nvSpPr>
        <p:spPr>
          <a:xfrm>
            <a:off x="8577072" y="2304288"/>
            <a:ext cx="2560320" cy="210312"/>
          </a:xfrm>
          <a:prstGeom prst="rect">
            <a:avLst/>
          </a:prstGeom>
          <a:noFill/>
          <a:ln/>
        </p:spPr>
        <p:txBody>
          <a:bodyPr wrap="square" lIns="0" tIns="0" rIns="0" bIns="0" rtlCol="0" anchor="ctr">
            <a:normAutofit/>
          </a:bodyPr>
          <a:lstStyle/>
          <a:p>
            <a:pPr algn="l" indent="0" marL="0">
              <a:buNone/>
            </a:pPr>
            <a:r>
              <a:rPr lang="en-US" sz="840" b="1" spc="80" kern="0" dirty="0">
                <a:solidFill>
                  <a:srgbClr val="2F8069"/>
                </a:solidFill>
                <a:latin typeface="Aptos" pitchFamily="34" charset="0"/>
                <a:ea typeface="Aptos" pitchFamily="34" charset="-122"/>
                <a:cs typeface="Aptos" pitchFamily="34" charset="-120"/>
              </a:rPr>
              <a:t>BASE EXAMPLE · VALUE OF TIME</a:t>
            </a:r>
            <a:endParaRPr lang="en-US" sz="840" dirty="0"/>
          </a:p>
        </p:txBody>
      </p:sp>
      <p:sp>
        <p:nvSpPr>
          <p:cNvPr id="19" name="Text 17"/>
          <p:cNvSpPr txBox="1"/>
          <p:nvPr/>
        </p:nvSpPr>
        <p:spPr>
          <a:xfrm>
            <a:off x="8577072" y="2715768"/>
            <a:ext cx="2560320" cy="566928"/>
          </a:xfrm>
          <a:prstGeom prst="rect">
            <a:avLst/>
          </a:prstGeom>
          <a:noFill/>
          <a:ln/>
        </p:spPr>
        <p:txBody>
          <a:bodyPr wrap="square" lIns="0" tIns="0" rIns="0" bIns="0" rtlCol="0" anchor="ctr">
            <a:normAutofit/>
          </a:bodyPr>
          <a:lstStyle/>
          <a:p>
            <a:pPr algn="l" indent="0" marL="0">
              <a:buNone/>
            </a:pPr>
            <a:r>
              <a:rPr lang="en-US" sz="3200" b="1" dirty="0">
                <a:solidFill>
                  <a:srgbClr val="17352F"/>
                </a:solidFill>
                <a:latin typeface="Aptos Display" pitchFamily="34" charset="0"/>
                <a:ea typeface="Aptos Display" pitchFamily="34" charset="-122"/>
                <a:cs typeface="Aptos Display" pitchFamily="34" charset="-120"/>
              </a:rPr>
              <a:t>AED 700k</a:t>
            </a:r>
            <a:endParaRPr lang="en-US" sz="3200" dirty="0"/>
          </a:p>
        </p:txBody>
      </p:sp>
      <p:sp>
        <p:nvSpPr>
          <p:cNvPr id="20" name="Text 18"/>
          <p:cNvSpPr txBox="1"/>
          <p:nvPr/>
        </p:nvSpPr>
        <p:spPr>
          <a:xfrm>
            <a:off x="8577072" y="3520440"/>
            <a:ext cx="2423160" cy="822960"/>
          </a:xfrm>
          <a:prstGeom prst="rect">
            <a:avLst/>
          </a:prstGeom>
          <a:noFill/>
          <a:ln/>
        </p:spPr>
        <p:txBody>
          <a:bodyPr wrap="square" lIns="0" tIns="0" rIns="0" bIns="0" rtlCol="0" anchor="t">
            <a:normAutofit/>
          </a:bodyPr>
          <a:lstStyle/>
          <a:p>
            <a:pPr algn="l" indent="0" marL="0">
              <a:buNone/>
            </a:pPr>
            <a:r>
              <a:rPr lang="en-US" sz="1100" dirty="0">
                <a:solidFill>
                  <a:srgbClr val="63756D"/>
                </a:solidFill>
                <a:latin typeface="Aptos" pitchFamily="34" charset="0"/>
                <a:ea typeface="Aptos" pitchFamily="34" charset="-122"/>
                <a:cs typeface="Aptos" pitchFamily="34" charset="-120"/>
              </a:rPr>
              <a:t>8,400 answers people accept</a:t>
            </a:r>
            <a:endParaRPr lang="en-US" sz="1100" dirty="0"/>
          </a:p>
          <a:p>
            <a:pPr algn="l" indent="0" marL="0">
              <a:buNone/>
            </a:pPr>
            <a:r>
              <a:rPr lang="en-US" sz="1100" dirty="0">
                <a:solidFill>
                  <a:srgbClr val="63756D"/>
                </a:solidFill>
                <a:latin typeface="Aptos" pitchFamily="34" charset="0"/>
                <a:ea typeface="Aptos" pitchFamily="34" charset="-122"/>
                <a:cs typeface="Aptos" pitchFamily="34" charset="-120"/>
              </a:rPr>
              <a:t>× 20 minutes of search saved</a:t>
            </a:r>
            <a:endParaRPr lang="en-US" sz="1100" dirty="0"/>
          </a:p>
          <a:p>
            <a:pPr algn="l" indent="0" marL="0">
              <a:buNone/>
            </a:pPr>
            <a:r>
              <a:rPr lang="en-US" sz="1100" dirty="0">
                <a:solidFill>
                  <a:srgbClr val="63756D"/>
                </a:solidFill>
                <a:latin typeface="Aptos" pitchFamily="34" charset="0"/>
                <a:ea typeface="Aptos" pitchFamily="34" charset="-122"/>
                <a:cs typeface="Aptos" pitchFamily="34" charset="-120"/>
              </a:rPr>
              <a:t>× AED 250 per work hour</a:t>
            </a:r>
            <a:endParaRPr lang="en-US" sz="1100" dirty="0"/>
          </a:p>
        </p:txBody>
      </p:sp>
      <p:sp>
        <p:nvSpPr>
          <p:cNvPr id="21" name="Text 19"/>
          <p:cNvSpPr txBox="1"/>
          <p:nvPr/>
        </p:nvSpPr>
        <p:spPr>
          <a:xfrm>
            <a:off x="8577072" y="4626864"/>
            <a:ext cx="2514600" cy="384048"/>
          </a:xfrm>
          <a:prstGeom prst="rect">
            <a:avLst/>
          </a:prstGeom>
          <a:noFill/>
          <a:ln/>
        </p:spPr>
        <p:txBody>
          <a:bodyPr wrap="square" lIns="0" tIns="0" rIns="0" bIns="0" rtlCol="0" anchor="ctr">
            <a:normAutofit/>
          </a:bodyPr>
          <a:lstStyle/>
          <a:p>
            <a:pPr algn="l" indent="0" marL="0">
              <a:buNone/>
            </a:pPr>
            <a:r>
              <a:rPr lang="en-US" sz="980" b="1" dirty="0">
                <a:solidFill>
                  <a:srgbClr val="E87C65"/>
                </a:solidFill>
                <a:latin typeface="Aptos" pitchFamily="34" charset="0"/>
                <a:ea typeface="Aptos" pitchFamily="34" charset="-122"/>
                <a:cs typeface="Aptos" pitchFamily="34" charset="-120"/>
              </a:rPr>
              <a:t>Time value is AED 40k below example cost</a:t>
            </a:r>
            <a:endParaRPr lang="en-US" sz="980" dirty="0"/>
          </a:p>
        </p:txBody>
      </p:sp>
      <p:sp>
        <p:nvSpPr>
          <p:cNvPr id="22" name="Text 20"/>
          <p:cNvSpPr txBox="1"/>
          <p:nvPr/>
        </p:nvSpPr>
        <p:spPr>
          <a:xfrm>
            <a:off x="749808" y="5660136"/>
            <a:ext cx="10789920" cy="228600"/>
          </a:xfrm>
          <a:prstGeom prst="rect">
            <a:avLst/>
          </a:prstGeom>
          <a:noFill/>
          <a:ln/>
        </p:spPr>
        <p:txBody>
          <a:bodyPr wrap="square" lIns="0" tIns="0" rIns="0" bIns="0" rtlCol="0" anchor="ctr">
            <a:normAutofit/>
          </a:bodyPr>
          <a:lstStyle/>
          <a:p>
            <a:pPr algn="ctr" indent="0" marL="0">
              <a:buNone/>
            </a:pPr>
            <a:r>
              <a:rPr lang="en-US" sz="1020" b="1" dirty="0">
                <a:solidFill>
                  <a:srgbClr val="63756D"/>
                </a:solidFill>
                <a:latin typeface="Aptos" pitchFamily="34" charset="0"/>
                <a:ea typeface="Aptos" pitchFamily="34" charset="-122"/>
                <a:cs typeface="Aptos" pitchFamily="34" charset="-120"/>
              </a:rPr>
              <a:t>Assumptions only. No work time or financial benefit has been measured.</a:t>
            </a:r>
            <a:endParaRPr lang="en-US" sz="1020" dirty="0"/>
          </a:p>
        </p:txBody>
      </p:sp>
      <p:sp>
        <p:nvSpPr>
          <p:cNvPr id="23" name="Text 21"/>
          <p:cNvSpPr txBox="1"/>
          <p:nvPr/>
        </p:nvSpPr>
        <p:spPr>
          <a:xfrm>
            <a:off x="548640" y="6318504"/>
            <a:ext cx="10881360" cy="146304"/>
          </a:xfrm>
          <a:prstGeom prst="rect">
            <a:avLst/>
          </a:prstGeom>
          <a:noFill/>
          <a:ln/>
        </p:spPr>
        <p:txBody>
          <a:bodyPr wrap="square" lIns="0" tIns="0" rIns="0" bIns="0" rtlCol="0" anchor="ctr">
            <a:normAutofit/>
          </a:bodyPr>
          <a:lstStyle/>
          <a:p>
            <a:pPr algn="l" indent="0" marL="0">
              <a:buNone/>
            </a:pPr>
            <a:r>
              <a:rPr lang="en-US" sz="730" dirty="0">
                <a:solidFill>
                  <a:srgbClr val="63756D"/>
                </a:solidFill>
                <a:latin typeface="Aptos" pitchFamily="34" charset="0"/>
                <a:ea typeface="Aptos" pitchFamily="34" charset="-122"/>
                <a:cs typeface="Aptos" pitchFamily="34" charset="-120"/>
              </a:rPr>
              <a:t>Background and research sources are in the speaker notes.</a:t>
            </a:r>
            <a:endParaRPr lang="en-US" sz="730" dirty="0"/>
          </a:p>
        </p:txBody>
      </p:sp>
      <p:sp>
        <p:nvSpPr>
          <p:cNvPr id="25" name="Slide Number Placeholder 0"/>
          <p:cNvSpPr>
            <a:spLocks noGrp="1"/>
          </p:cNvSpPr>
          <p:nvPr>
            <p:ph type="sldNum" sz="quarter" idx="4294967295"/>
          </p:nvPr>
        </p:nvSpPr>
        <p:spPr>
          <a:xfrm>
            <a:off x="11686032"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47C"/>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30352" y="347472"/>
            <a:ext cx="1088136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2F8069"/>
                </a:solidFill>
                <a:latin typeface="Aptos" pitchFamily="34" charset="0"/>
                <a:ea typeface="Aptos" pitchFamily="34" charset="-122"/>
                <a:cs typeface="Aptos" pitchFamily="34" charset="-120"/>
              </a:rPr>
              <a:t>13 / NEXT STEPS</a:t>
            </a:r>
            <a:endParaRPr lang="en-US" sz="900" dirty="0"/>
          </a:p>
        </p:txBody>
      </p:sp>
      <p:sp>
        <p:nvSpPr>
          <p:cNvPr id="3" name="Text 1"/>
          <p:cNvSpPr txBox="1"/>
          <p:nvPr/>
        </p:nvSpPr>
        <p:spPr>
          <a:xfrm>
            <a:off x="530352" y="69494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7352F"/>
                </a:solidFill>
                <a:latin typeface="Aptos Display" pitchFamily="34" charset="0"/>
                <a:ea typeface="Aptos Display" pitchFamily="34" charset="-122"/>
                <a:cs typeface="Aptos Display" pitchFamily="34" charset="-120"/>
              </a:rPr>
              <a:t>A path from demo to a safe pilot</a:t>
            </a:r>
            <a:endParaRPr lang="en-US" sz="2700" dirty="0"/>
          </a:p>
        </p:txBody>
      </p:sp>
      <p:sp>
        <p:nvSpPr>
          <p:cNvPr id="4" name="Text 2"/>
          <p:cNvSpPr txBox="1"/>
          <p:nvPr/>
        </p:nvSpPr>
        <p:spPr>
          <a:xfrm>
            <a:off x="548640" y="1243584"/>
            <a:ext cx="10972800" cy="347472"/>
          </a:xfrm>
          <a:prstGeom prst="rect">
            <a:avLst/>
          </a:prstGeom>
          <a:noFill/>
          <a:ln/>
        </p:spPr>
        <p:txBody>
          <a:bodyPr wrap="square" lIns="0" tIns="0" rIns="0" bIns="0" rtlCol="0" anchor="ctr">
            <a:normAutofit/>
          </a:bodyPr>
          <a:lstStyle/>
          <a:p>
            <a:pPr algn="l" indent="0" marL="0">
              <a:buNone/>
            </a:pPr>
            <a:r>
              <a:rPr lang="en-US" sz="1250" dirty="0">
                <a:solidFill>
                  <a:srgbClr val="63756D"/>
                </a:solidFill>
                <a:latin typeface="Aptos" pitchFamily="34" charset="0"/>
                <a:ea typeface="Aptos" pitchFamily="34" charset="-122"/>
                <a:cs typeface="Aptos" pitchFamily="34" charset="-120"/>
              </a:rPr>
              <a:t>First review security and file access. Then connect Microsoft. Then measure value.</a:t>
            </a:r>
            <a:endParaRPr lang="en-US" sz="1250" dirty="0"/>
          </a:p>
        </p:txBody>
      </p:sp>
      <p:sp>
        <p:nvSpPr>
          <p:cNvPr id="5" name="Shape 3"/>
          <p:cNvSpPr/>
          <p:nvPr/>
        </p:nvSpPr>
        <p:spPr>
          <a:xfrm>
            <a:off x="658368" y="1975104"/>
            <a:ext cx="2542032" cy="2926080"/>
          </a:xfrm>
          <a:prstGeom prst="roundRect">
            <a:avLst>
              <a:gd name="adj" fmla="val 4317"/>
            </a:avLst>
          </a:prstGeom>
          <a:solidFill>
            <a:srgbClr val="FFFFFF"/>
          </a:solidFill>
          <a:ln w="12700">
            <a:solidFill>
              <a:srgbClr val="D7E1DB"/>
            </a:solidFill>
            <a:prstDash val="solid"/>
          </a:ln>
        </p:spPr>
      </p:sp>
      <p:sp>
        <p:nvSpPr>
          <p:cNvPr id="6" name="Shape 4"/>
          <p:cNvSpPr/>
          <p:nvPr/>
        </p:nvSpPr>
        <p:spPr>
          <a:xfrm>
            <a:off x="868680" y="2212848"/>
            <a:ext cx="914400" cy="292608"/>
          </a:xfrm>
          <a:prstGeom prst="roundRect">
            <a:avLst>
              <a:gd name="adj" fmla="val 37500"/>
            </a:avLst>
          </a:prstGeom>
          <a:solidFill>
            <a:srgbClr val="E8F1EC"/>
          </a:solidFill>
          <a:ln w="12700">
            <a:solidFill>
              <a:srgbClr val="E8F1EC">
                <a:alpha val="0"/>
              </a:srgbClr>
            </a:solidFill>
            <a:prstDash val="solid"/>
          </a:ln>
        </p:spPr>
      </p:sp>
      <p:sp>
        <p:nvSpPr>
          <p:cNvPr id="7" name="Text 5"/>
          <p:cNvSpPr txBox="1"/>
          <p:nvPr/>
        </p:nvSpPr>
        <p:spPr>
          <a:xfrm>
            <a:off x="960120" y="2249424"/>
            <a:ext cx="731520" cy="201168"/>
          </a:xfrm>
          <a:prstGeom prst="rect">
            <a:avLst/>
          </a:prstGeom>
          <a:noFill/>
          <a:ln/>
        </p:spPr>
        <p:txBody>
          <a:bodyPr wrap="square" lIns="0" tIns="0" rIns="0" bIns="0" rtlCol="0" anchor="ctr">
            <a:normAutofit/>
          </a:bodyPr>
          <a:lstStyle/>
          <a:p>
            <a:pPr algn="ctr" indent="0" marL="0">
              <a:buNone/>
            </a:pPr>
            <a:r>
              <a:rPr lang="en-US" sz="850" b="1" spc="30" kern="0" dirty="0">
                <a:solidFill>
                  <a:srgbClr val="2F8069"/>
                </a:solidFill>
                <a:latin typeface="Aptos" pitchFamily="34" charset="0"/>
                <a:ea typeface="Aptos" pitchFamily="34" charset="-122"/>
                <a:cs typeface="Aptos" pitchFamily="34" charset="-120"/>
              </a:rPr>
              <a:t>NOW</a:t>
            </a:r>
            <a:endParaRPr lang="en-US" sz="850" dirty="0"/>
          </a:p>
        </p:txBody>
      </p:sp>
      <p:sp>
        <p:nvSpPr>
          <p:cNvPr id="8" name="Text 6"/>
          <p:cNvSpPr txBox="1"/>
          <p:nvPr/>
        </p:nvSpPr>
        <p:spPr>
          <a:xfrm>
            <a:off x="868680" y="2715768"/>
            <a:ext cx="2057400" cy="329184"/>
          </a:xfrm>
          <a:prstGeom prst="rect">
            <a:avLst/>
          </a:prstGeom>
          <a:noFill/>
          <a:ln/>
        </p:spPr>
        <p:txBody>
          <a:bodyPr wrap="square" lIns="0" tIns="0" rIns="0" bIns="0" rtlCol="0" anchor="ctr">
            <a:normAutofit/>
          </a:bodyPr>
          <a:lstStyle/>
          <a:p>
            <a:pPr algn="l" indent="0" marL="0">
              <a:buNone/>
            </a:pPr>
            <a:r>
              <a:rPr lang="en-US" sz="1700" b="1" dirty="0">
                <a:solidFill>
                  <a:srgbClr val="17352F"/>
                </a:solidFill>
                <a:latin typeface="Aptos" pitchFamily="34" charset="0"/>
                <a:ea typeface="Aptos" pitchFamily="34" charset="-122"/>
                <a:cs typeface="Aptos" pitchFamily="34" charset="-120"/>
              </a:rPr>
              <a:t>Local demo</a:t>
            </a:r>
            <a:endParaRPr lang="en-US" sz="1700" dirty="0"/>
          </a:p>
        </p:txBody>
      </p:sp>
      <p:sp>
        <p:nvSpPr>
          <p:cNvPr id="9" name="Text 7"/>
          <p:cNvSpPr txBox="1"/>
          <p:nvPr/>
        </p:nvSpPr>
        <p:spPr>
          <a:xfrm>
            <a:off x="868680" y="3200400"/>
            <a:ext cx="2039112" cy="1051560"/>
          </a:xfrm>
          <a:prstGeom prst="rect">
            <a:avLst/>
          </a:prstGeom>
          <a:noFill/>
          <a:ln/>
        </p:spPr>
        <p:txBody>
          <a:bodyPr wrap="square" lIns="0" tIns="0" rIns="0" bIns="0" rtlCol="0" anchor="t">
            <a:normAutofit/>
          </a:bodyPr>
          <a:lstStyle/>
          <a:p>
            <a:pPr algn="l" indent="0" marL="0">
              <a:buNone/>
            </a:pPr>
            <a:r>
              <a:rPr lang="en-US" sz="1150" dirty="0">
                <a:solidFill>
                  <a:srgbClr val="63756D"/>
                </a:solidFill>
                <a:latin typeface="Aptos" pitchFamily="34" charset="0"/>
                <a:ea typeface="Aptos" pitchFamily="34" charset="-122"/>
                <a:cs typeface="Aptos" pitchFamily="34" charset="-120"/>
              </a:rPr>
              <a:t>Fictional people and files</a:t>
            </a:r>
            <a:endParaRPr lang="en-US" sz="1150" dirty="0"/>
          </a:p>
          <a:p>
            <a:pPr algn="l" indent="0" marL="0">
              <a:buNone/>
            </a:pPr>
            <a:r>
              <a:rPr lang="en-US" sz="1150" dirty="0">
                <a:solidFill>
                  <a:srgbClr val="63756D"/>
                </a:solidFill>
                <a:latin typeface="Aptos" pitchFamily="34" charset="0"/>
                <a:ea typeface="Aptos" pitchFamily="34" charset="-122"/>
                <a:cs typeface="Aptos" pitchFamily="34" charset="-120"/>
              </a:rPr>
              <a:t>Rules and file-access checks</a:t>
            </a:r>
            <a:endParaRPr lang="en-US" sz="1150" dirty="0"/>
          </a:p>
          <a:p>
            <a:pPr algn="l" indent="0" marL="0">
              <a:buNone/>
            </a:pPr>
            <a:r>
              <a:rPr lang="en-US" sz="1150" dirty="0">
                <a:solidFill>
                  <a:srgbClr val="63756D"/>
                </a:solidFill>
                <a:latin typeface="Aptos" pitchFamily="34" charset="0"/>
                <a:ea typeface="Aptos" pitchFamily="34" charset="-122"/>
                <a:cs typeface="Aptos" pitchFamily="34" charset="-120"/>
              </a:rPr>
              <a:t>Answer or human handoff</a:t>
            </a:r>
            <a:endParaRPr lang="en-US" sz="1150" dirty="0"/>
          </a:p>
        </p:txBody>
      </p:sp>
      <p:sp>
        <p:nvSpPr>
          <p:cNvPr id="10" name="Text 8"/>
          <p:cNvSpPr txBox="1"/>
          <p:nvPr/>
        </p:nvSpPr>
        <p:spPr>
          <a:xfrm>
            <a:off x="868680" y="4507992"/>
            <a:ext cx="2084832" cy="201168"/>
          </a:xfrm>
          <a:prstGeom prst="rect">
            <a:avLst/>
          </a:prstGeom>
          <a:noFill/>
          <a:ln/>
        </p:spPr>
        <p:txBody>
          <a:bodyPr wrap="square" lIns="0" tIns="0" rIns="0" bIns="0" rtlCol="0" anchor="ctr">
            <a:normAutofit/>
          </a:bodyPr>
          <a:lstStyle/>
          <a:p>
            <a:pPr algn="l" indent="0" marL="0">
              <a:buNone/>
            </a:pPr>
            <a:r>
              <a:rPr lang="en-US" sz="950" b="1" dirty="0">
                <a:solidFill>
                  <a:srgbClr val="2F8069"/>
                </a:solidFill>
                <a:latin typeface="Aptos" pitchFamily="34" charset="0"/>
                <a:ea typeface="Aptos" pitchFamily="34" charset="-122"/>
                <a:cs typeface="Aptos" pitchFamily="34" charset="-120"/>
              </a:rPr>
              <a:t>Working</a:t>
            </a:r>
            <a:endParaRPr lang="en-US" sz="950" dirty="0"/>
          </a:p>
        </p:txBody>
      </p:sp>
      <p:sp>
        <p:nvSpPr>
          <p:cNvPr id="11" name="Shape 9"/>
          <p:cNvSpPr/>
          <p:nvPr/>
        </p:nvSpPr>
        <p:spPr>
          <a:xfrm>
            <a:off x="3236976" y="3401568"/>
            <a:ext cx="237744" cy="0"/>
          </a:xfrm>
          <a:prstGeom prst="line">
            <a:avLst/>
          </a:prstGeom>
          <a:noFill/>
          <a:ln w="17780">
            <a:solidFill>
              <a:srgbClr val="2F8069"/>
            </a:solidFill>
            <a:prstDash val="solid"/>
            <a:tailEnd type="triangle"/>
          </a:ln>
        </p:spPr>
      </p:sp>
      <p:sp>
        <p:nvSpPr>
          <p:cNvPr id="12" name="Shape 10"/>
          <p:cNvSpPr/>
          <p:nvPr/>
        </p:nvSpPr>
        <p:spPr>
          <a:xfrm>
            <a:off x="3520440" y="1975104"/>
            <a:ext cx="2542032" cy="2926080"/>
          </a:xfrm>
          <a:prstGeom prst="roundRect">
            <a:avLst>
              <a:gd name="adj" fmla="val 4317"/>
            </a:avLst>
          </a:prstGeom>
          <a:solidFill>
            <a:srgbClr val="FFFFFF"/>
          </a:solidFill>
          <a:ln w="12700">
            <a:solidFill>
              <a:srgbClr val="D7E1DB"/>
            </a:solidFill>
            <a:prstDash val="solid"/>
          </a:ln>
        </p:spPr>
      </p:sp>
      <p:sp>
        <p:nvSpPr>
          <p:cNvPr id="13" name="Shape 11"/>
          <p:cNvSpPr/>
          <p:nvPr/>
        </p:nvSpPr>
        <p:spPr>
          <a:xfrm>
            <a:off x="3730752" y="2212848"/>
            <a:ext cx="914400" cy="292608"/>
          </a:xfrm>
          <a:prstGeom prst="roundRect">
            <a:avLst>
              <a:gd name="adj" fmla="val 37500"/>
            </a:avLst>
          </a:prstGeom>
          <a:solidFill>
            <a:srgbClr val="EEEAF9"/>
          </a:solidFill>
          <a:ln w="12700">
            <a:solidFill>
              <a:srgbClr val="EEEAF9">
                <a:alpha val="0"/>
              </a:srgbClr>
            </a:solidFill>
            <a:prstDash val="solid"/>
          </a:ln>
        </p:spPr>
      </p:sp>
      <p:sp>
        <p:nvSpPr>
          <p:cNvPr id="14" name="Text 12"/>
          <p:cNvSpPr txBox="1"/>
          <p:nvPr/>
        </p:nvSpPr>
        <p:spPr>
          <a:xfrm>
            <a:off x="3822192" y="2249424"/>
            <a:ext cx="731520" cy="201168"/>
          </a:xfrm>
          <a:prstGeom prst="rect">
            <a:avLst/>
          </a:prstGeom>
          <a:noFill/>
          <a:ln/>
        </p:spPr>
        <p:txBody>
          <a:bodyPr wrap="square" lIns="0" tIns="0" rIns="0" bIns="0" rtlCol="0" anchor="ctr">
            <a:normAutofit/>
          </a:bodyPr>
          <a:lstStyle/>
          <a:p>
            <a:pPr algn="ctr" indent="0" marL="0">
              <a:buNone/>
            </a:pPr>
            <a:r>
              <a:rPr lang="en-US" sz="850" b="1" spc="30" kern="0" dirty="0">
                <a:solidFill>
                  <a:srgbClr val="5278B8"/>
                </a:solidFill>
                <a:latin typeface="Aptos" pitchFamily="34" charset="0"/>
                <a:ea typeface="Aptos" pitchFamily="34" charset="-122"/>
                <a:cs typeface="Aptos" pitchFamily="34" charset="-120"/>
              </a:rPr>
              <a:t>STEP 1</a:t>
            </a:r>
            <a:endParaRPr lang="en-US" sz="850" dirty="0"/>
          </a:p>
        </p:txBody>
      </p:sp>
      <p:sp>
        <p:nvSpPr>
          <p:cNvPr id="15" name="Text 13"/>
          <p:cNvSpPr txBox="1"/>
          <p:nvPr/>
        </p:nvSpPr>
        <p:spPr>
          <a:xfrm>
            <a:off x="3730752" y="2715768"/>
            <a:ext cx="2057400" cy="329184"/>
          </a:xfrm>
          <a:prstGeom prst="rect">
            <a:avLst/>
          </a:prstGeom>
          <a:noFill/>
          <a:ln/>
        </p:spPr>
        <p:txBody>
          <a:bodyPr wrap="square" lIns="0" tIns="0" rIns="0" bIns="0" rtlCol="0" anchor="ctr">
            <a:normAutofit/>
          </a:bodyPr>
          <a:lstStyle/>
          <a:p>
            <a:pPr algn="l" indent="0" marL="0">
              <a:buNone/>
            </a:pPr>
            <a:r>
              <a:rPr lang="en-US" sz="1700" b="1" dirty="0">
                <a:solidFill>
                  <a:srgbClr val="17352F"/>
                </a:solidFill>
                <a:latin typeface="Aptos" pitchFamily="34" charset="0"/>
                <a:ea typeface="Aptos" pitchFamily="34" charset="-122"/>
                <a:cs typeface="Aptos" pitchFamily="34" charset="-120"/>
              </a:rPr>
              <a:t>Safety review</a:t>
            </a:r>
            <a:endParaRPr lang="en-US" sz="1700" dirty="0"/>
          </a:p>
        </p:txBody>
      </p:sp>
      <p:sp>
        <p:nvSpPr>
          <p:cNvPr id="16" name="Text 14"/>
          <p:cNvSpPr txBox="1"/>
          <p:nvPr/>
        </p:nvSpPr>
        <p:spPr>
          <a:xfrm>
            <a:off x="3730752" y="3200400"/>
            <a:ext cx="2039112" cy="1051560"/>
          </a:xfrm>
          <a:prstGeom prst="rect">
            <a:avLst/>
          </a:prstGeom>
          <a:noFill/>
          <a:ln/>
        </p:spPr>
        <p:txBody>
          <a:bodyPr wrap="square" lIns="0" tIns="0" rIns="0" bIns="0" rtlCol="0" anchor="t">
            <a:normAutofit/>
          </a:bodyPr>
          <a:lstStyle/>
          <a:p>
            <a:pPr algn="l" indent="0" marL="0">
              <a:buNone/>
            </a:pPr>
            <a:r>
              <a:rPr lang="en-US" sz="1150" dirty="0">
                <a:solidFill>
                  <a:srgbClr val="63756D"/>
                </a:solidFill>
                <a:latin typeface="Aptos" pitchFamily="34" charset="0"/>
                <a:ea typeface="Aptos" pitchFamily="34" charset="-122"/>
                <a:cs typeface="Aptos" pitchFamily="34" charset="-120"/>
              </a:rPr>
              <a:t>Review file labels</a:t>
            </a:r>
            <a:endParaRPr lang="en-US" sz="1150" dirty="0"/>
          </a:p>
          <a:p>
            <a:pPr algn="l" indent="0" marL="0">
              <a:buNone/>
            </a:pPr>
            <a:r>
              <a:rPr lang="en-US" sz="1150" dirty="0">
                <a:solidFill>
                  <a:srgbClr val="63756D"/>
                </a:solidFill>
                <a:latin typeface="Aptos" pitchFamily="34" charset="0"/>
                <a:ea typeface="Aptos" pitchFamily="34" charset="-122"/>
                <a:cs typeface="Aptos" pitchFamily="34" charset="-120"/>
              </a:rPr>
              <a:t>Check owner permission</a:t>
            </a:r>
            <a:endParaRPr lang="en-US" sz="1150" dirty="0"/>
          </a:p>
          <a:p>
            <a:pPr algn="l" indent="0" marL="0">
              <a:buNone/>
            </a:pPr>
            <a:r>
              <a:rPr lang="en-US" sz="1150" dirty="0">
                <a:solidFill>
                  <a:srgbClr val="63756D"/>
                </a:solidFill>
                <a:latin typeface="Aptos" pitchFamily="34" charset="0"/>
                <a:ea typeface="Aptos" pitchFamily="34" charset="-122"/>
                <a:cs typeface="Aptos" pitchFamily="34" charset="-120"/>
              </a:rPr>
              <a:t>Agree on data handling</a:t>
            </a:r>
            <a:endParaRPr lang="en-US" sz="1150" dirty="0"/>
          </a:p>
        </p:txBody>
      </p:sp>
      <p:sp>
        <p:nvSpPr>
          <p:cNvPr id="17" name="Text 15"/>
          <p:cNvSpPr txBox="1"/>
          <p:nvPr/>
        </p:nvSpPr>
        <p:spPr>
          <a:xfrm>
            <a:off x="3730752" y="4507992"/>
            <a:ext cx="2084832" cy="201168"/>
          </a:xfrm>
          <a:prstGeom prst="rect">
            <a:avLst/>
          </a:prstGeom>
          <a:noFill/>
          <a:ln/>
        </p:spPr>
        <p:txBody>
          <a:bodyPr wrap="square" lIns="0" tIns="0" rIns="0" bIns="0" rtlCol="0" anchor="ctr">
            <a:normAutofit/>
          </a:bodyPr>
          <a:lstStyle/>
          <a:p>
            <a:pPr algn="l" indent="0" marL="0">
              <a:buNone/>
            </a:pPr>
            <a:r>
              <a:rPr lang="en-US" sz="950" b="1" dirty="0">
                <a:solidFill>
                  <a:srgbClr val="5278B8"/>
                </a:solidFill>
                <a:latin typeface="Aptos" pitchFamily="34" charset="0"/>
                <a:ea typeface="Aptos" pitchFamily="34" charset="-122"/>
                <a:cs typeface="Aptos" pitchFamily="34" charset="-120"/>
              </a:rPr>
              <a:t>Needs review</a:t>
            </a:r>
            <a:endParaRPr lang="en-US" sz="950" dirty="0"/>
          </a:p>
        </p:txBody>
      </p:sp>
      <p:sp>
        <p:nvSpPr>
          <p:cNvPr id="18" name="Shape 16"/>
          <p:cNvSpPr/>
          <p:nvPr/>
        </p:nvSpPr>
        <p:spPr>
          <a:xfrm>
            <a:off x="6099048" y="3401568"/>
            <a:ext cx="237744" cy="0"/>
          </a:xfrm>
          <a:prstGeom prst="line">
            <a:avLst/>
          </a:prstGeom>
          <a:noFill/>
          <a:ln w="17780">
            <a:solidFill>
              <a:srgbClr val="2F8069"/>
            </a:solidFill>
            <a:prstDash val="solid"/>
            <a:tailEnd type="triangle"/>
          </a:ln>
        </p:spPr>
      </p:sp>
      <p:sp>
        <p:nvSpPr>
          <p:cNvPr id="19" name="Shape 17"/>
          <p:cNvSpPr/>
          <p:nvPr/>
        </p:nvSpPr>
        <p:spPr>
          <a:xfrm>
            <a:off x="6382512" y="1975104"/>
            <a:ext cx="2542032" cy="2926080"/>
          </a:xfrm>
          <a:prstGeom prst="roundRect">
            <a:avLst>
              <a:gd name="adj" fmla="val 4317"/>
            </a:avLst>
          </a:prstGeom>
          <a:solidFill>
            <a:srgbClr val="FFFFFF"/>
          </a:solidFill>
          <a:ln w="12700">
            <a:solidFill>
              <a:srgbClr val="D7E1DB"/>
            </a:solidFill>
            <a:prstDash val="solid"/>
          </a:ln>
        </p:spPr>
      </p:sp>
      <p:sp>
        <p:nvSpPr>
          <p:cNvPr id="20" name="Shape 18"/>
          <p:cNvSpPr/>
          <p:nvPr/>
        </p:nvSpPr>
        <p:spPr>
          <a:xfrm>
            <a:off x="6592824" y="2212848"/>
            <a:ext cx="914400" cy="292608"/>
          </a:xfrm>
          <a:prstGeom prst="roundRect">
            <a:avLst>
              <a:gd name="adj" fmla="val 37500"/>
            </a:avLst>
          </a:prstGeom>
          <a:solidFill>
            <a:srgbClr val="EEEAF9"/>
          </a:solidFill>
          <a:ln w="12700">
            <a:solidFill>
              <a:srgbClr val="EEEAF9">
                <a:alpha val="0"/>
              </a:srgbClr>
            </a:solidFill>
            <a:prstDash val="solid"/>
          </a:ln>
        </p:spPr>
      </p:sp>
      <p:sp>
        <p:nvSpPr>
          <p:cNvPr id="21" name="Text 19"/>
          <p:cNvSpPr txBox="1"/>
          <p:nvPr/>
        </p:nvSpPr>
        <p:spPr>
          <a:xfrm>
            <a:off x="6684264" y="2249424"/>
            <a:ext cx="731520" cy="201168"/>
          </a:xfrm>
          <a:prstGeom prst="rect">
            <a:avLst/>
          </a:prstGeom>
          <a:noFill/>
          <a:ln/>
        </p:spPr>
        <p:txBody>
          <a:bodyPr wrap="square" lIns="0" tIns="0" rIns="0" bIns="0" rtlCol="0" anchor="ctr">
            <a:normAutofit/>
          </a:bodyPr>
          <a:lstStyle/>
          <a:p>
            <a:pPr algn="ctr" indent="0" marL="0">
              <a:buNone/>
            </a:pPr>
            <a:r>
              <a:rPr lang="en-US" sz="850" b="1" spc="30" kern="0" dirty="0">
                <a:solidFill>
                  <a:srgbClr val="5278B8"/>
                </a:solidFill>
                <a:latin typeface="Aptos" pitchFamily="34" charset="0"/>
                <a:ea typeface="Aptos" pitchFamily="34" charset="-122"/>
                <a:cs typeface="Aptos" pitchFamily="34" charset="-120"/>
              </a:rPr>
              <a:t>STEP 2</a:t>
            </a:r>
            <a:endParaRPr lang="en-US" sz="850" dirty="0"/>
          </a:p>
        </p:txBody>
      </p:sp>
      <p:sp>
        <p:nvSpPr>
          <p:cNvPr id="22" name="Text 20"/>
          <p:cNvSpPr txBox="1"/>
          <p:nvPr/>
        </p:nvSpPr>
        <p:spPr>
          <a:xfrm>
            <a:off x="6592824" y="2715768"/>
            <a:ext cx="2057400" cy="329184"/>
          </a:xfrm>
          <a:prstGeom prst="rect">
            <a:avLst/>
          </a:prstGeom>
          <a:noFill/>
          <a:ln/>
        </p:spPr>
        <p:txBody>
          <a:bodyPr wrap="square" lIns="0" tIns="0" rIns="0" bIns="0" rtlCol="0" anchor="ctr">
            <a:normAutofit/>
          </a:bodyPr>
          <a:lstStyle/>
          <a:p>
            <a:pPr algn="l" indent="0" marL="0">
              <a:buNone/>
            </a:pPr>
            <a:r>
              <a:rPr lang="en-US" sz="1700" b="1" dirty="0">
                <a:solidFill>
                  <a:srgbClr val="17352F"/>
                </a:solidFill>
                <a:latin typeface="Aptos" pitchFamily="34" charset="0"/>
                <a:ea typeface="Aptos" pitchFamily="34" charset="-122"/>
                <a:cs typeface="Aptos" pitchFamily="34" charset="-120"/>
              </a:rPr>
              <a:t>Connect Microsoft</a:t>
            </a:r>
            <a:endParaRPr lang="en-US" sz="1700" dirty="0"/>
          </a:p>
        </p:txBody>
      </p:sp>
      <p:sp>
        <p:nvSpPr>
          <p:cNvPr id="23" name="Text 21"/>
          <p:cNvSpPr txBox="1"/>
          <p:nvPr/>
        </p:nvSpPr>
        <p:spPr>
          <a:xfrm>
            <a:off x="6592824" y="3200400"/>
            <a:ext cx="2039112" cy="1051560"/>
          </a:xfrm>
          <a:prstGeom prst="rect">
            <a:avLst/>
          </a:prstGeom>
          <a:noFill/>
          <a:ln/>
        </p:spPr>
        <p:txBody>
          <a:bodyPr wrap="square" lIns="0" tIns="0" rIns="0" bIns="0" rtlCol="0" anchor="t">
            <a:normAutofit/>
          </a:bodyPr>
          <a:lstStyle/>
          <a:p>
            <a:pPr algn="l" indent="0" marL="0">
              <a:buNone/>
            </a:pPr>
            <a:r>
              <a:rPr lang="en-US" sz="1150" dirty="0">
                <a:solidFill>
                  <a:srgbClr val="63756D"/>
                </a:solidFill>
                <a:latin typeface="Aptos" pitchFamily="34" charset="0"/>
                <a:ea typeface="Aptos" pitchFamily="34" charset="-122"/>
                <a:cs typeface="Aptos" pitchFamily="34" charset="-120"/>
              </a:rPr>
              <a:t>Work sign-in</a:t>
            </a:r>
            <a:endParaRPr lang="en-US" sz="1150" dirty="0"/>
          </a:p>
          <a:p>
            <a:pPr algn="l" indent="0" marL="0">
              <a:buNone/>
            </a:pPr>
            <a:r>
              <a:rPr lang="en-US" sz="1150" dirty="0">
                <a:solidFill>
                  <a:srgbClr val="63756D"/>
                </a:solidFill>
                <a:latin typeface="Aptos" pitchFamily="34" charset="0"/>
                <a:ea typeface="Aptos" pitchFamily="34" charset="-122"/>
                <a:cs typeface="Aptos" pitchFamily="34" charset="-120"/>
              </a:rPr>
              <a:t>Requester file access</a:t>
            </a:r>
            <a:endParaRPr lang="en-US" sz="1150" dirty="0"/>
          </a:p>
          <a:p>
            <a:pPr algn="l" indent="0" marL="0">
              <a:buNone/>
            </a:pPr>
            <a:r>
              <a:rPr lang="en-US" sz="1150" dirty="0">
                <a:solidFill>
                  <a:srgbClr val="63756D"/>
                </a:solidFill>
                <a:latin typeface="Aptos" pitchFamily="34" charset="0"/>
                <a:ea typeface="Aptos" pitchFamily="34" charset="-122"/>
                <a:cs typeface="Aptos" pitchFamily="34" charset="-120"/>
              </a:rPr>
              <a:t>Teams app</a:t>
            </a:r>
            <a:endParaRPr lang="en-US" sz="1150" dirty="0"/>
          </a:p>
        </p:txBody>
      </p:sp>
      <p:sp>
        <p:nvSpPr>
          <p:cNvPr id="24" name="Text 22"/>
          <p:cNvSpPr txBox="1"/>
          <p:nvPr/>
        </p:nvSpPr>
        <p:spPr>
          <a:xfrm>
            <a:off x="6592824" y="4507992"/>
            <a:ext cx="2084832" cy="201168"/>
          </a:xfrm>
          <a:prstGeom prst="rect">
            <a:avLst/>
          </a:prstGeom>
          <a:noFill/>
          <a:ln/>
        </p:spPr>
        <p:txBody>
          <a:bodyPr wrap="square" lIns="0" tIns="0" rIns="0" bIns="0" rtlCol="0" anchor="ctr">
            <a:normAutofit/>
          </a:bodyPr>
          <a:lstStyle/>
          <a:p>
            <a:pPr algn="l" indent="0" marL="0">
              <a:buNone/>
            </a:pPr>
            <a:r>
              <a:rPr lang="en-US" sz="950" b="1" dirty="0">
                <a:solidFill>
                  <a:srgbClr val="D1A04A"/>
                </a:solidFill>
                <a:latin typeface="Aptos" pitchFamily="34" charset="0"/>
                <a:ea typeface="Aptos" pitchFamily="34" charset="-122"/>
                <a:cs typeface="Aptos" pitchFamily="34" charset="-120"/>
              </a:rPr>
              <a:t>Needs tenant setup</a:t>
            </a:r>
            <a:endParaRPr lang="en-US" sz="950" dirty="0"/>
          </a:p>
        </p:txBody>
      </p:sp>
      <p:sp>
        <p:nvSpPr>
          <p:cNvPr id="25" name="Shape 23"/>
          <p:cNvSpPr/>
          <p:nvPr/>
        </p:nvSpPr>
        <p:spPr>
          <a:xfrm>
            <a:off x="8961120" y="3401568"/>
            <a:ext cx="237744" cy="0"/>
          </a:xfrm>
          <a:prstGeom prst="line">
            <a:avLst/>
          </a:prstGeom>
          <a:noFill/>
          <a:ln w="17780">
            <a:solidFill>
              <a:srgbClr val="2F8069"/>
            </a:solidFill>
            <a:prstDash val="solid"/>
            <a:tailEnd type="triangle"/>
          </a:ln>
        </p:spPr>
      </p:sp>
      <p:sp>
        <p:nvSpPr>
          <p:cNvPr id="26" name="Shape 24"/>
          <p:cNvSpPr/>
          <p:nvPr/>
        </p:nvSpPr>
        <p:spPr>
          <a:xfrm>
            <a:off x="9244584" y="1975104"/>
            <a:ext cx="2542032" cy="2926080"/>
          </a:xfrm>
          <a:prstGeom prst="roundRect">
            <a:avLst>
              <a:gd name="adj" fmla="val 4317"/>
            </a:avLst>
          </a:prstGeom>
          <a:solidFill>
            <a:srgbClr val="FFFFFF"/>
          </a:solidFill>
          <a:ln w="12700">
            <a:solidFill>
              <a:srgbClr val="D7E1DB"/>
            </a:solidFill>
            <a:prstDash val="solid"/>
          </a:ln>
        </p:spPr>
      </p:sp>
      <p:sp>
        <p:nvSpPr>
          <p:cNvPr id="27" name="Shape 25"/>
          <p:cNvSpPr/>
          <p:nvPr/>
        </p:nvSpPr>
        <p:spPr>
          <a:xfrm>
            <a:off x="9454896" y="2212848"/>
            <a:ext cx="914400" cy="292608"/>
          </a:xfrm>
          <a:prstGeom prst="roundRect">
            <a:avLst>
              <a:gd name="adj" fmla="val 37500"/>
            </a:avLst>
          </a:prstGeom>
          <a:solidFill>
            <a:srgbClr val="EEEAF9"/>
          </a:solidFill>
          <a:ln w="12700">
            <a:solidFill>
              <a:srgbClr val="EEEAF9">
                <a:alpha val="0"/>
              </a:srgbClr>
            </a:solidFill>
            <a:prstDash val="solid"/>
          </a:ln>
        </p:spPr>
      </p:sp>
      <p:sp>
        <p:nvSpPr>
          <p:cNvPr id="28" name="Text 26"/>
          <p:cNvSpPr txBox="1"/>
          <p:nvPr/>
        </p:nvSpPr>
        <p:spPr>
          <a:xfrm>
            <a:off x="9546336" y="2249424"/>
            <a:ext cx="731520" cy="201168"/>
          </a:xfrm>
          <a:prstGeom prst="rect">
            <a:avLst/>
          </a:prstGeom>
          <a:noFill/>
          <a:ln/>
        </p:spPr>
        <p:txBody>
          <a:bodyPr wrap="square" lIns="0" tIns="0" rIns="0" bIns="0" rtlCol="0" anchor="ctr">
            <a:normAutofit/>
          </a:bodyPr>
          <a:lstStyle/>
          <a:p>
            <a:pPr algn="ctr" indent="0" marL="0">
              <a:buNone/>
            </a:pPr>
            <a:r>
              <a:rPr lang="en-US" sz="850" b="1" spc="30" kern="0" dirty="0">
                <a:solidFill>
                  <a:srgbClr val="5278B8"/>
                </a:solidFill>
                <a:latin typeface="Aptos" pitchFamily="34" charset="0"/>
                <a:ea typeface="Aptos" pitchFamily="34" charset="-122"/>
                <a:cs typeface="Aptos" pitchFamily="34" charset="-120"/>
              </a:rPr>
              <a:t>STEP 3</a:t>
            </a:r>
            <a:endParaRPr lang="en-US" sz="850" dirty="0"/>
          </a:p>
        </p:txBody>
      </p:sp>
      <p:sp>
        <p:nvSpPr>
          <p:cNvPr id="29" name="Text 27"/>
          <p:cNvSpPr txBox="1"/>
          <p:nvPr/>
        </p:nvSpPr>
        <p:spPr>
          <a:xfrm>
            <a:off x="9454896" y="2715768"/>
            <a:ext cx="2057400" cy="329184"/>
          </a:xfrm>
          <a:prstGeom prst="rect">
            <a:avLst/>
          </a:prstGeom>
          <a:noFill/>
          <a:ln/>
        </p:spPr>
        <p:txBody>
          <a:bodyPr wrap="square" lIns="0" tIns="0" rIns="0" bIns="0" rtlCol="0" anchor="ctr">
            <a:normAutofit/>
          </a:bodyPr>
          <a:lstStyle/>
          <a:p>
            <a:pPr algn="l" indent="0" marL="0">
              <a:buNone/>
            </a:pPr>
            <a:r>
              <a:rPr lang="en-US" sz="1700" b="1" dirty="0">
                <a:solidFill>
                  <a:srgbClr val="17352F"/>
                </a:solidFill>
                <a:latin typeface="Aptos" pitchFamily="34" charset="0"/>
                <a:ea typeface="Aptos" pitchFamily="34" charset="-122"/>
                <a:cs typeface="Aptos" pitchFamily="34" charset="-120"/>
              </a:rPr>
              <a:t>Small pilot</a:t>
            </a:r>
            <a:endParaRPr lang="en-US" sz="1700" dirty="0"/>
          </a:p>
        </p:txBody>
      </p:sp>
      <p:sp>
        <p:nvSpPr>
          <p:cNvPr id="30" name="Text 28"/>
          <p:cNvSpPr txBox="1"/>
          <p:nvPr/>
        </p:nvSpPr>
        <p:spPr>
          <a:xfrm>
            <a:off x="9454896" y="3200400"/>
            <a:ext cx="2039112" cy="1051560"/>
          </a:xfrm>
          <a:prstGeom prst="rect">
            <a:avLst/>
          </a:prstGeom>
          <a:noFill/>
          <a:ln/>
        </p:spPr>
        <p:txBody>
          <a:bodyPr wrap="square" lIns="0" tIns="0" rIns="0" bIns="0" rtlCol="0" anchor="t">
            <a:normAutofit/>
          </a:bodyPr>
          <a:lstStyle/>
          <a:p>
            <a:pPr algn="l" indent="0" marL="0">
              <a:buNone/>
            </a:pPr>
            <a:r>
              <a:rPr lang="en-US" sz="1150" dirty="0">
                <a:solidFill>
                  <a:srgbClr val="63756D"/>
                </a:solidFill>
                <a:latin typeface="Aptos" pitchFamily="34" charset="0"/>
                <a:ea typeface="Aptos" pitchFamily="34" charset="-122"/>
                <a:cs typeface="Aptos" pitchFamily="34" charset="-120"/>
              </a:rPr>
              <a:t>One opt-in team</a:t>
            </a:r>
            <a:endParaRPr lang="en-US" sz="1150" dirty="0"/>
          </a:p>
          <a:p>
            <a:pPr algn="l" indent="0" marL="0">
              <a:buNone/>
            </a:pPr>
            <a:r>
              <a:rPr lang="en-US" sz="1150" dirty="0">
                <a:solidFill>
                  <a:srgbClr val="63756D"/>
                </a:solidFill>
                <a:latin typeface="Aptos" pitchFamily="34" charset="0"/>
                <a:ea typeface="Aptos" pitchFamily="34" charset="-122"/>
                <a:cs typeface="Aptos" pitchFamily="34" charset="-120"/>
              </a:rPr>
              <a:t>Low-risk files</a:t>
            </a:r>
            <a:endParaRPr lang="en-US" sz="1150" dirty="0"/>
          </a:p>
          <a:p>
            <a:pPr algn="l" indent="0" marL="0">
              <a:buNone/>
            </a:pPr>
            <a:r>
              <a:rPr lang="en-US" sz="1150" dirty="0">
                <a:solidFill>
                  <a:srgbClr val="63756D"/>
                </a:solidFill>
                <a:latin typeface="Aptos" pitchFamily="34" charset="0"/>
                <a:ea typeface="Aptos" pitchFamily="34" charset="-122"/>
                <a:cs typeface="Aptos" pitchFamily="34" charset="-120"/>
              </a:rPr>
              <a:t>Measure time and trust</a:t>
            </a:r>
            <a:endParaRPr lang="en-US" sz="1150" dirty="0"/>
          </a:p>
        </p:txBody>
      </p:sp>
      <p:sp>
        <p:nvSpPr>
          <p:cNvPr id="31" name="Text 29"/>
          <p:cNvSpPr txBox="1"/>
          <p:nvPr/>
        </p:nvSpPr>
        <p:spPr>
          <a:xfrm>
            <a:off x="9454896" y="4507992"/>
            <a:ext cx="2084832" cy="201168"/>
          </a:xfrm>
          <a:prstGeom prst="rect">
            <a:avLst/>
          </a:prstGeom>
          <a:noFill/>
          <a:ln/>
        </p:spPr>
        <p:txBody>
          <a:bodyPr wrap="square" lIns="0" tIns="0" rIns="0" bIns="0" rtlCol="0" anchor="ctr">
            <a:normAutofit/>
          </a:bodyPr>
          <a:lstStyle/>
          <a:p>
            <a:pPr algn="l" indent="0" marL="0">
              <a:buNone/>
            </a:pPr>
            <a:r>
              <a:rPr lang="en-US" sz="950" b="1" dirty="0">
                <a:solidFill>
                  <a:srgbClr val="E87C65"/>
                </a:solidFill>
                <a:latin typeface="Aptos" pitchFamily="34" charset="0"/>
                <a:ea typeface="Aptos" pitchFamily="34" charset="-122"/>
                <a:cs typeface="Aptos" pitchFamily="34" charset="-120"/>
              </a:rPr>
              <a:t>6–10 weeks</a:t>
            </a:r>
            <a:endParaRPr lang="en-US" sz="950" dirty="0"/>
          </a:p>
        </p:txBody>
      </p:sp>
      <p:sp>
        <p:nvSpPr>
          <p:cNvPr id="32" name="Text 30"/>
          <p:cNvSpPr txBox="1"/>
          <p:nvPr/>
        </p:nvSpPr>
        <p:spPr>
          <a:xfrm>
            <a:off x="749808" y="5376672"/>
            <a:ext cx="10744200" cy="365760"/>
          </a:xfrm>
          <a:prstGeom prst="rect">
            <a:avLst/>
          </a:prstGeom>
          <a:noFill/>
          <a:ln/>
        </p:spPr>
        <p:txBody>
          <a:bodyPr wrap="square" lIns="0" tIns="0" rIns="0" bIns="0" rtlCol="0" anchor="ctr">
            <a:normAutofit/>
          </a:bodyPr>
          <a:lstStyle/>
          <a:p>
            <a:pPr algn="ctr" indent="0" marL="0">
              <a:buNone/>
            </a:pPr>
            <a:r>
              <a:rPr lang="en-US" sz="1100" b="1" dirty="0">
                <a:solidFill>
                  <a:srgbClr val="E87C65"/>
                </a:solidFill>
                <a:latin typeface="Aptos" pitchFamily="34" charset="0"/>
                <a:ea typeface="Aptos" pitchFamily="34" charset="-122"/>
                <a:cs typeface="Aptos" pitchFamily="34" charset="-120"/>
              </a:rPr>
              <a:t>No live Microsoft connection has been tested. The demo uses no language model and is not security-certified.</a:t>
            </a:r>
            <a:endParaRPr lang="en-US" sz="1100" dirty="0"/>
          </a:p>
        </p:txBody>
      </p:sp>
      <p:sp>
        <p:nvSpPr>
          <p:cNvPr id="33" name="Text 31"/>
          <p:cNvSpPr txBox="1"/>
          <p:nvPr/>
        </p:nvSpPr>
        <p:spPr>
          <a:xfrm>
            <a:off x="548640" y="6318504"/>
            <a:ext cx="10881360" cy="146304"/>
          </a:xfrm>
          <a:prstGeom prst="rect">
            <a:avLst/>
          </a:prstGeom>
          <a:noFill/>
          <a:ln/>
        </p:spPr>
        <p:txBody>
          <a:bodyPr wrap="square" lIns="0" tIns="0" rIns="0" bIns="0" rtlCol="0" anchor="ctr">
            <a:normAutofit/>
          </a:bodyPr>
          <a:lstStyle/>
          <a:p>
            <a:pPr algn="l" indent="0" marL="0">
              <a:buNone/>
            </a:pPr>
            <a:r>
              <a:rPr lang="en-US" sz="730" dirty="0">
                <a:solidFill>
                  <a:srgbClr val="63756D"/>
                </a:solidFill>
                <a:latin typeface="Aptos" pitchFamily="34" charset="0"/>
                <a:ea typeface="Aptos" pitchFamily="34" charset="-122"/>
                <a:cs typeface="Aptos" pitchFamily="34" charset="-120"/>
              </a:rPr>
              <a:t>Background and research sources are in the speaker notes.</a:t>
            </a:r>
            <a:endParaRPr lang="en-US" sz="730" dirty="0"/>
          </a:p>
        </p:txBody>
      </p:sp>
      <p:sp>
        <p:nvSpPr>
          <p:cNvPr id="25" name="Slide Number Placeholder 0"/>
          <p:cNvSpPr>
            <a:spLocks noGrp="1"/>
          </p:cNvSpPr>
          <p:nvPr>
            <p:ph type="sldNum" sz="quarter" idx="4294967295"/>
          </p:nvPr>
        </p:nvSpPr>
        <p:spPr>
          <a:xfrm>
            <a:off x="11686032"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47C"/>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2B27"/>
        </a:solidFill>
      </p:bgPr>
    </p:bg>
    <p:spTree>
      <p:nvGrpSpPr>
        <p:cNvPr id="1" name=""/>
        <p:cNvGrpSpPr/>
        <p:nvPr/>
      </p:nvGrpSpPr>
      <p:grpSpPr>
        <a:xfrm>
          <a:off x="0" y="0"/>
          <a:ext cx="0" cy="0"/>
          <a:chOff x="0" y="0"/>
          <a:chExt cx="0" cy="0"/>
        </a:xfrm>
      </p:grpSpPr>
      <p:sp>
        <p:nvSpPr>
          <p:cNvPr id="2" name="Shape 0"/>
          <p:cNvSpPr/>
          <p:nvPr/>
        </p:nvSpPr>
        <p:spPr>
          <a:xfrm>
            <a:off x="731520" y="658368"/>
            <a:ext cx="1508760" cy="292608"/>
          </a:xfrm>
          <a:prstGeom prst="roundRect">
            <a:avLst>
              <a:gd name="adj" fmla="val 37500"/>
            </a:avLst>
          </a:prstGeom>
          <a:solidFill>
            <a:srgbClr val="254C42"/>
          </a:solidFill>
          <a:ln w="12700">
            <a:solidFill>
              <a:srgbClr val="254C42">
                <a:alpha val="0"/>
              </a:srgbClr>
            </a:solidFill>
            <a:prstDash val="solid"/>
          </a:ln>
        </p:spPr>
      </p:sp>
      <p:sp>
        <p:nvSpPr>
          <p:cNvPr id="3" name="Text 1"/>
          <p:cNvSpPr txBox="1"/>
          <p:nvPr/>
        </p:nvSpPr>
        <p:spPr>
          <a:xfrm>
            <a:off x="822960" y="694944"/>
            <a:ext cx="1325880" cy="201168"/>
          </a:xfrm>
          <a:prstGeom prst="rect">
            <a:avLst/>
          </a:prstGeom>
          <a:noFill/>
          <a:ln/>
        </p:spPr>
        <p:txBody>
          <a:bodyPr wrap="square" lIns="0" tIns="0" rIns="0" bIns="0" rtlCol="0" anchor="ctr">
            <a:normAutofit/>
          </a:bodyPr>
          <a:lstStyle/>
          <a:p>
            <a:pPr algn="ctr" indent="0" marL="0">
              <a:buNone/>
            </a:pPr>
            <a:r>
              <a:rPr lang="en-US" sz="850" b="1" spc="30" kern="0" dirty="0">
                <a:solidFill>
                  <a:srgbClr val="BFE7D6"/>
                </a:solidFill>
                <a:latin typeface="Aptos" pitchFamily="34" charset="0"/>
                <a:ea typeface="Aptos" pitchFamily="34" charset="-122"/>
                <a:cs typeface="Aptos" pitchFamily="34" charset="-120"/>
              </a:rPr>
              <a:t>PILOT PROPOSAL</a:t>
            </a:r>
            <a:endParaRPr lang="en-US" sz="850" dirty="0"/>
          </a:p>
        </p:txBody>
      </p:sp>
      <p:sp>
        <p:nvSpPr>
          <p:cNvPr id="4" name="Text 2"/>
          <p:cNvSpPr txBox="1"/>
          <p:nvPr/>
        </p:nvSpPr>
        <p:spPr>
          <a:xfrm>
            <a:off x="731520" y="1298448"/>
            <a:ext cx="8138160" cy="1234440"/>
          </a:xfrm>
          <a:prstGeom prst="rect">
            <a:avLst/>
          </a:prstGeom>
          <a:noFill/>
          <a:ln/>
        </p:spPr>
        <p:txBody>
          <a:bodyPr wrap="square" lIns="0" tIns="0" rIns="0" bIns="0" rtlCol="0" anchor="t">
            <a:normAutofit/>
          </a:bodyPr>
          <a:lstStyle/>
          <a:p>
            <a:pPr algn="l" indent="0" marL="0">
              <a:buNone/>
            </a:pPr>
            <a:r>
              <a:rPr lang="en-US" sz="3400" b="1" dirty="0">
                <a:solidFill>
                  <a:srgbClr val="FFFFFF"/>
                </a:solidFill>
                <a:latin typeface="Aptos Display" pitchFamily="34" charset="0"/>
                <a:ea typeface="Aptos Display" pitchFamily="34" charset="-122"/>
                <a:cs typeface="Aptos Display" pitchFamily="34" charset="-120"/>
              </a:rPr>
              <a:t>Test the workflow</a:t>
            </a:r>
            <a:endParaRPr lang="en-US" sz="3400" dirty="0"/>
          </a:p>
          <a:p>
            <a:pPr algn="l" indent="0" marL="0">
              <a:buNone/>
            </a:pPr>
            <a:r>
              <a:rPr lang="en-US" sz="3400" b="1" dirty="0">
                <a:solidFill>
                  <a:srgbClr val="FFFFFF"/>
                </a:solidFill>
                <a:latin typeface="Aptos Display" pitchFamily="34" charset="0"/>
                <a:ea typeface="Aptos Display" pitchFamily="34" charset="-122"/>
                <a:cs typeface="Aptos Display" pitchFamily="34" charset="-120"/>
              </a:rPr>
              <a:t>with one willing team.</a:t>
            </a:r>
            <a:endParaRPr lang="en-US" sz="3400" dirty="0"/>
          </a:p>
        </p:txBody>
      </p:sp>
      <p:sp>
        <p:nvSpPr>
          <p:cNvPr id="5" name="Text 3"/>
          <p:cNvSpPr txBox="1"/>
          <p:nvPr/>
        </p:nvSpPr>
        <p:spPr>
          <a:xfrm>
            <a:off x="841248" y="3063240"/>
            <a:ext cx="475488" cy="228600"/>
          </a:xfrm>
          <a:prstGeom prst="rect">
            <a:avLst/>
          </a:prstGeom>
          <a:noFill/>
          <a:ln/>
        </p:spPr>
        <p:txBody>
          <a:bodyPr wrap="square" lIns="0" tIns="0" rIns="0" bIns="0" rtlCol="0" anchor="ctr">
            <a:normAutofit/>
          </a:bodyPr>
          <a:lstStyle/>
          <a:p>
            <a:pPr algn="l" indent="0" marL="0">
              <a:buNone/>
            </a:pPr>
            <a:r>
              <a:rPr lang="en-US" sz="1200" b="1" dirty="0">
                <a:solidFill>
                  <a:srgbClr val="BFE7D6"/>
                </a:solidFill>
                <a:latin typeface="Aptos" pitchFamily="34" charset="0"/>
                <a:ea typeface="Aptos" pitchFamily="34" charset="-122"/>
                <a:cs typeface="Aptos" pitchFamily="34" charset="-120"/>
              </a:rPr>
              <a:t>01</a:t>
            </a:r>
            <a:endParaRPr lang="en-US" sz="1200" dirty="0"/>
          </a:p>
        </p:txBody>
      </p:sp>
      <p:sp>
        <p:nvSpPr>
          <p:cNvPr id="6" name="Text 4"/>
          <p:cNvSpPr txBox="1"/>
          <p:nvPr/>
        </p:nvSpPr>
        <p:spPr>
          <a:xfrm>
            <a:off x="1481328" y="3063240"/>
            <a:ext cx="2606040" cy="256032"/>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One willing team</a:t>
            </a:r>
            <a:endParaRPr lang="en-US" sz="1400" dirty="0"/>
          </a:p>
        </p:txBody>
      </p:sp>
      <p:sp>
        <p:nvSpPr>
          <p:cNvPr id="7" name="Text 5"/>
          <p:cNvSpPr txBox="1"/>
          <p:nvPr/>
        </p:nvSpPr>
        <p:spPr>
          <a:xfrm>
            <a:off x="4114800" y="3063240"/>
            <a:ext cx="4114800" cy="256032"/>
          </a:xfrm>
          <a:prstGeom prst="rect">
            <a:avLst/>
          </a:prstGeom>
          <a:noFill/>
          <a:ln/>
        </p:spPr>
        <p:txBody>
          <a:bodyPr wrap="square" lIns="0" tIns="0" rIns="0" bIns="0" rtlCol="0" anchor="ctr">
            <a:normAutofit/>
          </a:bodyPr>
          <a:lstStyle/>
          <a:p>
            <a:pPr algn="l" indent="0" marL="0">
              <a:buNone/>
            </a:pPr>
            <a:r>
              <a:rPr lang="en-US" sz="1100" dirty="0">
                <a:solidFill>
                  <a:srgbClr val="BDD0C7"/>
                </a:solidFill>
                <a:latin typeface="Aptos" pitchFamily="34" charset="0"/>
                <a:ea typeface="Aptos" pitchFamily="34" charset="-122"/>
                <a:cs typeface="Aptos" pitchFamily="34" charset="-120"/>
              </a:rPr>
              <a:t>Use existing, low-risk files</a:t>
            </a:r>
            <a:endParaRPr lang="en-US" sz="1100" dirty="0"/>
          </a:p>
        </p:txBody>
      </p:sp>
      <p:sp>
        <p:nvSpPr>
          <p:cNvPr id="8" name="Text 6"/>
          <p:cNvSpPr txBox="1"/>
          <p:nvPr/>
        </p:nvSpPr>
        <p:spPr>
          <a:xfrm>
            <a:off x="841248" y="3703320"/>
            <a:ext cx="475488" cy="228600"/>
          </a:xfrm>
          <a:prstGeom prst="rect">
            <a:avLst/>
          </a:prstGeom>
          <a:noFill/>
          <a:ln/>
        </p:spPr>
        <p:txBody>
          <a:bodyPr wrap="square" lIns="0" tIns="0" rIns="0" bIns="0" rtlCol="0" anchor="ctr">
            <a:normAutofit/>
          </a:bodyPr>
          <a:lstStyle/>
          <a:p>
            <a:pPr algn="l" indent="0" marL="0">
              <a:buNone/>
            </a:pPr>
            <a:r>
              <a:rPr lang="en-US" sz="1200" b="1" dirty="0">
                <a:solidFill>
                  <a:srgbClr val="BFE7D6"/>
                </a:solidFill>
                <a:latin typeface="Aptos" pitchFamily="34" charset="0"/>
                <a:ea typeface="Aptos" pitchFamily="34" charset="-122"/>
                <a:cs typeface="Aptos" pitchFamily="34" charset="-120"/>
              </a:rPr>
              <a:t>02</a:t>
            </a:r>
            <a:endParaRPr lang="en-US" sz="1200" dirty="0"/>
          </a:p>
        </p:txBody>
      </p:sp>
      <p:sp>
        <p:nvSpPr>
          <p:cNvPr id="9" name="Text 7"/>
          <p:cNvSpPr txBox="1"/>
          <p:nvPr/>
        </p:nvSpPr>
        <p:spPr>
          <a:xfrm>
            <a:off x="1481328" y="3703320"/>
            <a:ext cx="2606040" cy="256032"/>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6–10 weeks</a:t>
            </a:r>
            <a:endParaRPr lang="en-US" sz="1400" dirty="0"/>
          </a:p>
        </p:txBody>
      </p:sp>
      <p:sp>
        <p:nvSpPr>
          <p:cNvPr id="10" name="Text 8"/>
          <p:cNvSpPr txBox="1"/>
          <p:nvPr/>
        </p:nvSpPr>
        <p:spPr>
          <a:xfrm>
            <a:off x="4114800" y="3703320"/>
            <a:ext cx="4114800" cy="256032"/>
          </a:xfrm>
          <a:prstGeom prst="rect">
            <a:avLst/>
          </a:prstGeom>
          <a:noFill/>
          <a:ln/>
        </p:spPr>
        <p:txBody>
          <a:bodyPr wrap="square" lIns="0" tIns="0" rIns="0" bIns="0" rtlCol="0" anchor="ctr">
            <a:normAutofit/>
          </a:bodyPr>
          <a:lstStyle/>
          <a:p>
            <a:pPr algn="l" indent="0" marL="0">
              <a:buNone/>
            </a:pPr>
            <a:r>
              <a:rPr lang="en-US" sz="1100" dirty="0">
                <a:solidFill>
                  <a:srgbClr val="BDD0C7"/>
                </a:solidFill>
                <a:latin typeface="Aptos" pitchFamily="34" charset="0"/>
                <a:ea typeface="Aptos" pitchFamily="34" charset="-122"/>
                <a:cs typeface="Aptos" pitchFamily="34" charset="-120"/>
              </a:rPr>
              <a:t>Review security and connect Microsoft</a:t>
            </a:r>
            <a:endParaRPr lang="en-US" sz="1100" dirty="0"/>
          </a:p>
        </p:txBody>
      </p:sp>
      <p:sp>
        <p:nvSpPr>
          <p:cNvPr id="11" name="Text 9"/>
          <p:cNvSpPr txBox="1"/>
          <p:nvPr/>
        </p:nvSpPr>
        <p:spPr>
          <a:xfrm>
            <a:off x="841248" y="4343400"/>
            <a:ext cx="475488" cy="228600"/>
          </a:xfrm>
          <a:prstGeom prst="rect">
            <a:avLst/>
          </a:prstGeom>
          <a:noFill/>
          <a:ln/>
        </p:spPr>
        <p:txBody>
          <a:bodyPr wrap="square" lIns="0" tIns="0" rIns="0" bIns="0" rtlCol="0" anchor="ctr">
            <a:normAutofit/>
          </a:bodyPr>
          <a:lstStyle/>
          <a:p>
            <a:pPr algn="l" indent="0" marL="0">
              <a:buNone/>
            </a:pPr>
            <a:r>
              <a:rPr lang="en-US" sz="1200" b="1" dirty="0">
                <a:solidFill>
                  <a:srgbClr val="BFE7D6"/>
                </a:solidFill>
                <a:latin typeface="Aptos" pitchFamily="34" charset="0"/>
                <a:ea typeface="Aptos" pitchFamily="34" charset="-122"/>
                <a:cs typeface="Aptos" pitchFamily="34" charset="-120"/>
              </a:rPr>
              <a:t>03</a:t>
            </a:r>
            <a:endParaRPr lang="en-US" sz="1200" dirty="0"/>
          </a:p>
        </p:txBody>
      </p:sp>
      <p:sp>
        <p:nvSpPr>
          <p:cNvPr id="12" name="Text 10"/>
          <p:cNvSpPr txBox="1"/>
          <p:nvPr/>
        </p:nvSpPr>
        <p:spPr>
          <a:xfrm>
            <a:off x="1481328" y="4343400"/>
            <a:ext cx="2606040" cy="256032"/>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Safety first</a:t>
            </a:r>
            <a:endParaRPr lang="en-US" sz="1400" dirty="0"/>
          </a:p>
        </p:txBody>
      </p:sp>
      <p:sp>
        <p:nvSpPr>
          <p:cNvPr id="13" name="Text 11"/>
          <p:cNvSpPr txBox="1"/>
          <p:nvPr/>
        </p:nvSpPr>
        <p:spPr>
          <a:xfrm>
            <a:off x="4114800" y="4343400"/>
            <a:ext cx="4114800" cy="256032"/>
          </a:xfrm>
          <a:prstGeom prst="rect">
            <a:avLst/>
          </a:prstGeom>
          <a:noFill/>
          <a:ln/>
        </p:spPr>
        <p:txBody>
          <a:bodyPr wrap="square" lIns="0" tIns="0" rIns="0" bIns="0" rtlCol="0" anchor="ctr">
            <a:normAutofit/>
          </a:bodyPr>
          <a:lstStyle/>
          <a:p>
            <a:pPr algn="l" indent="0" marL="0">
              <a:buNone/>
            </a:pPr>
            <a:r>
              <a:rPr lang="en-US" sz="1100" dirty="0">
                <a:solidFill>
                  <a:srgbClr val="BDD0C7"/>
                </a:solidFill>
                <a:latin typeface="Aptos" pitchFamily="34" charset="0"/>
                <a:ea typeface="Aptos" pitchFamily="34" charset="-122"/>
                <a:cs typeface="Aptos" pitchFamily="34" charset="-120"/>
              </a:rPr>
              <a:t>Stop if anyone sees a file they should not</a:t>
            </a:r>
            <a:endParaRPr lang="en-US" sz="1100" dirty="0"/>
          </a:p>
        </p:txBody>
      </p:sp>
      <p:sp>
        <p:nvSpPr>
          <p:cNvPr id="14" name="Text 12"/>
          <p:cNvSpPr txBox="1"/>
          <p:nvPr/>
        </p:nvSpPr>
        <p:spPr>
          <a:xfrm>
            <a:off x="841248" y="4983480"/>
            <a:ext cx="475488" cy="228600"/>
          </a:xfrm>
          <a:prstGeom prst="rect">
            <a:avLst/>
          </a:prstGeom>
          <a:noFill/>
          <a:ln/>
        </p:spPr>
        <p:txBody>
          <a:bodyPr wrap="square" lIns="0" tIns="0" rIns="0" bIns="0" rtlCol="0" anchor="ctr">
            <a:normAutofit/>
          </a:bodyPr>
          <a:lstStyle/>
          <a:p>
            <a:pPr algn="l" indent="0" marL="0">
              <a:buNone/>
            </a:pPr>
            <a:r>
              <a:rPr lang="en-US" sz="1200" b="1" dirty="0">
                <a:solidFill>
                  <a:srgbClr val="BFE7D6"/>
                </a:solidFill>
                <a:latin typeface="Aptos" pitchFamily="34" charset="0"/>
                <a:ea typeface="Aptos" pitchFamily="34" charset="-122"/>
                <a:cs typeface="Aptos" pitchFamily="34" charset="-120"/>
              </a:rPr>
              <a:t>04</a:t>
            </a:r>
            <a:endParaRPr lang="en-US" sz="1200" dirty="0"/>
          </a:p>
        </p:txBody>
      </p:sp>
      <p:sp>
        <p:nvSpPr>
          <p:cNvPr id="15" name="Text 13"/>
          <p:cNvSpPr txBox="1"/>
          <p:nvPr/>
        </p:nvSpPr>
        <p:spPr>
          <a:xfrm>
            <a:off x="1481328" y="4983480"/>
            <a:ext cx="2606040" cy="256032"/>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Measure value</a:t>
            </a:r>
            <a:endParaRPr lang="en-US" sz="1400" dirty="0"/>
          </a:p>
        </p:txBody>
      </p:sp>
      <p:sp>
        <p:nvSpPr>
          <p:cNvPr id="16" name="Text 14"/>
          <p:cNvSpPr txBox="1"/>
          <p:nvPr/>
        </p:nvSpPr>
        <p:spPr>
          <a:xfrm>
            <a:off x="4114800" y="4983480"/>
            <a:ext cx="4114800" cy="256032"/>
          </a:xfrm>
          <a:prstGeom prst="rect">
            <a:avLst/>
          </a:prstGeom>
          <a:noFill/>
          <a:ln/>
        </p:spPr>
        <p:txBody>
          <a:bodyPr wrap="square" lIns="0" tIns="0" rIns="0" bIns="0" rtlCol="0" anchor="ctr">
            <a:normAutofit/>
          </a:bodyPr>
          <a:lstStyle/>
          <a:p>
            <a:pPr algn="l" indent="0" marL="0">
              <a:buNone/>
            </a:pPr>
            <a:r>
              <a:rPr lang="en-US" sz="1100" dirty="0">
                <a:solidFill>
                  <a:srgbClr val="BDD0C7"/>
                </a:solidFill>
                <a:latin typeface="Aptos" pitchFamily="34" charset="0"/>
                <a:ea typeface="Aptos" pitchFamily="34" charset="-122"/>
                <a:cs typeface="Aptos" pitchFamily="34" charset="-120"/>
              </a:rPr>
              <a:t>Search time saved, accepted answers, cost</a:t>
            </a:r>
            <a:endParaRPr lang="en-US" sz="1100" dirty="0"/>
          </a:p>
        </p:txBody>
      </p:sp>
      <p:sp>
        <p:nvSpPr>
          <p:cNvPr id="17" name="Shape 15"/>
          <p:cNvSpPr/>
          <p:nvPr/>
        </p:nvSpPr>
        <p:spPr>
          <a:xfrm>
            <a:off x="8641080" y="3154680"/>
            <a:ext cx="2743200" cy="1691640"/>
          </a:xfrm>
          <a:prstGeom prst="roundRect">
            <a:avLst>
              <a:gd name="adj" fmla="val 6486"/>
            </a:avLst>
          </a:prstGeom>
          <a:solidFill>
            <a:srgbClr val="254C42"/>
          </a:solidFill>
          <a:ln w="12700">
            <a:solidFill>
              <a:srgbClr val="254C42">
                <a:alpha val="0"/>
              </a:srgbClr>
            </a:solidFill>
            <a:prstDash val="solid"/>
          </a:ln>
        </p:spPr>
      </p:sp>
      <p:sp>
        <p:nvSpPr>
          <p:cNvPr id="18" name="Text 16"/>
          <p:cNvSpPr txBox="1"/>
          <p:nvPr/>
        </p:nvSpPr>
        <p:spPr>
          <a:xfrm>
            <a:off x="8942832" y="3456432"/>
            <a:ext cx="2011680" cy="274320"/>
          </a:xfrm>
          <a:prstGeom prst="rect">
            <a:avLst/>
          </a:prstGeom>
          <a:noFill/>
          <a:ln/>
        </p:spPr>
        <p:txBody>
          <a:bodyPr wrap="square" lIns="0" tIns="0" rIns="0" bIns="0" rtlCol="0" anchor="ctr">
            <a:normAutofit/>
          </a:bodyPr>
          <a:lstStyle/>
          <a:p>
            <a:pPr algn="l" indent="0" marL="0">
              <a:buNone/>
            </a:pPr>
            <a:r>
              <a:rPr lang="en-US" sz="1200" b="1" spc="100" kern="0" dirty="0">
                <a:solidFill>
                  <a:srgbClr val="BFE7D6"/>
                </a:solidFill>
                <a:latin typeface="Aptos" pitchFamily="34" charset="0"/>
                <a:ea typeface="Aptos" pitchFamily="34" charset="-122"/>
                <a:cs typeface="Aptos" pitchFamily="34" charset="-120"/>
              </a:rPr>
              <a:t>The ask</a:t>
            </a:r>
            <a:endParaRPr lang="en-US" sz="1200" dirty="0"/>
          </a:p>
        </p:txBody>
      </p:sp>
      <p:sp>
        <p:nvSpPr>
          <p:cNvPr id="19" name="Text 17"/>
          <p:cNvSpPr txBox="1"/>
          <p:nvPr/>
        </p:nvSpPr>
        <p:spPr>
          <a:xfrm>
            <a:off x="8942832" y="3904488"/>
            <a:ext cx="2057400" cy="685800"/>
          </a:xfrm>
          <a:prstGeom prst="rect">
            <a:avLst/>
          </a:prstGeom>
          <a:noFill/>
          <a:ln/>
        </p:spPr>
        <p:txBody>
          <a:bodyPr wrap="square" lIns="0" tIns="0" rIns="0" bIns="0" rtlCol="0" anchor="t">
            <a:normAutofit/>
          </a:bodyPr>
          <a:lstStyle/>
          <a:p>
            <a:pPr algn="l" indent="0" marL="0">
              <a:buNone/>
            </a:pPr>
            <a:r>
              <a:rPr lang="en-US" sz="1200" dirty="0">
                <a:solidFill>
                  <a:srgbClr val="FFFFFF"/>
                </a:solidFill>
                <a:latin typeface="Aptos" pitchFamily="34" charset="0"/>
                <a:ea typeface="Aptos" pitchFamily="34" charset="-122"/>
                <a:cs typeface="Aptos" pitchFamily="34" charset="-120"/>
              </a:rPr>
              <a:t>Sponsor a security review, Microsoft setup and one pilot manager.</a:t>
            </a:r>
            <a:endParaRPr lang="en-US" sz="1200" dirty="0"/>
          </a:p>
        </p:txBody>
      </p:sp>
      <p:sp>
        <p:nvSpPr>
          <p:cNvPr id="20" name="Text 18"/>
          <p:cNvSpPr txBox="1"/>
          <p:nvPr/>
        </p:nvSpPr>
        <p:spPr>
          <a:xfrm>
            <a:off x="749808" y="6172200"/>
            <a:ext cx="7955280" cy="274320"/>
          </a:xfrm>
          <a:prstGeom prst="rect">
            <a:avLst/>
          </a:prstGeom>
          <a:noFill/>
          <a:ln/>
        </p:spPr>
        <p:txBody>
          <a:bodyPr wrap="square" lIns="0" tIns="0" rIns="0" bIns="0" rtlCol="0" anchor="ctr">
            <a:normAutofit/>
          </a:bodyPr>
          <a:lstStyle/>
          <a:p>
            <a:pPr algn="l" indent="0" marL="0">
              <a:buNone/>
            </a:pPr>
            <a:r>
              <a:rPr lang="en-US" sz="1000" dirty="0">
                <a:solidFill>
                  <a:srgbClr val="9CB7AC"/>
                </a:solidFill>
                <a:latin typeface="Aptos" pitchFamily="34" charset="0"/>
                <a:ea typeface="Aptos" pitchFamily="34" charset="-122"/>
                <a:cs typeface="Aptos" pitchFamily="34" charset="-120"/>
              </a:rPr>
              <a:t>Human API  ·  Evidence, boundaries, and a human path when the answer is not there.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Presight Eureka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API</dc:title>
  <dc:subject>Governed employee knowledge continuity</dc:subject>
  <dc:creator>Human API · Eureka Innovation Hackathon</dc:creator>
  <cp:lastModifiedBy>Human API · Eureka Innovation Hackathon</cp:lastModifiedBy>
  <cp:revision>1</cp:revision>
  <dcterms:created xsi:type="dcterms:W3CDTF">2026-10-27T07:03:01Z</dcterms:created>
  <dcterms:modified xsi:type="dcterms:W3CDTF">2026-10-27T07:03:01Z</dcterms:modified>
</cp:coreProperties>
</file>