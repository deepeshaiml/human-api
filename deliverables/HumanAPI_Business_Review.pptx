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66" r:id="rId3"/>
    <p:sldId id="286" r:id="rId4"/>
    <p:sldId id="394" r:id="rId5"/>
    <p:sldId id="397" r:id="rId6"/>
    <p:sldId id="358" r:id="rId7"/>
    <p:sldId id="378" r:id="rId8"/>
    <p:sldId id="363" r:id="rId9"/>
    <p:sldId id="360" r:id="rId10"/>
    <p:sldId id="353" r:id="rId11"/>
    <p:sldId id="398" r:id="rId12"/>
    <p:sldId id="337" r:id="rId13"/>
    <p:sldId id="317" r:id="rId14"/>
    <p:sldId id="399" r:id="rId15"/>
  </p:sldIdLst>
  <p:sldSz cx="12192000" cy="6858000"/>
  <p:notesSz cx="6858000" cy="9144000"/>
  <p:embeddedFontLst>
    <p:embeddedFont>
      <p:font typeface="Lora Medium" pitchFamily="2" charset="77"/>
      <p:regular r:id="rId17"/>
      <p:italic r:id="rId18"/>
    </p:embeddedFont>
    <p:embeddedFont>
      <p:font typeface="Lora SemiBold" pitchFamily="2" charset="77"/>
      <p:regular r:id="rId19"/>
      <p:bold r:id="rId20"/>
      <p:italic r:id="rId21"/>
      <p:boldItalic r:id="rId22"/>
    </p:embeddedFont>
    <p:embeddedFont>
      <p:font typeface="OpenAI Sans" panose="020B0004030202060203" pitchFamily="34" charset="77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Medium" panose="02000000000000000000" pitchFamily="2" charset="0"/>
      <p:regular r:id="rId31"/>
      <p:italic r:id="rId32"/>
    </p:embeddedFont>
    <p:embeddedFont>
      <p:font typeface="Roboto SemiBold" panose="02000000000000000000" pitchFamily="2" charset="0"/>
      <p:regular r:id="rId33"/>
      <p:bold r:id="rId34"/>
      <p:italic r:id="rId35"/>
      <p:boldItalic r:id="rId36"/>
    </p:embeddedFont>
    <p:embeddedFont>
      <p:font typeface="Roboto Serif 14pt" pitchFamily="2" charset="77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658"/>
  </p:normalViewPr>
  <p:slideViewPr>
    <p:cSldViewPr snapToGrid="0">
      <p:cViewPr varScale="1">
        <p:scale>
          <a:sx n="116" d="100"/>
          <a:sy n="116" d="100"/>
        </p:scale>
        <p:origin x="102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AED thousands</a:t>
            </a:r>
            <a:endParaRPr lang="en-US"/>
          </a:p>
        </c:rich>
      </c:tx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Base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700</c:v>
                </c:pt>
                <c:pt idx="2">
                  <c:v>1611</c:v>
                </c:pt>
              </c:numCache>
            </c:numRef>
          </c:val>
          <c:extLst>
            <c:ext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Annual cost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Base</c:v>
                </c:pt>
                <c:pt idx="2">
                  <c:v>High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740</c:v>
                </c:pt>
                <c:pt idx="1">
                  <c:v>740</c:v>
                </c:pt>
                <c:pt idx="2">
                  <c:v>740</c:v>
                </c:pt>
              </c:numCache>
            </c:numRef>
          </c:val>
          <c:smooth val="0"/>
          <c:extLst>
            <c:ext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"/>
          <c:y val="2.738737462131148E-2"/>
          <c:w val="0.62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Checks by group</a:t>
            </a:r>
            <a:endParaRPr lang="en-US"/>
          </a:p>
        </c:rich>
      </c:tx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Workflow</c:v>
                </c:pt>
                <c:pt idx="1">
                  <c:v>Found source</c:v>
                </c:pt>
                <c:pt idx="2">
                  <c:v>No answer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32</c:v>
                </c:pt>
                <c:pt idx="2">
                  <c:v>4</c:v>
                </c:pt>
              </c:numCache>
            </c:numRef>
          </c:val>
          <c:extLst>
            <c:ext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Workflow</c:v>
                </c:pt>
                <c:pt idx="1">
                  <c:v>Found source</c:v>
                </c:pt>
                <c:pt idx="2">
                  <c:v>No answer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'1.0' encoding='UTF-8'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Purpose: leadership review of the Human API concept and local synthetic-data prototype. Status is presented as of 27 October 2026; project evaluation inputs were last recorded on 26 October. Sources: README.md, docs/READER_GUIDE.md, and the Idea Document.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val="3596334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agenda separates current evidence from assumptions and decisions. It is a concept-stage readout, not a quarterly operating review based on employee or customer performance data.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val="3561787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PROGRESS.md and evaluations/latest_results.json (17 backend tests; 36 written search cases passed), plus the illustrative model in the Business Case. There is no live user, tenant, or productivity result.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FB72F921-54D6-E907-7BBA-A2D08F3D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1DBDF75A-5C6A-7C74-D0A7-94385DBCA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E2C6E797-3671-7C12-6FF8-CDD9BCC4D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README.md, DEMO_GUIDE.md, PROGRESS.md, and evaluations/latest_results.json. The test set is synthetic; zero access violations refers only to the scripted cases, not a real Microsoft tenant.</a:t>
            </a:r>
            <a:endParaRPr/>
          </a:p>
        </p:txBody>
      </p:sp>
    </p:spTree>
    <p:extLst>
      <p:ext uri="{BB962C8B-B14F-4D97-AF65-F5344CB8AC3E}">
        <p14:creationId val="209696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E30C862B-049F-B436-7F35-91EE3D91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9EF9CC9C-1F90-C4AD-F667-199F86F68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58CD0644-321E-6D30-5913-BFF9A2B8E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local demo scope in README.md and the Evaluation Report. Test pass counts describe expected local behavior; they do not establish answer quality, security certification, user adoption, or business impact.</a:t>
            </a:r>
            <a:endParaRPr/>
          </a:p>
        </p:txBody>
      </p:sp>
    </p:spTree>
    <p:extLst>
      <p:ext uri="{BB962C8B-B14F-4D97-AF65-F5344CB8AC3E}">
        <p14:creationId val="3744021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CB30B3C1-D818-E0F9-1E40-85E86208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33E18C8F-F2F8-56EA-C905-4B0E377B0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25ECFD9E-E6AC-EBEE-FC82-79604D288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docs/SECURITY_ARCHITECTURE.md and docs/TECHNICAL_DESIGN.md. Owner consent and requester file permission are separate controls. Microsoft delegated access is planned but not tenant-tested.</a:t>
            </a:r>
            <a:endParaRPr/>
          </a:p>
        </p:txBody>
      </p:sp>
    </p:spTree>
    <p:extLst>
      <p:ext uri="{BB962C8B-B14F-4D97-AF65-F5344CB8AC3E}">
        <p14:creationId val="1674431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docs/COMPETITIVE_ANALYSIS.md, reviewed 26 October 2026. Vendor capabilities and licensing can change; the slide frames the product distinction as a hypothesis and recommends comparison with Microsoft configuration.</a:t>
            </a:r>
            <a:endParaRPr/>
          </a:p>
        </p:txBody>
      </p:sp>
    </p:spTree>
    <p:extLst>
      <p:ext uri="{BB962C8B-B14F-4D97-AF65-F5344CB8AC3E}">
        <p14:creationId val="247470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8A5A6CCB-F299-ADEB-D492-5FE3101C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16137CCB-04A6-5F38-95AD-985416E1A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D091A5E6-876C-B5D0-B6CE-ECBD1EA86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product hypothesis, not a claim that Human API is unique or that current Microsoft tools cannot deliver the workflow. Validate with customer interviews and a configuration proof of concept.</a:t>
            </a:r>
            <a:endParaRPr/>
          </a:p>
        </p:txBody>
      </p:sp>
    </p:spTree>
    <p:extLst>
      <p:ext uri="{BB962C8B-B14F-4D97-AF65-F5344CB8AC3E}">
        <p14:creationId val="398153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D2FA91CC-0B77-6DA0-1482-7083FF9F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FF79B991-DA38-9CBA-D34B-4F082108B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FA8076AB-FD4D-6EBD-3F87-066813F80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evaluations/latest_results.json and the Business Case. The table distinguishes implemented local behavior, synthetic tests, planning assumptions, and future evidence required.</a:t>
            </a:r>
            <a:endParaRPr/>
          </a:p>
        </p:txBody>
      </p:sp>
    </p:spTree>
    <p:extLst>
      <p:ext uri="{BB962C8B-B14F-4D97-AF65-F5344CB8AC3E}">
        <p14:creationId val="1730285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HumanAPI_Business_Case.pdf. 50,000 possible questions = 500 × 2 × 50. Base case: 8,400 accepted answers × 20 active minutes × AED 250/hour = AED 700,000 estimated time value. Annual operating-cost assumption is AED 740,000. Neither value is measured cash savings.</a:t>
            </a:r>
            <a:endParaRPr/>
          </a:p>
        </p:txBody>
      </p:sp>
    </p:spTree>
    <p:extLst>
      <p:ext uri="{BB962C8B-B14F-4D97-AF65-F5344CB8AC3E}">
        <p14:creationId val="3094995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71054682-DD96-8E88-C2CA-AB1496CA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F4203AA1-1C05-EDFC-35F9-DD3970DA6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DF80D632-F012-4540-2F11-B1545774C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evaluations/latest_results.json and the Evaluation Report. Search suite: 32 expected retrievals plus 4 expected no-evidence cases, all passed. Backend: 17 tests passed. These are small synthetic checks, not semantic answer-quality, penetration, or production-security evaluations.</a:t>
            </a:r>
            <a:endParaRPr/>
          </a:p>
        </p:txBody>
      </p:sp>
    </p:spTree>
    <p:extLst>
      <p:ext uri="{BB962C8B-B14F-4D97-AF65-F5344CB8AC3E}">
        <p14:creationId val="3346200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 showMasterSp="0" showMasterPhAnim="0">
  <p:cSld>
    <p:spTree>
      <p:nvGrpSpPr>
        <p:cNvPr id="1" name="Shape 528">
          <a:extLst>
            <a:ext uri="{FF2B5EF4-FFF2-40B4-BE49-F238E27FC236}">
              <a16:creationId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proposed roadmap in the Idea Document and project plan. Timing is indicative: 0–2 weeks for review, 2–6 for Microsoft proof, and 6–10 for a small pilot. It depends on security approval, tenant access, and a willing team; it is not a committed schedule.</a:t>
            </a:r>
            <a:endParaRPr/>
          </a:p>
        </p:txBody>
      </p:sp>
    </p:spTree>
    <p:extLst>
      <p:ext uri="{BB962C8B-B14F-4D97-AF65-F5344CB8AC3E}">
        <p14:creationId val="4154251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2A8AD84C-D0F8-BA3C-FB72-70B27535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id="{266D9C57-F2D4-0074-5E69-DF23767A5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id="{34FC5DF4-FB2A-E8CB-7686-BDF529D24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Decision request synthesized from the Business Case, Security Architecture, and roadmap. The pilot should proceed only after security/privacy approval and evidence that requester permissions are preserved. Stop and remediate if an unauthorized disclosure occurs.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id="{9BAF5558-A05B-DB2E-9D41-A1A56C32A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val="4206625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2A8AD84C-D0F8-BA3C-FB72-70B27535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id="{266D9C57-F2D4-0074-5E69-DF23767A5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id="{34FC5DF4-FB2A-E8CB-7686-BDF529D24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proposed sequence, not a committed schedule. Weeks 0–2 cover safety review and choosing a willing team; weeks 2–6 test Microsoft sign-in and file access; weeks 6–10 allow a small trial only if security review and tenant access are ready.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id="{9BAF5558-A05B-DB2E-9D41-A1A56C32A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val="420662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 b="1" i="0">
                <a:latin typeface="Lora SemiBold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 pitchFamily="2" charset="77"/>
          <a:ea typeface="+mj-ea"/>
          <a:cs typeface="Roboto Serif 14pt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14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9" y="1444887"/>
            <a:ext cx="9448800" cy="1726468"/>
          </a:xfrm>
        </p:spPr>
        <p:txBody>
          <a:bodyPr anchor="t">
            <a:no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Lora Medium" pitchFamily="2" charset="77"/>
                <a:cs typeface="Roboto Serif 14pt" pitchFamily="2" charset="77"/>
              </a:rPr>
              <a:t>Human API Business 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Concept and local MVP review: current progress, evidence, value assumptions, decisions, and a proposed path to a safe pilot.</a:t>
            </a:r>
          </a:p>
        </p:txBody>
      </p:sp>
      <p:sp>
        <p:nvSpPr>
          <p:cNvPr id="6" name="Subtitle 4">
            <a:extLst>
              <a:ext uri="{FF2B5EF4-FFF2-40B4-BE49-F238E27FC236}">
                <a16:creationId id="{C66AB198-0518-67DE-AB81-D65264FDA20F}"/>
              </a:ext>
            </a:extLst>
          </p:cNvPr>
          <p:cNvSpPr txBox="1">
            <a:spLocks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/>
                </a:solidFill>
                <a:latin typeface="Roboto SemiBold" panose="02000000000000000000" pitchFamily="2" charset="0"/>
                <a:ea typeface="Roboto SemiBold" panose="02000000000000000000" pitchFamily="2" charset="0"/>
              </a:rPr>
              <a:t>Review date · 27 October 2026</a:t>
            </a:r>
          </a:p>
        </p:txBody>
      </p:sp>
      <p:sp>
        <p:nvSpPr>
          <p:cNvPr id="10" name="Subtitle 4">
            <a:extLst>
              <a:ext uri="{FF2B5EF4-FFF2-40B4-BE49-F238E27FC236}">
                <a16:creationId id="{CC2E0538-5645-7BC8-CF3A-FDF31FD97820}"/>
              </a:ext>
            </a:extLst>
          </p:cNvPr>
          <p:cNvSpPr txBox="1">
            <a:spLocks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2">
                    <a:lumMod val="9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Future of Work @ Presight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id="{89432B40-3197-639D-BB29-4C7C5CB396D4}"/>
              </a:ext>
            </a:extLst>
          </p:cNvPr>
          <p:cNvCxnSpPr>
            <a:cxnSpLocks/>
          </p:cNvCxnSpPr>
          <p:nvPr/>
        </p:nvCxn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7C141967-5EF0-A8CE-385B-6D0A5866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id="{3108432E-6CC9-7470-65A5-7F6A330E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9448800" cy="985805"/>
          </a:xfrm>
        </p:spPr>
        <p:txBody>
          <a:bodyPr>
            <a:normAutofit/>
          </a:bodyPr>
          <a:lstStyle/>
          <a:p>
            <a:r>
              <a:rPr lang="en-US" dirty="0"/>
              <a:t>Human API: concept and local MVP 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id="{173F7058-30A0-0125-1A90-B808A012B5B4}"/>
              </a:ext>
            </a:extLst>
          </p:cNvPr>
          <p:cNvSpPr txBox="1">
            <a:spLocks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Agenda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id="{AEB3874C-EF1B-D79F-C3F5-6702ABF89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396004950"/>
              </p:ext>
            </p:extLst>
          </p:nvPr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val="1631070132"/>
                    </a:ext>
                  </a:extLst>
                </a:gridCol>
                <a:gridCol w="6875813">
                  <a:extLst>
                    <a:ext uri="{9D8B030D-6E8A-4147-A177-3AD203B41FA5}">
                      <a16:colId val="1616312772"/>
                    </a:ext>
                  </a:extLst>
                </a:gridCol>
                <a:gridCol w="3901209">
                  <a:extLst>
                    <a:ext uri="{9D8B030D-6E8A-4147-A177-3AD203B41FA5}">
                      <a16:colId val="338902721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Executive view and decision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Decision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49284216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Product and roadmap status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Progress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15960588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Evaluation and safety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Evidence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2970902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Business case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Assumptions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7638523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Required decisions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Leadership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87414017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Outlook and risks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Pilot gate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5180815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id="{F810BED8-CB43-D17C-4D24-32A4B0893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/>
          <p:cNvSpPr txBox="1"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local demo runs the question flow using fictional employees and files. It checks owner policy and requester access, cites evidence, routes gaps to a person, and requires approval before reusing corrections.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2" name="Google Shape;532;p58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3</a:t>
            </a:fld>
            <a:endParaRPr dirty="0">
              <a:sym typeface="OpenAI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id="{51941D6B-3AD0-04BD-76AF-506638666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Google Shape;534;p58">
            <a:extLst>
              <a:ext uri="{FF2B5EF4-FFF2-40B4-BE49-F238E27FC236}">
                <a16:creationId id="{A3548D03-1D0F-655D-DD48-D4BF5C80F44D}"/>
              </a:ext>
            </a:extLst>
          </p:cNvPr>
          <p:cNvSpPr txBox="1">
            <a:spLocks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Project status</a:t>
            </a:r>
            <a:endParaRPr lang="en-US" sz="2000" dirty="0">
              <a:latin typeface="+mj-lt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6" name="Google Shape;534;p58">
            <a:extLst>
              <a:ext uri="{FF2B5EF4-FFF2-40B4-BE49-F238E27FC236}">
                <a16:creationId id="{4051D0BE-5D22-BCB4-EADF-44F16643D9F5}"/>
              </a:ext>
            </a:extLst>
          </p:cNvPr>
          <p:cNvSpPr txBox="1">
            <a:spLocks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scripted checks pass, but there is no measured employee value, live Microsoft tenant, or real-user pilot.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Google Shape;534;p58">
            <a:extLst>
              <a:ext uri="{FF2B5EF4-FFF2-40B4-BE49-F238E27FC236}">
                <a16:creationId id="{EE26938C-7FB7-798D-7C48-988932737F6D}"/>
              </a:ext>
            </a:extLst>
          </p:cNvPr>
          <p:cNvSpPr txBox="1">
            <a:spLocks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single most important insight</a:t>
            </a:r>
            <a:endParaRPr lang="en-US" sz="2000" dirty="0">
              <a:latin typeface="+mj-lt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rPr lang="en-US" dirty="0"/>
              <a:t>Prove safety and value before a pilot</a:t>
            </a:r>
          </a:p>
        </p:txBody>
      </p:sp>
      <p:sp>
        <p:nvSpPr>
          <p:cNvPr id="11" name="Subtitle 4">
            <a:extLst>
              <a:ext uri="{FF2B5EF4-FFF2-40B4-BE49-F238E27FC236}">
                <a16:creationId id="{42E9C51D-AB09-8D83-4157-006D57137348}"/>
              </a:ext>
            </a:extLst>
          </p:cNvPr>
          <p:cNvSpPr txBox="1">
            <a:spLocks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Executive Summary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id="{D437FEE4-7EB2-0B28-0524-F102AB6A47C6}"/>
              </a:ext>
            </a:extLst>
          </p:cNvPr>
          <p:cNvCxnSpPr/>
          <p:nvPr/>
        </p:nvCxn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534;p58">
            <a:extLst>
              <a:ext uri="{FF2B5EF4-FFF2-40B4-BE49-F238E27FC236}">
                <a16:creationId id="{108E1773-B682-C5EE-6944-58546A384F37}"/>
              </a:ext>
            </a:extLst>
          </p:cNvPr>
          <p:cNvSpPr txBox="1">
            <a:spLocks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Sponsor a security and privacy review, then confirm each person can access only files their work account permits. Choose one willing team and use non-sensitive files.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id="{1C1F2FD8-0D30-C7BF-5234-6F0EE46F0DC3}"/>
              </a:ext>
            </a:extLst>
          </p:cNvPr>
          <p:cNvSpPr txBox="1">
            <a:spLocks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Leadership decision required</a:t>
            </a:r>
            <a:endParaRPr lang="en-US" sz="2000" dirty="0">
              <a:latin typeface="+mj-lt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id="{F16B487F-1A7A-C301-4AB8-8DC1C19839AB}"/>
              </a:ext>
            </a:extLst>
          </p:cNvPr>
          <p:cNvSpPr/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Local MVP</a:t>
            </a:r>
          </a:p>
        </p:txBody>
      </p:sp>
      <p:sp>
        <p:nvSpPr>
          <p:cNvPr id="14" name="TextBox 13">
            <a:extLst>
              <a:ext uri="{FF2B5EF4-FFF2-40B4-BE49-F238E27FC236}">
                <a16:creationId id="{F3AF61EC-DBA0-BFB1-3293-0BF5DB670691}"/>
              </a:ext>
            </a:extLst>
          </p:cNvPr>
          <p:cNvSpPr txBox="1"/>
          <p:nvPr/>
        </p:nvSpPr>
        <p:spPr>
          <a:xfrm>
            <a:off x="393699" y="4756098"/>
            <a:ext cx="5537199" cy="294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Bottom line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id="{47E14DB1-10CD-1A00-06DC-F11F90562A04}"/>
              </a:ext>
            </a:extLst>
          </p:cNvPr>
          <p:cNvSpPr txBox="1">
            <a:spLocks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base estimate is AED 700k in time value versus AED 740k in annual cost. The AED 40k gap is illustrative; time value is not cash savings.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FE338EF2-CCFB-FA1F-AED3-8C8C1BA3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CAD38C25-48AC-5A29-D53A-82080FAF926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4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33E8FE18-95DE-C7EA-9E95-10B821893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What is proven so far—and what is not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id="{9E3149F3-A7D7-BC8F-C84C-4A4E60EA2799}"/>
              </a:ext>
            </a:extLst>
          </p:cNvPr>
          <p:cNvSpPr/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id="{5CD1077A-BBDF-3B07-D940-FA5482CB0124}"/>
              </a:ext>
            </a:extLst>
          </p:cNvPr>
          <p:cNvSpPr/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id="{B54A841D-1EA0-6181-C778-7C851CA6E64E}"/>
              </a:ext>
            </a:extLst>
          </p:cNvPr>
          <p:cNvSpPr txBox="1">
            <a:spLocks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Question records, owner rules, file checks, cited answers, escalation, and correction approval run locally.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id="{B4E203EC-EB81-96EF-66AB-3B6012B4B3EF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id="{2000F722-C0CE-FDAF-EAFE-20BC4A7F4118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id="{A4694142-7504-448C-B110-ABCB1A6DD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12" name="Google Shape;534;p58">
            <a:extLst>
              <a:ext uri="{FF2B5EF4-FFF2-40B4-BE49-F238E27FC236}">
                <a16:creationId id="{F393FB38-1005-6250-1642-93C1A76E0B77}"/>
              </a:ext>
            </a:extLst>
          </p:cNvPr>
          <p:cNvSpPr txBox="1">
            <a:spLocks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local app demonstrates the workflow on fictional data. Microsoft connections and employee value remain unproven.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id="{A0F4C075-109A-7DDE-18C9-18F128552C24}"/>
              </a:ext>
            </a:extLst>
          </p:cNvPr>
          <p:cNvSpPr txBox="1">
            <a:spLocks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Current position</a:t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2000" dirty="0">
              <a:latin typeface="+mj-lt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id="{49DCE927-F1A4-A9ED-C839-844BB688547F}"/>
              </a:ext>
            </a:extLst>
          </p:cNvPr>
          <p:cNvSpPr txBox="1"/>
          <p:nvPr/>
        </p:nvSpPr>
        <p:spPr>
          <a:xfrm>
            <a:off x="702967" y="2793808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Working workflow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id="{B71DDDF3-A6F6-A2D9-7F68-A246AE82F73A}"/>
              </a:ext>
            </a:extLst>
          </p:cNvPr>
          <p:cNvSpPr txBox="1">
            <a:spLocks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17 backend tests and 36 of 36 written search cases passed. No real employees or tenant were tested.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id="{BAD06467-8163-39A0-0B9A-1A98533B6978}"/>
              </a:ext>
            </a:extLst>
          </p:cNvPr>
          <p:cNvSpPr txBox="1"/>
          <p:nvPr/>
        </p:nvSpPr>
        <p:spPr>
          <a:xfrm>
            <a:off x="6555127" y="2793808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Synthetic checks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id="{E61F5831-A6CA-0036-3E5C-283D4EBAFE55}"/>
              </a:ext>
            </a:extLst>
          </p:cNvPr>
          <p:cNvSpPr txBox="1">
            <a:spLocks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50,000 possible annual questions and AED 700k base time value are planning assumptions, not measured results.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9" name="TextBox 18">
            <a:extLst>
              <a:ext uri="{FF2B5EF4-FFF2-40B4-BE49-F238E27FC236}">
                <a16:creationId id="{1283300B-2E76-54E3-B3E8-C4CE0DA323BE}"/>
              </a:ext>
            </a:extLst>
          </p:cNvPr>
          <p:cNvSpPr txBox="1"/>
          <p:nvPr/>
        </p:nvSpPr>
        <p:spPr>
          <a:xfrm>
            <a:off x="702967" y="4637848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Illustrative value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id="{91E87E4E-34C4-73A3-D9B4-5528035E3F32}"/>
              </a:ext>
            </a:extLst>
          </p:cNvPr>
          <p:cNvSpPr txBox="1">
            <a:spLocks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Microsoft sign-in and file access are not connected or tested in a work account. There is no Teams app or language model.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id="{4BBBD727-79F1-2502-A083-A18F5A754163}"/>
              </a:ext>
            </a:extLst>
          </p:cNvPr>
          <p:cNvSpPr txBox="1"/>
          <p:nvPr/>
        </p:nvSpPr>
        <p:spPr>
          <a:xfrm>
            <a:off x="6555127" y="4637848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Microsoft readiness</a:t>
            </a:r>
          </a:p>
        </p:txBody>
      </p:sp>
    </p:spTree>
    <p:extLst>
      <p:ext uri="{BB962C8B-B14F-4D97-AF65-F5344CB8AC3E}">
        <p14:creationId val="2179535326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00781FDF-4130-4E67-D3EE-AE7C2129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D6AD4425-62A5-20FE-DA81-DB0262F8E9D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5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CCB3C549-3412-D9EC-FC96-8C0EA25A4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Business outcomes have not yet been measured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id="{BD5D3365-630B-7DA2-6578-D2DE7ACBB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Google Shape;534;p58">
            <a:extLst>
              <a:ext uri="{FF2B5EF4-FFF2-40B4-BE49-F238E27FC236}">
                <a16:creationId id="{076E58D8-94E3-59EF-6F5D-94479531D945}"/>
              </a:ext>
            </a:extLst>
          </p:cNvPr>
          <p:cNvSpPr txBox="1">
            <a:spLocks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local app demonstrates a question being saved, checked against owner and requester permissions, answered with a source, or routed to a person.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17 backend tests and all 36 written retrieval cases passed. These small fictional fixtures do not prove production accuracy, security, or value.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id="{EC39CC4A-7702-F34C-BFC1-C34643FFFDEE}"/>
              </a:ext>
            </a:extLst>
          </p:cNvPr>
          <p:cNvSpPr txBox="1">
            <a:spLocks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Current evidence is prototype-level</a:t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id="{B4FA777D-1E43-2118-018B-D684DB7EFEF1}"/>
              </a:ext>
            </a:extLst>
          </p:cNvPr>
          <p:cNvSpPr txBox="1">
            <a:spLocks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Question handling and approval run with synthetic people and files.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28" name="TextBox 27">
            <a:extLst>
              <a:ext uri="{FF2B5EF4-FFF2-40B4-BE49-F238E27FC236}">
                <a16:creationId id="{F2F01BD9-1359-C69B-3F1A-A36534227FFE}"/>
              </a:ext>
            </a:extLst>
          </p:cNvPr>
          <p:cNvSpPr txBox="1"/>
          <p:nvPr/>
        </p:nvSpPr>
        <p:spPr>
          <a:xfrm>
            <a:off x="6644793" y="1813255"/>
            <a:ext cx="5014766" cy="2233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Local workflow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id="{3C99D68F-34ED-A722-D7DB-03942B0B77DB}"/>
              </a:ext>
            </a:extLst>
          </p:cNvPr>
          <p:cNvSpPr/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>
              <a:ext uri="{FF2B5EF4-FFF2-40B4-BE49-F238E27FC236}">
                <a16:creationId id="{32674159-B6E6-B9EF-D753-5EF1E687140B}"/>
              </a:ext>
            </a:extLst>
          </p:cNvPr>
          <p:cNvSpPr txBox="1">
            <a:spLocks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17 backend tests and 36 search examples passed.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6" name="TextBox 5">
            <a:extLst>
              <a:ext uri="{FF2B5EF4-FFF2-40B4-BE49-F238E27FC236}">
                <a16:creationId id="{57D84212-7716-6AFC-2CCA-1118E41834EC}"/>
              </a:ext>
            </a:extLst>
          </p:cNvPr>
          <p:cNvSpPr txBox="1"/>
          <p:nvPr/>
        </p:nvSpPr>
        <p:spPr>
          <a:xfrm>
            <a:off x="6644793" y="3322015"/>
            <a:ext cx="5014766" cy="2233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Scripted checks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id="{520BED9B-3AD0-B986-23FF-346EFF8EE6FA}"/>
              </a:ext>
            </a:extLst>
          </p:cNvPr>
          <p:cNvSpPr/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id="{58865802-6967-7210-3371-DEA6828B57A2}"/>
              </a:ext>
            </a:extLst>
          </p:cNvPr>
          <p:cNvSpPr txBox="1">
            <a:spLocks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No employee pilot, tenant proof, or time-savings study yet.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id="{DD2FEB2E-B2D7-376B-AFC1-B25E2E37C15B}"/>
              </a:ext>
            </a:extLst>
          </p:cNvPr>
          <p:cNvSpPr txBox="1"/>
          <p:nvPr/>
        </p:nvSpPr>
        <p:spPr>
          <a:xfrm>
            <a:off x="6644794" y="4830775"/>
            <a:ext cx="5014766" cy="2233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No live outcomes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id="{F95C5540-5014-B354-3651-51BA127570AA}"/>
              </a:ext>
            </a:extLst>
          </p:cNvPr>
          <p:cNvSpPr/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val="3366140372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4C3029DB-B611-6782-57C9-74AD8C9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CCCB27A2-1D9F-6514-0821-C7CC3F6755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6</a:t>
            </a:fld>
            <a:endParaRPr dirty="0">
              <a:sym typeface="OpenAI San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id="{8B4C5563-C118-E2D4-2A1A-F84171FF9E48}"/>
              </a:ext>
            </a:extLst>
          </p:cNvPr>
          <p:cNvSpPr/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id="{87EC77EB-07E7-2818-9132-6416EC5EFF5D}"/>
              </a:ext>
            </a:extLst>
          </p:cNvPr>
          <p:cNvSpPr/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id="{14F9DBD7-0427-326B-17D5-5DD215C447E9}"/>
              </a:ext>
            </a:extLst>
          </p:cNvPr>
          <p:cNvSpPr txBox="1">
            <a:spLocks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Requester access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Owner consent never gives another person new file access.</a:t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/>
          </a:p>
        </p:txBody>
      </p:sp>
      <p:sp>
        <p:nvSpPr>
          <p:cNvPr id="13" name="Content Placeholder 10">
            <a:extLst>
              <a:ext uri="{FF2B5EF4-FFF2-40B4-BE49-F238E27FC236}">
                <a16:creationId id="{A81FFF27-06E1-B925-B772-E8C07A029EE7}"/>
              </a:ext>
            </a:extLst>
          </p:cNvPr>
          <p:cNvSpPr txBox="1">
            <a:spLocks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Human fallback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Missing or conflicting evidence goes to an approved person; reuse waits for owner approval.</a:t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/>
          </a:p>
        </p:txBody>
      </p:sp>
      <p:sp>
        <p:nvSpPr>
          <p:cNvPr id="14" name="Google Shape;340;p61">
            <a:extLst>
              <a:ext uri="{FF2B5EF4-FFF2-40B4-BE49-F238E27FC236}">
                <a16:creationId id="{D182FC54-B4D0-2FD9-7909-F4321F70186F}"/>
              </a:ext>
            </a:extLst>
          </p:cNvPr>
          <p:cNvSpPr/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id="{12304657-C94E-6AEC-95B3-FF04FD52D51C}"/>
              </a:ext>
            </a:extLst>
          </p:cNvPr>
          <p:cNvSpPr/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id="{7FAC9A03-119F-393D-2295-2587BE7C4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Title 3">
            <a:extLst>
              <a:ext uri="{FF2B5EF4-FFF2-40B4-BE49-F238E27FC236}">
                <a16:creationId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Three controls keep the workflow governed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id="{E49F3E50-E7DD-037F-1687-7A3A08473928}"/>
              </a:ext>
            </a:extLst>
          </p:cNvPr>
          <p:cNvSpPr/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>
              <a:ext uri="{FF2B5EF4-FFF2-40B4-BE49-F238E27FC236}">
                <a16:creationId id="{895137EF-1168-9543-8134-200AA74D8FBB}"/>
              </a:ext>
            </a:extLst>
          </p:cNvPr>
          <p:cNvSpPr txBox="1">
            <a:spLocks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Owner opt-in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owner chooses the scope and can pause or revoke the policy.</a:t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solidFill>
                  <a:prstClr val="black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/>
          </a:p>
        </p:txBody>
      </p:sp>
      <p:sp>
        <p:nvSpPr>
          <p:cNvPr id="7" name="Google Shape;340;p61">
            <a:extLst>
              <a:ext uri="{FF2B5EF4-FFF2-40B4-BE49-F238E27FC236}">
                <a16:creationId id="{A926CAA1-5F44-3769-A410-E058BAEE3B13}"/>
              </a:ext>
            </a:extLst>
          </p:cNvPr>
          <p:cNvSpPr/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id="{208EF3D1-5C57-8D4F-49C8-21BD74420786}"/>
              </a:ext>
            </a:extLst>
          </p:cNvPr>
          <p:cNvSpPr txBox="1">
            <a:spLocks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Owner consent limits dates, projects, topics, audience, and selected sources.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requester must already be allowed to open a file. Access is checked before search and again before a saved answer is shown.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id="{93CCF932-231F-7EA0-6520-FFB192B4EFA5}"/>
              </a:ext>
            </a:extLst>
          </p:cNvPr>
          <p:cNvSpPr txBox="1">
            <a:spLocks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Before any file is used</a:t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2000" dirty="0">
              <a:latin typeface="+mj-lt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val="1566183075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id="{C936F667-D10C-5292-AA3B-96BE2CAC84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Existing tools already search files, cite sources, and respect permissions.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Possible gap: owner-approved deadlines, source limits, human handoff, and approved reuse.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First test this workflow inside Teams or Copilot Studio.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ym typeface="OpenAI Sans"/>
              </a:rPr>
              <a:pPr/>
              <a:t>7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Strategic focus: connect before building more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id="{A4A94F3C-B1B2-7289-7098-7C66C8A291D6}"/>
              </a:ext>
            </a:extLst>
          </p:cNvPr>
          <p:cNvSpPr txBox="1">
            <a:spLocks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Can Microsoft tools configure this same lifecycle at lower cost?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Compare a configured workflow with the Human API prototype before funding a standalone service.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Public vendor claims change; recheck availability and licensing before a decision.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Google Shape;534;p58">
            <a:extLst>
              <a:ext uri="{FF2B5EF4-FFF2-40B4-BE49-F238E27FC236}">
                <a16:creationId id="{FD46BF2A-8122-2E0A-E8CC-886653CF64DA}"/>
              </a:ext>
            </a:extLst>
          </p:cNvPr>
          <p:cNvSpPr txBox="1">
            <a:spLocks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Test a narrow handoff workflow on top of search tools already in use.</a:t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</p:spTree>
    <p:extLst>
      <p:ext uri="{BB962C8B-B14F-4D97-AF65-F5344CB8AC3E}">
        <p14:creationId val="546221724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2F4F4A9C-A879-377C-6409-053F5823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CF5D028D-B73B-5BFF-0AA5-65F94FB570F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8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D035ED81-B82C-6CFE-FAA7-0911E05CD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lang="en-US" sz="4200" dirty="0">
                <a:solidFill>
                  <a:schemeClr val="accent1"/>
                </a:solidFill>
              </a:rPr>
              <a:t>The idea looks useful; its unique value is unproven</a:t>
            </a:r>
            <a:br>
              <a:rPr lang="en-US" sz="4200" dirty="0">
                <a:solidFill>
                  <a:schemeClr val="accent1"/>
                </a:solidFill>
              </a:rPr>
            </a:br>
            <a:r>
              <a:rPr lang="en-US" sz="4200" dirty="0">
                <a:solidFill>
                  <a:schemeClr val="accent1"/>
                </a:solidFill>
              </a:rPr>
              <a:t/>
            </a:r>
            <a:endParaRPr sz="4200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id="{AEFF86C5-A7D2-315F-C644-70488B8E4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Google Shape;534;p58">
            <a:extLst>
              <a:ext uri="{FF2B5EF4-FFF2-40B4-BE49-F238E27FC236}">
                <a16:creationId id="{6730FFED-E57C-67CB-4BAA-568126831AB5}"/>
              </a:ext>
            </a:extLst>
          </p:cNvPr>
          <p:cNvSpPr txBox="1">
            <a:spLocks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Human API should manage a controlled handoff around existing file search, not become another search engine. The next step should test whether owner permission, each person's existing file access, source citations, and human review solve a problem Microsoft tools cannot solve at lower cost.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val="346614214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8F193B6A-C27E-FD2B-FCAC-CB712B9C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C4429360-E0B5-E472-3BCB-2FC70A04DAF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9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3CD65521-5912-FE80-B7B5-EE9E16A13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Scorecard: demo checks, not real-world results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id="{D298816F-C507-1B76-C71B-E5F8461142E6}"/>
              </a:ext>
            </a:extLst>
          </p:cNvPr>
          <p:cNvGraphicFramePr/>
          <p:nvPr>
            <p:extLst>
              <p:ext uri="{D42A27DB-BD31-4B8C-83A1-F6EECF244321}">
                <p14:modId val="657042629"/>
              </p:ext>
            </p:extLst>
          </p:nvPr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694500">
                  <a:extLst>
                    <a:ext uri="{9D8B030D-6E8A-4147-A177-3AD203B41FA5}">
                      <a16:colId val="20001"/>
                    </a:ext>
                  </a:extLst>
                </a:gridCol>
                <a:gridCol w="1694500">
                  <a:extLst>
                    <a:ext uri="{9D8B030D-6E8A-4147-A177-3AD203B41FA5}">
                      <a16:colId val="20002"/>
                    </a:ext>
                  </a:extLst>
                </a:gridCol>
                <a:gridCol w="1694500">
                  <a:extLst>
                    <a:ext uri="{9D8B030D-6E8A-4147-A177-3AD203B41FA5}">
                      <a16:colId val="20003"/>
                    </a:ext>
                  </a:extLst>
                </a:gridCol>
                <a:gridCol w="169450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Measure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Current result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What it shows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Next proof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Question flow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Working locally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Policy → answer or handoff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Security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App tests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17 passed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Expected demo rules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Integration tests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Source search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32/32 found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Word-match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Real questions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No-answer cases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4/4 sent to a person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 source matched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Reworded questions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Access checks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 in tests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Scripted cases only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Company access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Live users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Not measured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 employee pilot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Set baseline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Time saved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Not measured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Business assumption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Pilot time study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Microsoft access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Not tested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Connection code only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Work-account test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37771735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Teams app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Not built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 Teams app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Choose workflow host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30640221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id="{175B304C-27F3-8A33-E6D7-E2EFCA2F8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7" name="Google Shape;534;p58">
            <a:extLst>
              <a:ext uri="{FF2B5EF4-FFF2-40B4-BE49-F238E27FC236}">
                <a16:creationId id="{71547039-AB2A-5CA1-49F7-26E9E71601EF}"/>
              </a:ext>
            </a:extLst>
          </p:cNvPr>
          <p:cNvSpPr txBox="1">
            <a:spLocks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demo checks its rules against fictional records.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It does not measure answer accuracy, employee value, company security, or production reliability.</a:t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4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id="{D136FB89-7449-CC90-F061-B6BF578EA25E}"/>
              </a:ext>
            </a:extLst>
          </p:cNvPr>
          <p:cNvSpPr txBox="1">
            <a:spLocks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How to read this</a:t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 err="1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2000" dirty="0"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</p:spTree>
    <p:extLst>
      <p:ext uri="{BB962C8B-B14F-4D97-AF65-F5344CB8AC3E}">
        <p14:creationId val="2553894934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Shape 531">
          <a:extLst>
            <a:ext uri="{FF2B5EF4-FFF2-40B4-BE49-F238E27FC236}">
              <a16:creationId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F29587C6-818E-614C-4E8F-CD264BB5D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10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Illustrative annual time value and cost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val="3139987496"/>
              </p:ext>
            </p:extLst>
          </p:nvPr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Rounded Rectangle 5">
            <a:extLst>
              <a:ext uri="{FF2B5EF4-FFF2-40B4-BE49-F238E27FC236}">
                <a16:creationId id="{DEFFCFBF-F669-9423-2DB8-D166659E1B79}"/>
              </a:ext>
            </a:extLst>
          </p:cNvPr>
          <p:cNvSpPr/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id="{2B25D3D5-48E8-D985-A4A9-9DA67A423BF8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id="{993A9C42-081B-E830-D8CB-13511AF87915}"/>
              </a:ext>
            </a:extLst>
          </p:cNvPr>
          <p:cNvSpPr txBox="1">
            <a:spLocks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8,400 accepted answers under illustrative adoption and resolution assumptions.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3" name="TextBox 12">
            <a:extLst>
              <a:ext uri="{FF2B5EF4-FFF2-40B4-BE49-F238E27FC236}">
                <a16:creationId id="{F3899B51-315F-2B69-8DFE-6F0EE585DE74}"/>
              </a:ext>
            </a:extLst>
          </p:cNvPr>
          <p:cNvSpPr txBox="1"/>
          <p:nvPr/>
        </p:nvSpPr>
        <p:spPr>
          <a:xfrm>
            <a:off x="6555127" y="2631212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Base-case use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id="{DBE99E9C-A611-68DB-873D-1306B6DA4538}"/>
              </a:ext>
            </a:extLst>
          </p:cNvPr>
          <p:cNvSpPr txBox="1">
            <a:spLocks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20 minutes of active search per accepted answer; waiting is excluded.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id="{5A7172E7-1168-69D9-D755-CC735D3A9194}"/>
              </a:ext>
            </a:extLst>
          </p:cNvPr>
          <p:cNvSpPr txBox="1"/>
          <p:nvPr/>
        </p:nvSpPr>
        <p:spPr>
          <a:xfrm>
            <a:off x="6555127" y="4637848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Time counted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id="{B252D751-7B28-98E9-CF7E-0EB98657E0AF}"/>
              </a:ext>
            </a:extLst>
          </p:cNvPr>
          <p:cNvSpPr/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id="{07D94FB0-B75A-4229-2FD1-CA1FAAC57998}"/>
              </a:ext>
            </a:extLst>
          </p:cNvPr>
          <p:cNvSpPr txBox="1">
            <a:spLocks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50,000 possible questions: 500 people × 2 per week × 50 weeks.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8" name="TextBox 17">
            <a:extLst>
              <a:ext uri="{FF2B5EF4-FFF2-40B4-BE49-F238E27FC236}">
                <a16:creationId id="{20D1D081-A168-A031-F892-8E2476A4AF34}"/>
              </a:ext>
            </a:extLst>
          </p:cNvPr>
          <p:cNvSpPr txBox="1"/>
          <p:nvPr/>
        </p:nvSpPr>
        <p:spPr>
          <a:xfrm>
            <a:off x="6555127" y="647429"/>
            <a:ext cx="4986886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7B8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Question volume</a:t>
            </a:r>
          </a:p>
        </p:txBody>
      </p:sp>
    </p:spTree>
    <p:extLst>
      <p:ext uri="{BB962C8B-B14F-4D97-AF65-F5344CB8AC3E}">
        <p14:creationId val="3145975295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Shape 531">
          <a:extLst>
            <a:ext uri="{FF2B5EF4-FFF2-40B4-BE49-F238E27FC236}">
              <a16:creationId id="{1A03D60E-5DAA-16C1-57A8-527A813C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95E36811-4D7D-1AF4-2047-7797FCF554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11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0619161C-354F-15D6-9579-085F52D7C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Synthetic evaluation snapshot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id="{F9ECF619-B138-985C-78A5-B4A36DC109EB}"/>
              </a:ext>
            </a:extLst>
          </p:cNvPr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id="{28BED08C-D3A0-E23F-F823-E34BEC6E5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Rounded Rectangle 1">
            <a:extLst>
              <a:ext uri="{FF2B5EF4-FFF2-40B4-BE49-F238E27FC236}">
                <a16:creationId id="{C1DC18F5-97D1-0F9E-AF97-E39D1D597D57}"/>
              </a:ext>
            </a:extLst>
          </p:cNvPr>
          <p:cNvSpPr/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>
              <a:ext uri="{FF2B5EF4-FFF2-40B4-BE49-F238E27FC236}">
                <a16:creationId id="{90C522A2-2174-5AFA-9A00-7E4BBCEB22B0}"/>
              </a:ext>
            </a:extLst>
          </p:cNvPr>
          <p:cNvSpPr txBox="1">
            <a:spLocks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62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36/36</a:t>
            </a:r>
            <a:endParaRPr lang="en-US" sz="6200" dirty="0">
              <a:solidFill>
                <a:schemeClr val="accent1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id="{3859261F-DEEB-D3E4-08EA-A3B8D1EB0F8B}"/>
              </a:ext>
            </a:extLst>
          </p:cNvPr>
          <p:cNvSpPr txBox="1">
            <a:spLocks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All 36 search cases matched expected results.</a:t>
            </a:r>
            <a:b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id="{46A67EF5-6C28-37C0-A44F-C89DA6A63CE8}"/>
              </a:ext>
            </a:extLst>
          </p:cNvPr>
          <p:cNvSpPr/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>
              <a:ext uri="{FF2B5EF4-FFF2-40B4-BE49-F238E27FC236}">
                <a16:creationId id="{C1178A3C-CA3E-3A18-E320-61DF2ABD5D3C}"/>
              </a:ext>
            </a:extLst>
          </p:cNvPr>
          <p:cNvSpPr txBox="1">
            <a:spLocks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62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0</a:t>
            </a:r>
            <a:endParaRPr lang="en-US" sz="6200" dirty="0">
              <a:solidFill>
                <a:schemeClr val="accent1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Content Placeholder 15">
            <a:extLst>
              <a:ext uri="{FF2B5EF4-FFF2-40B4-BE49-F238E27FC236}">
                <a16:creationId id="{9A0C1C6C-0D79-048C-2E65-5A332ED31144}"/>
              </a:ext>
            </a:extLst>
          </p:cNvPr>
          <p:cNvSpPr txBox="1">
            <a:spLocks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Scripted tests only; not a security proof.</a:t>
            </a:r>
            <a:b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id="{A1ADE962-9ED7-3644-FA2A-7A64E19E9545}"/>
              </a:ext>
            </a:extLst>
          </p:cNvPr>
          <p:cNvSpPr txBox="1">
            <a:spLocks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17 backend tests also passed. These small synthetic checks do not assess answer quality, tenant integration, performance, adoption, or saved time.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</p:spTree>
    <p:extLst>
      <p:ext uri="{BB962C8B-B14F-4D97-AF65-F5344CB8AC3E}">
        <p14:creationId val="399383134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Safety review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Review data and file controls. Pick one willing team and record a starting point.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12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Proposed 10-week path to a small team trial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Microsoft access test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Test work-account sign-in and file access. Choose Teams or Copilot Studio.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 panose="02000503000000020004" pitchFamily="2" charset="0"/>
                <a:sym typeface="OpenAI Sans"/>
              </a:rPr>
              <a:t>Small team trial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Run with one willing team. Measure time, trust, accepted answers, and access issues.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/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chemeClr val="accent1"/>
                </a:solidFill>
                <a:latin typeface="Roboto SemiBold" panose="02000000000000000000" pitchFamily="2" charset="0"/>
                <a:ea typeface="Roboto SemiBold" panose="02000000000000000000" pitchFamily="2" charset="0"/>
                <a:cs typeface="Helvetica Neue" panose="02000503000000020004" pitchFamily="2" charset="0"/>
                <a:sym typeface="OpenAI Sans"/>
              </a:rPr>
              <a:t>Weeks 0–2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chemeClr val="accent1"/>
                </a:solidFill>
                <a:latin typeface="Roboto SemiBold" panose="02000000000000000000" pitchFamily="2" charset="0"/>
                <a:ea typeface="Roboto SemiBold" panose="02000000000000000000" pitchFamily="2" charset="0"/>
                <a:cs typeface="Helvetica Neue" panose="02000503000000020004" pitchFamily="2" charset="0"/>
                <a:sym typeface="OpenAI Sans"/>
              </a:rPr>
              <a:t>Weeks 2–6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chemeClr val="accent1"/>
                </a:solidFill>
                <a:latin typeface="Roboto SemiBold" panose="02000000000000000000" pitchFamily="2" charset="0"/>
                <a:ea typeface="Roboto SemiBold" panose="02000000000000000000" pitchFamily="2" charset="0"/>
                <a:cs typeface="Helvetica Neue" panose="02000503000000020004" pitchFamily="2" charset="0"/>
                <a:sym typeface="OpenAI Sans"/>
              </a:rPr>
              <a:t>Weeks 6–10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val="3446338916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Shape 531">
          <a:extLst>
            <a:ext uri="{FF2B5EF4-FFF2-40B4-BE49-F238E27FC236}">
              <a16:creationId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13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Indicative work sequence; approvals come first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val="4069686237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val="20000"/>
                    </a:ext>
                  </a:extLst>
                </a:gridCol>
                <a:gridCol w="2280920">
                  <a:extLst>
                    <a:ext uri="{9D8B030D-6E8A-4147-A177-3AD203B41FA5}">
                      <a16:colId val="20001"/>
                    </a:ext>
                  </a:extLst>
                </a:gridCol>
                <a:gridCol w="2280920">
                  <a:extLst>
                    <a:ext uri="{9D8B030D-6E8A-4147-A177-3AD203B41FA5}">
                      <a16:colId val="20002"/>
                    </a:ext>
                  </a:extLst>
                </a:gridCol>
                <a:gridCol w="2280920">
                  <a:extLst>
                    <a:ext uri="{9D8B030D-6E8A-4147-A177-3AD203B41FA5}">
                      <a16:colId val="20003"/>
                    </a:ext>
                  </a:extLst>
                </a:gridCol>
                <a:gridCol w="228092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Review</a:t>
                      </a:r>
                      <a:endParaRPr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Set limits</a:t>
                      </a:r>
                      <a:endParaRPr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Microsoft test</a:t>
                      </a:r>
                      <a:endParaRPr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Workflow</a:t>
                      </a:r>
                      <a:endParaRPr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Pilot</a:t>
                      </a:r>
                      <a:endParaRPr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solidFill>
                  <a:schemeClr val="bg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Set up Teams or Copilot workflow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solidFill>
                  <a:schemeClr val="accent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Measure before and during trial</a:t>
            </a:r>
            <a:endParaRPr sz="1500" dirty="0">
              <a:solidFill>
                <a:schemeClr val="accent1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solidFill>
                  <a:schemeClr val="bg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Small opt-in team trial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solidFill>
                  <a:schemeClr val="bg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Check each person's file access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solidFill>
                  <a:schemeClr val="bg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Test Microsoft work sign-in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solidFill>
                  <a:schemeClr val="bg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Helvetica Neue"/>
                <a:sym typeface="Helvetica Neue"/>
              </a:rPr>
              <a:t>Security and privacy review</a:t>
            </a:r>
            <a:endParaRPr sz="1500" dirty="0">
              <a:solidFill>
                <a:schemeClr val="bg2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/>
              <a:sym typeface="Helvetica Neue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val="2435171538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AE7255DD-98B9-E077-6778-D5F2B926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id="{32011EE4-C416-3EA2-180D-62404CE4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937510"/>
            <a:ext cx="9448800" cy="2491490"/>
          </a:xfrm>
        </p:spPr>
        <p:txBody>
          <a:bodyPr>
            <a:noAutofit/>
          </a:bodyPr>
          <a:lstStyle/>
          <a:p>
            <a:r>
              <a:rPr lang="en-US" sz="6500" dirty="0">
                <a:solidFill>
                  <a:schemeClr val="accent1"/>
                </a:solidFill>
                <a:cs typeface="Roboto Serif 14pt" pitchFamily="2" charset="77"/>
              </a:rPr>
              <a:t>Leadership decisions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id="{119B400D-E218-8301-7E00-C5A55230D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01" y="4532466"/>
            <a:ext cx="6458364" cy="13880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Approve a security and Microsoft access review.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Choose one low-risk, willing team for a small trial.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Measure value; stop if anyone sees a file they should not.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id="{4E22365F-D1C1-40F6-3DD1-ADD568EAF6AA}"/>
              </a:ext>
            </a:extLst>
          </p:cNvPr>
          <p:cNvCxnSpPr>
            <a:cxnSpLocks/>
          </p:cNvCxnSpPr>
          <p:nvPr/>
        </p:nvCxn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858355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1591</Words>
  <Application>Microsoft Macintosh PowerPoint</Application>
  <PresentationFormat>Widescreen</PresentationFormat>
  <Paragraphs>176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Lora SemiBold</vt:lpstr>
      <vt:lpstr>Lora Medium</vt:lpstr>
      <vt:lpstr>Roboto Serif 14pt</vt:lpstr>
      <vt:lpstr>Arial</vt:lpstr>
      <vt:lpstr>Roboto SemiBold</vt:lpstr>
      <vt:lpstr>Helvetica Neue</vt:lpstr>
      <vt:lpstr>Roboto Medium</vt:lpstr>
      <vt:lpstr>Roboto</vt:lpstr>
      <vt:lpstr>OpenAI Sans</vt:lpstr>
      <vt:lpstr>Helvetica Neue Medium</vt:lpstr>
      <vt:lpstr>Aptos</vt:lpstr>
      <vt:lpstr>Default Codex Theme</vt:lpstr>
      <vt:lpstr>Enterprise Quarterly Business Review</vt:lpstr>
      <vt:lpstr>Meeting title with agenda slide</vt:lpstr>
      <vt:lpstr>Quarter recap, verdict and asks</vt:lpstr>
      <vt:lpstr>Intro and 2x2 card grid</vt:lpstr>
      <vt:lpstr>One column layout with three callout cards</vt:lpstr>
      <vt:lpstr>Intro with three callout cards</vt:lpstr>
      <vt:lpstr>Two column layout</vt:lpstr>
      <vt:lpstr>Statement headline  slide with eight logo grid</vt:lpstr>
      <vt:lpstr>Full width data table slide</vt:lpstr>
      <vt:lpstr>Chart with three cards</vt:lpstr>
      <vt:lpstr>Chart with three cards</vt:lpstr>
      <vt:lpstr>Timeline with three text only milestones</vt:lpstr>
      <vt:lpstr>Gantt chart over time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Human API Business Review — Concept and Local MVP</dc:title>
</cp:coreProperties>
</file>